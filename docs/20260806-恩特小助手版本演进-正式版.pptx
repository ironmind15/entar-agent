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tar_evo_ful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tar_evo_ful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933450" y="933450"/>
            <a:ext cx="10325100" cy="990600"/>
            <a:chOff x="933450" y="933450"/>
            <a:chExt cx="10325100" cy="990600"/>
          </a:xfrm>
        </p:grpSpPr>
        <p:sp>
          <p:nvSpPr>
            <p:cNvPr id="2" name="Ellipse 2"/>
            <p:cNvSpPr/>
            <p:nvPr/>
          </p:nvSpPr>
          <p:spPr>
            <a:xfrm>
              <a:off x="933450" y="933450"/>
              <a:ext cx="38100" cy="38100"/>
            </a:xfrm>
            <a:prstGeom prst="ellipse">
              <a:avLst/>
            </a:prstGeom>
            <a:solidFill>
              <a:srgbClr val="22FFEE">
                <a:alpha val="5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219200" y="933450"/>
              <a:ext cx="38100" cy="38100"/>
            </a:xfrm>
            <a:prstGeom prst="ellipse">
              <a:avLst/>
            </a:prstGeom>
            <a:solidFill>
              <a:srgbClr val="22FFEE">
                <a:alpha val="3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504950" y="933450"/>
              <a:ext cx="38100" cy="38100"/>
            </a:xfrm>
            <a:prstGeom prst="ellipse">
              <a:avLst/>
            </a:prstGeom>
            <a:solidFill>
              <a:srgbClr val="22FFEE">
                <a:alpha val="5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790700" y="933450"/>
              <a:ext cx="38100" cy="38100"/>
            </a:xfrm>
            <a:prstGeom prst="ellipse">
              <a:avLst/>
            </a:prstGeom>
            <a:solidFill>
              <a:srgbClr val="22FFEE">
                <a:alpha val="3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934700" y="1885950"/>
              <a:ext cx="38100" cy="38100"/>
            </a:xfrm>
            <a:prstGeom prst="ellipse">
              <a:avLst/>
            </a:prstGeom>
            <a:solidFill>
              <a:srgbClr val="FF2D78">
                <a:alpha val="5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220450" y="1885950"/>
              <a:ext cx="38100" cy="38100"/>
            </a:xfrm>
            <a:prstGeom prst="ellipse">
              <a:avLst/>
            </a:prstGeom>
            <a:solidFill>
              <a:srgbClr val="FF2D78">
                <a:alpha val="3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33450" y="1695450"/>
              <a:ext cx="38100" cy="38100"/>
            </a:xfrm>
            <a:prstGeom prst="ellipse">
              <a:avLst/>
            </a:prstGeom>
            <a:solidFill>
              <a:srgbClr val="22FFEE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934700" y="1219200"/>
              <a:ext cx="38100" cy="38100"/>
            </a:xfrm>
            <a:prstGeom prst="ellipse">
              <a:avLst/>
            </a:prstGeom>
            <a:solidFill>
              <a:srgbClr val="FF2D78">
                <a:alpha val="4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55904" y="1280160"/>
            <a:ext cx="4221358" cy="234696"/>
            <a:chOff x="755904" y="1280160"/>
            <a:chExt cx="4221358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755904" y="1280160"/>
              <a:ext cx="4221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450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ENTAR AGENT · EVOLUTION LOG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2095500"/>
            <a:ext cx="95250" cy="95250"/>
            <a:chOff x="857250" y="2095500"/>
            <a:chExt cx="95250" cy="95250"/>
          </a:xfrm>
        </p:grpSpPr>
        <p:sp>
          <p:nvSpPr>
            <p:cNvPr id="13" name="Ellipse 13"/>
            <p:cNvSpPr/>
            <p:nvPr/>
          </p:nvSpPr>
          <p:spPr>
            <a:xfrm>
              <a:off x="857250" y="2095500"/>
              <a:ext cx="95250" cy="9525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</p:grpSp>
      <p:grpSp>
        <p:nvGrpSpPr>
          <p:cNvPr id="17" name="Group 17"/>
          <p:cNvGrpSpPr/>
          <p:nvPr/>
        </p:nvGrpSpPr>
        <p:grpSpPr>
          <a:xfrm>
            <a:off x="742950" y="2288858"/>
            <a:ext cx="4384643" cy="1892617"/>
            <a:chOff x="742950" y="2288858"/>
            <a:chExt cx="4384643" cy="1892617"/>
          </a:xfrm>
        </p:grpSpPr>
        <p:sp>
          <p:nvSpPr>
            <p:cNvPr id="15" name="TextBox 15"/>
            <p:cNvSpPr txBox="1"/>
            <p:nvPr/>
          </p:nvSpPr>
          <p:spPr>
            <a:xfrm>
              <a:off x="742950" y="2288858"/>
              <a:ext cx="4384643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1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恩特小助手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305175"/>
              <a:ext cx="232798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2FFEE"/>
                  </a:solidFill>
                  <a:effectLst>
                    <a:glow rad="57150">
                      <a:srgbClr val="22FFEE">
                        <a:alpha val="5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进 化 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3618" y="4317682"/>
            <a:ext cx="6069616" cy="322707"/>
            <a:chOff x="753618" y="4317682"/>
            <a:chExt cx="6069616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753618" y="4317682"/>
              <a:ext cx="6069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0D6"/>
                  </a:solidFill>
                  <a:latin typeface="Segoe UI"/>
                  <a:ea typeface="Microsoft YaHei"/>
                  <a:cs typeface="Segoe UI"/>
                </a:rPr>
                <a:t>从 v1.0 故障查询，到 v1.7.0 组织通讯录 · 十阶段、24 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762500"/>
            <a:ext cx="10477500" cy="28575"/>
            <a:chOff x="762000" y="4762500"/>
            <a:chExt cx="10477500" cy="28575"/>
          </a:xfrm>
        </p:grpSpPr>
        <p:sp>
          <p:nvSpPr>
            <p:cNvPr id="20" name="Rectangle 20"/>
            <p:cNvSpPr/>
            <p:nvPr/>
          </p:nvSpPr>
          <p:spPr>
            <a:xfrm>
              <a:off x="762000" y="4762500"/>
              <a:ext cx="10477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FFEE"/>
                </a:gs>
                <a:gs pos="50000">
                  <a:srgbClr val="8B5CF6"/>
                </a:gs>
                <a:gs pos="100000">
                  <a:srgbClr val="FF2D7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14375" y="5305425"/>
            <a:ext cx="10191750" cy="270034"/>
            <a:chOff x="714375" y="5305425"/>
            <a:chExt cx="10191750" cy="270034"/>
          </a:xfrm>
        </p:grpSpPr>
        <p:sp>
          <p:nvSpPr>
            <p:cNvPr id="22" name="TextBox 22"/>
            <p:cNvSpPr txBox="1"/>
            <p:nvPr/>
          </p:nvSpPr>
          <p:spPr>
            <a:xfrm>
              <a:off x="756285" y="5355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v1.0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v1.2.1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90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v1.5.0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7285" y="5355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2D78"/>
                  </a:solidFill>
                  <a:latin typeface="Consolas"/>
                  <a:ea typeface="Consolas"/>
                  <a:cs typeface="Consolas"/>
                </a:rPr>
                <a:t>v1.7.0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5353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rgbClr val="1E2A4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14375" y="5305425"/>
              <a:ext cx="95250" cy="952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381375" y="5305425"/>
              <a:ext cx="95250" cy="9525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  <p:sp>
          <p:nvSpPr>
            <p:cNvPr id="29" name="Ellipse 29"/>
            <p:cNvSpPr/>
            <p:nvPr/>
          </p:nvSpPr>
          <p:spPr>
            <a:xfrm>
              <a:off x="6048375" y="5305425"/>
              <a:ext cx="95250" cy="9525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  <a:effectLst>
              <a:glow rad="57150">
                <a:srgbClr val="22FFEE">
                  <a:alpha val="55000"/>
                </a:srgbClr>
              </a:glow>
            </a:effectLst>
          </p:spPr>
        </p:sp>
        <p:sp>
          <p:nvSpPr>
            <p:cNvPr id="30" name="Ellipse 30"/>
            <p:cNvSpPr/>
            <p:nvPr/>
          </p:nvSpPr>
          <p:spPr>
            <a:xfrm>
              <a:off x="8715375" y="5305425"/>
              <a:ext cx="95250" cy="9525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  <a:effectLst>
              <a:glow rad="57150">
                <a:srgbClr val="FF2D78">
                  <a:alpha val="50000"/>
                </a:srgbClr>
              </a:glow>
            </a:effectLst>
          </p:spPr>
        </p:sp>
        <p:sp>
          <p:nvSpPr>
            <p:cNvPr id="31" name="Ellipse 31"/>
            <p:cNvSpPr/>
            <p:nvPr/>
          </p:nvSpPr>
          <p:spPr>
            <a:xfrm>
              <a:off x="10810875" y="5305425"/>
              <a:ext cx="95250" cy="9525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  <a:effectLst>
              <a:glow rad="57150">
                <a:srgbClr val="FF2D78">
                  <a:alpha val="50000"/>
                </a:srgbClr>
              </a:glow>
            </a:effectLst>
          </p:spPr>
        </p:sp>
      </p:grpSp>
      <p:grpSp>
        <p:nvGrpSpPr>
          <p:cNvPr id="35" name="Group 35"/>
          <p:cNvGrpSpPr/>
          <p:nvPr/>
        </p:nvGrpSpPr>
        <p:grpSpPr>
          <a:xfrm>
            <a:off x="566547" y="6276499"/>
            <a:ext cx="11058906" cy="190690"/>
            <a:chOff x="566547" y="6276499"/>
            <a:chExt cx="110589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66547" y="62764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天津恩特能源科技有限公司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04932" y="6276499"/>
              <a:ext cx="10205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2026 · AI AGENT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2698966" cy="719995"/>
            <a:chOff x="557784" y="716756"/>
            <a:chExt cx="2698966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154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375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十阶段进化路线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0492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FFEE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5" name="Group 15"/>
          <p:cNvGrpSpPr/>
          <p:nvPr/>
        </p:nvGrpSpPr>
        <p:grpSpPr>
          <a:xfrm>
            <a:off x="704850" y="1876425"/>
            <a:ext cx="3165695" cy="2254186"/>
            <a:chOff x="704850" y="1876425"/>
            <a:chExt cx="3165695" cy="2254186"/>
          </a:xfrm>
        </p:grpSpPr>
        <p:sp>
          <p:nvSpPr>
            <p:cNvPr id="6" name="Ellipse 6"/>
            <p:cNvSpPr/>
            <p:nvPr/>
          </p:nvSpPr>
          <p:spPr>
            <a:xfrm>
              <a:off x="704850" y="1924050"/>
              <a:ext cx="114300" cy="1143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8764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诞生 · 故障查询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166" y="2172652"/>
              <a:ext cx="2923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v1.0 · 07-09 · RAG 两级查询 + Stream 模式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4850" y="2800350"/>
              <a:ext cx="114300" cy="1143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880" y="2752725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文档管理 · OCR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166" y="3048952"/>
              <a:ext cx="2574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v1.2.1-6 · 07-13 · 版本替换 + MinerU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04850" y="3676650"/>
              <a:ext cx="114300" cy="114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629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检索升级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166" y="3925252"/>
              <a:ext cx="2201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v1.3.0 · 08-03 · 混合检索 + 重排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19850" y="1876425"/>
            <a:ext cx="2740762" cy="2254186"/>
            <a:chOff x="6419850" y="1876425"/>
            <a:chExt cx="2740762" cy="2254186"/>
          </a:xfrm>
        </p:grpSpPr>
        <p:sp>
          <p:nvSpPr>
            <p:cNvPr id="16" name="Ellipse 16"/>
            <p:cNvSpPr/>
            <p:nvPr/>
          </p:nvSpPr>
          <p:spPr>
            <a:xfrm>
              <a:off x="6419850" y="19240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9880" y="1876425"/>
              <a:ext cx="1559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Agent 化 · 记忆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2172652"/>
              <a:ext cx="2444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v1.1 · 07-09 · Function Calling 路由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19850" y="28003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9880" y="2752725"/>
              <a:ext cx="1319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多中心 · 安全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2166" y="3048952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v1.2.7-9 · 07-22 · 工具注册 + 五中心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19850" y="3676650"/>
              <a:ext cx="114300" cy="114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59880" y="3629025"/>
              <a:ext cx="134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PCB 计算技能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2166" y="3925252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v1.4.0-2 · 08-03 · 54 类本地秒回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4850" y="4257675"/>
            <a:ext cx="2815221" cy="1377886"/>
            <a:chOff x="704850" y="4257675"/>
            <a:chExt cx="2815221" cy="1377886"/>
          </a:xfrm>
        </p:grpSpPr>
        <p:sp>
          <p:nvSpPr>
            <p:cNvPr id="26" name="Ellipse 26"/>
            <p:cNvSpPr/>
            <p:nvPr/>
          </p:nvSpPr>
          <p:spPr>
            <a:xfrm>
              <a:off x="704850" y="430530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2576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经验知识库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5539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v1.5.0-2 · 08-04 · 五段式沉淀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4850" y="5181600"/>
              <a:ext cx="114300" cy="1143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513397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并发 · 上下文工程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5430202"/>
              <a:ext cx="2572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v1.6.0-2 · 08-05 · 线程池 + KV Cache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19850" y="4257675"/>
            <a:ext cx="2436857" cy="1377886"/>
            <a:chOff x="6419850" y="4257675"/>
            <a:chExt cx="2436857" cy="1377886"/>
          </a:xfrm>
        </p:grpSpPr>
        <p:sp>
          <p:nvSpPr>
            <p:cNvPr id="33" name="Ellipse 33"/>
            <p:cNvSpPr/>
            <p:nvPr/>
          </p:nvSpPr>
          <p:spPr>
            <a:xfrm>
              <a:off x="6419850" y="4305300"/>
              <a:ext cx="114300" cy="114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4257675"/>
              <a:ext cx="1785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记忆升级 · PCB54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2166" y="4553902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C0"/>
                  </a:solidFill>
                  <a:latin typeface="Consolas"/>
                  <a:ea typeface="Microsoft YaHei"/>
                  <a:cs typeface="Consolas"/>
                </a:rPr>
                <a:t>v1.5.3-6 · 08-05 · 长期记忆压缩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19850" y="5181600"/>
              <a:ext cx="114300" cy="1143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5133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组织通讯录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166" y="5430202"/>
              <a:ext cx="215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B9BC0"/>
                  </a:solidFill>
                  <a:latin typeface="Consolas"/>
                  <a:ea typeface="Consolas"/>
                  <a:cs typeface="Consolas"/>
                </a:rPr>
                <a:t>v1.7.0 · 08-06 · find_employee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784" y="716756"/>
            <a:ext cx="3519508" cy="719995"/>
            <a:chOff x="557784" y="716756"/>
            <a:chExt cx="3519508" cy="7199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16756"/>
              <a:ext cx="1581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375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GROWTH DATA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7784" y="90868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半年成长 · 数字看板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30492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FFEE"/>
            </a:solidFill>
            <a:ln>
              <a:noFill/>
            </a:ln>
            <a:effectLst>
              <a:glow rad="47625">
                <a:srgbClr val="22FFEE">
                  <a:alpha val="55000"/>
                </a:srgbClr>
              </a:glo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571500" y="1714500"/>
            <a:ext cx="3524250" cy="1428750"/>
            <a:chOff x="571500" y="1714500"/>
            <a:chExt cx="3524250" cy="1428750"/>
          </a:xfrm>
        </p:grpSpPr>
        <p:sp>
          <p:nvSpPr>
            <p:cNvPr id="6" name="Rectangle 6"/>
            <p:cNvSpPr/>
            <p:nvPr/>
          </p:nvSpPr>
          <p:spPr>
            <a:xfrm>
              <a:off x="571500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22FFEE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5350" y="1807845"/>
              <a:ext cx="21880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22FFEE"/>
                  </a:solidFill>
                  <a:effectLst>
                    <a:glow rad="47625">
                      <a:srgbClr val="22FFEE">
                        <a:alpha val="5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33 → 227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304" y="2727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自动化测试项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33875" y="1714500"/>
            <a:ext cx="3524250" cy="1428750"/>
            <a:chOff x="4333875" y="1714500"/>
            <a:chExt cx="3524250" cy="1428750"/>
          </a:xfrm>
        </p:grpSpPr>
        <p:sp>
          <p:nvSpPr>
            <p:cNvPr id="10" name="Rectangle 10"/>
            <p:cNvSpPr/>
            <p:nvPr/>
          </p:nvSpPr>
          <p:spPr>
            <a:xfrm>
              <a:off x="4333875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8B5CF6">
                  <a:alpha val="4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57725" y="180784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24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0679" y="2727960"/>
              <a:ext cx="1632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发布版本 · 10 大阶段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96250" y="1714500"/>
            <a:ext cx="3524250" cy="1428750"/>
            <a:chOff x="8096250" y="1714500"/>
            <a:chExt cx="3524250" cy="1428750"/>
          </a:xfrm>
        </p:grpSpPr>
        <p:sp>
          <p:nvSpPr>
            <p:cNvPr id="14" name="Rectangle 14"/>
            <p:cNvSpPr/>
            <p:nvPr/>
          </p:nvSpPr>
          <p:spPr>
            <a:xfrm>
              <a:off x="8096250" y="17145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FF2D78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0100" y="1807845"/>
              <a:ext cx="136114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5C98"/>
                  </a:solidFill>
                  <a:effectLst>
                    <a:glow rad="47625">
                      <a:srgbClr val="FF2D78">
                        <a:alpha val="50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54 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3054" y="2727960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PCB 本地计算器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3429000"/>
            <a:ext cx="3524250" cy="1428750"/>
            <a:chOff x="571500" y="3429000"/>
            <a:chExt cx="3524250" cy="1428750"/>
          </a:xfrm>
        </p:grpSpPr>
        <p:sp>
          <p:nvSpPr>
            <p:cNvPr id="18" name="Rectangle 18"/>
            <p:cNvSpPr/>
            <p:nvPr/>
          </p:nvSpPr>
          <p:spPr>
            <a:xfrm>
              <a:off x="571500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5350" y="3522345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133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442460"/>
              <a:ext cx="1437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PCS 故障记录入库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3429000"/>
            <a:ext cx="3524250" cy="1428750"/>
            <a:chOff x="4333875" y="3429000"/>
            <a:chExt cx="3524250" cy="1428750"/>
          </a:xfrm>
        </p:grpSpPr>
        <p:sp>
          <p:nvSpPr>
            <p:cNvPr id="22" name="Rectangle 22"/>
            <p:cNvSpPr/>
            <p:nvPr/>
          </p:nvSpPr>
          <p:spPr>
            <a:xfrm>
              <a:off x="4333875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22D3EE">
                  <a:alpha val="3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57725" y="3522345"/>
              <a:ext cx="136114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≈78%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0679" y="4442460"/>
              <a:ext cx="165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KV Cache 缓存命中率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96250" y="3429000"/>
            <a:ext cx="3524250" cy="1428750"/>
            <a:chOff x="8096250" y="3429000"/>
            <a:chExt cx="3524250" cy="1428750"/>
          </a:xfrm>
        </p:grpSpPr>
        <p:sp>
          <p:nvSpPr>
            <p:cNvPr id="26" name="Rectangle 26"/>
            <p:cNvSpPr/>
            <p:nvPr/>
          </p:nvSpPr>
          <p:spPr>
            <a:xfrm>
              <a:off x="8096250" y="3429000"/>
              <a:ext cx="3524250" cy="1428750"/>
            </a:xfrm>
            <a:prstGeom prst="roundRect">
              <a:avLst>
                <a:gd name="adj" fmla="val 9333"/>
              </a:avLst>
            </a:prstGeom>
            <a:solidFill>
              <a:srgbClr val="12122A"/>
            </a:solidFill>
            <a:ln w="9525">
              <a:solidFill>
                <a:srgbClr val="8B5CF6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0100" y="352234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90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3054" y="444246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员工通讯录全量拉到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571500" y="51435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rgbClr val="12122A"/>
            </a:solidFill>
            <a:ln w="9525">
              <a:solidFill>
                <a:srgbClr val="3A4A7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923" y="53868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2FFEE"/>
                  </a:solidFill>
                  <a:latin typeface="Segoe UI"/>
                  <a:ea typeface="Microsoft YaHei"/>
                  <a:cs typeface="Segoe UI"/>
                </a:rPr>
                <a:t>成长主线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542" y="5683568"/>
              <a:ext cx="647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先做「能查」→ 再做「能管」→ 再做「能算」→ 最后做「能记、能并发、能认人」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4" name="TextBox 34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2603090" cy="1085850"/>
            <a:chOff x="558546" y="419100"/>
            <a:chExt cx="2603090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4D7CFE">
                <a:alpha val="15000"/>
              </a:srgbClr>
            </a:solidFill>
            <a:ln w="9525">
              <a:solidFill>
                <a:srgbClr val="4D7CF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176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D7CFE"/>
                  </a:solidFill>
                  <a:latin typeface="Consolas"/>
                  <a:ea typeface="Consolas"/>
                  <a:cs typeface="Consolas"/>
                </a:rPr>
                <a:t>STAGE 01 · v1.0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603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诞生 · 故障查询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2026-07-09 · 第一版正式上线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4D7CFE"/>
            </a:solidFill>
            <a:ln>
              <a:noFill/>
            </a:ln>
            <a:effectLst>
              <a:glow rad="47625">
                <a:srgbClr val="4D7CFE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2773985" cy="2041588"/>
            <a:chOff x="876300" y="2025968"/>
            <a:chExt cx="2773985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PCS 故障代码精确匹配 + 语义搜索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21483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钉钉 Stream 模式机器人上线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1872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Web 页面 + 通用聊天托底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技能注册中心 @register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3337255" cy="1641538"/>
            <a:chOff x="6591300" y="2025968"/>
            <a:chExt cx="3337255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3152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RAG 两级查询：精确码匹配不调 LLM 秒回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29392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Stream 模式 = 主动连钉钉，零部署成本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2709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技能注册中心避免硬编码 if-elif 路由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4D7CFE">
                <a:alpha val="10000"/>
              </a:srgbClr>
            </a:solidFill>
            <a:ln w="9525">
              <a:solidFill>
                <a:srgbClr val="4D7CFE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7CFE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614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能本地匹配就不调 API —— 省时间省钱，这条原则贯穿了后续所有版本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379543" cy="1085850"/>
            <a:chOff x="558546" y="419100"/>
            <a:chExt cx="3379543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15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176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STAGE 02 · v1.1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33795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Agent 化 · 记忆系统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2577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2026-07-09 · 从查询工具到 Agent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  <a:effectLst>
              <a:glow rad="47625">
                <a:srgbClr val="22D3EE">
                  <a:alpha val="50000"/>
                </a:srgbClr>
              </a:glow>
            </a:effectLst>
          </p:spPr>
        </p:sp>
      </p:grpSp>
      <p:grpSp>
        <p:nvGrpSpPr>
          <p:cNvPr id="16" name="Group 16"/>
          <p:cNvGrpSpPr/>
          <p:nvPr/>
        </p:nvGrpSpPr>
        <p:grpSpPr>
          <a:xfrm>
            <a:off x="876300" y="2025968"/>
            <a:ext cx="3549005" cy="1641538"/>
            <a:chOff x="876300" y="2025968"/>
            <a:chExt cx="3549005" cy="164153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047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会话记忆持久化（SQLite）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3364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DeepSeek Function Calling 自主决策是否查库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618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Docker CPU torch，镜像瘦身 13GB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2025968"/>
            <a:ext cx="3601974" cy="1641538"/>
            <a:chOff x="6591300" y="2025968"/>
            <a:chExt cx="3601974" cy="1641538"/>
          </a:xfrm>
        </p:grpSpPr>
        <p:sp>
          <p:nvSpPr>
            <p:cNvPr id="17" name="TextBox 17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5704" y="26327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Agent = LLM + 工具 + 记忆 + 循环 的统一范式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3032760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记忆去重节约 token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432810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.pyc 缓存坑：改代码要强杀进程 + 清缓存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22D3EE">
                <a:alpha val="10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42" y="5797868"/>
              <a:ext cx="7383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统一路由骨架确立：精确走快速通道，模糊由 LLM 决策——后续所有工具能力的基石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4065727" cy="1085850"/>
            <a:chOff x="558546" y="419100"/>
            <a:chExt cx="4065727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8B5CF6">
                <a:alpha val="15000"/>
              </a:srgbClr>
            </a:solidFill>
            <a:ln w="9525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STAGE 03 · v1.2.1-6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文档管理子系统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4058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2026-07-13 ~ 07-21 · 六连版本 · doc_mgr 全生命周期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  <a:effectLst>
              <a:glow rad="47625">
                <a:srgbClr val="8B5CF6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3431419" cy="2041588"/>
            <a:chOff x="876300" y="2025968"/>
            <a:chExt cx="3431419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上传 → 切块 → 入库统一管道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3247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MinerU VLM OCR（扫描 PDF → Markdown）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45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钉钉文件接收 + SQLite 用户存储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1872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Web 同步管理 + 崩溃恢复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3592373" cy="1641538"/>
            <a:chOff x="6591300" y="2025968"/>
            <a:chExt cx="3592373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3193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存储抽象层 VectorStore ABC：换库改一处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34079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SHA-256 指纹 + staging/active 安全版本替换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2954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SQLite 并发模型：WAL + 线程独立连接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8B5CF6">
                <a:alpha val="10000"/>
              </a:srgbClr>
            </a:solidFill>
            <a:ln w="9525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6329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版本替换原则「宁可旧，不可错」——新版本校验成功才切换，失败保留旧版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871874" cy="1085850"/>
            <a:chOff x="558546" y="419100"/>
            <a:chExt cx="3871874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FF2D78">
                <a:alpha val="15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STAGE 04 · v1.2.7-9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9635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多中心 · 安全加固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3865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2026-07-22 ~ 08-03 · 工具注册 + 五中心 + 审查修复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FF2D78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2967076" cy="2041588"/>
            <a:chOff x="876300" y="2025968"/>
            <a:chExt cx="2967076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工具注册中心重构（@register）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上传审核工作流：主动推送 + 审批口令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五中心组织架构 + 部门级隔离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2748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DeepSeek 瞬断自动重试（指数退避）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3613252" cy="1641538"/>
            <a:chOff x="6591300" y="2025968"/>
            <a:chExt cx="3613252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3105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新工具「建文件 + 一行装饰器」零改动接入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多中心隔离 + 无标签自动回退，不产生权限黑洞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一次审查修复 6 类问题——审查轮高性价比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F2D78">
                <a:alpha val="10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610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架构可扩展性前置：工具注册中心让后续 v1.7.0 的新工具零改动即生效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2571445" cy="1085850"/>
            <a:chOff x="558546" y="419100"/>
            <a:chExt cx="2571445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22FFEE">
                <a:alpha val="15000"/>
              </a:srgbClr>
            </a:solidFill>
            <a:ln w="9525">
              <a:solidFill>
                <a:srgbClr val="22FF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34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STAGE 05 · v1.3.0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188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检索质量升级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2564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2026-08-03 · 混合检索 + 重排框架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FFEE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6" name="Group 16"/>
          <p:cNvGrpSpPr/>
          <p:nvPr/>
        </p:nvGrpSpPr>
        <p:grpSpPr>
          <a:xfrm>
            <a:off x="876300" y="2025968"/>
            <a:ext cx="2731313" cy="1641538"/>
            <a:chOff x="876300" y="2025968"/>
            <a:chExt cx="2731313" cy="164153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546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语义向量 + BM25 关键词双路召回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1027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RRF 融合排名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096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bge-reranker 重排框架就绪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2025968"/>
            <a:ext cx="3265932" cy="1641538"/>
            <a:chOff x="6591300" y="2025968"/>
            <a:chExt cx="3265932" cy="1641538"/>
          </a:xfrm>
        </p:grpSpPr>
        <p:sp>
          <p:nvSpPr>
            <p:cNvPr id="17" name="TextBox 17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5704" y="263271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短关键词（过压 / 硬件）召回明显提升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30327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降级链设计：依赖缺失自动回退，绝不崩溃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43281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代码就绪 ≠ 功能生效（模型下载滞后）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22FFEE">
                <a:alpha val="10000"/>
              </a:srgbClr>
            </a:solidFill>
            <a:ln w="9525">
              <a:solidFill>
                <a:srgbClr val="22FFEE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FFEE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42" y="5797868"/>
              <a:ext cx="6721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对应用户最痛的点（短词检索差）做升级，双路召回 + 融合比单一向量检索更稳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524555" cy="1085850"/>
            <a:chOff x="558546" y="419100"/>
            <a:chExt cx="3524555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8B5CF6">
                <a:alpha val="15000"/>
              </a:srgbClr>
            </a:solidFill>
            <a:ln w="9525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STAGE 06 · v1.4.0-2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2919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PCB 计算技能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2026-08-03 ~ 08-04 · 本地公式秒回 + 安全收尾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  <a:effectLst>
              <a:glow rad="47625">
                <a:srgbClr val="8B5CF6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3808819" cy="2041588"/>
            <a:chOff x="876300" y="2025968"/>
            <a:chExt cx="3808819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854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PCB 计算技能 54 类，全本地公式秒回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2478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IPC-2152 / 差分阻抗 / 安规查表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钉钉即时反馈 + 错误码体系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3624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P1 安全收尾：MIME 签名 / GET→POST / 非 root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4015435" cy="1641538"/>
            <a:chOff x="6591300" y="2025968"/>
            <a:chExt cx="4015435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3280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「LLM 只用在刀刃上」极致版：公式本地算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安规查表 + 线性插值 + 超范围警示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3831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已编译正则传 flags 抛 ValueError（Python 3.7+）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8B5CF6">
                <a:alpha val="10000"/>
              </a:srgbClr>
            </a:solidFill>
            <a:ln w="9525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78BFA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5566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把高频工程计算做成秒回本地能力——用户体验质变，成本反而下降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808541" cy="1085850"/>
            <a:chOff x="558546" y="419100"/>
            <a:chExt cx="3808541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FF2D78">
                <a:alpha val="15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STAGE 07 · v1.5.0-2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38085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经验知识库 · Web 改版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2026-08-04 · 第二步「经验知识库」启动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FF2D78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6" name="Group 16"/>
          <p:cNvGrpSpPr/>
          <p:nvPr/>
        </p:nvGrpSpPr>
        <p:grpSpPr>
          <a:xfrm>
            <a:off x="876300" y="2025968"/>
            <a:ext cx="3443630" cy="1641538"/>
            <a:chOff x="876300" y="2025968"/>
            <a:chExt cx="3443630" cy="164153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325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五段式经验模板 + experience_kb collection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2945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Web 三块 UI 视觉统一 + Markdown 渲染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修改文件归属（强制重学重写 metadata）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2025968"/>
            <a:ext cx="3879799" cy="1641538"/>
            <a:chOff x="6591300" y="2025968"/>
            <a:chExt cx="3879799" cy="1641538"/>
          </a:xfrm>
        </p:grpSpPr>
        <p:sp>
          <p:nvSpPr>
            <p:cNvPr id="17" name="TextBox 17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5704" y="26327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新知识类型复用成熟管道，不重造轮子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3032760"/>
              <a:ext cx="3515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手写 Markdown 渲染器：先 escapeHtml 防 XSS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43281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⭐ bge-reranker 静默失效半年——降级保护掩盖 bug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F2D78">
                <a:alpha val="10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42" y="5797868"/>
              <a:ext cx="7093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「自动回退不崩溃」是双刃剑——核心功能可能悄悄退化而不报错，要靠可观测性兜底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491621" cy="1085850"/>
            <a:chOff x="558546" y="419100"/>
            <a:chExt cx="3491621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15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STAGE 08 · v1.5.3-6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3491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记忆升级 · PCB 深化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2026-08-05 · 双层记忆 + 54 类计算器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  <a:effectLst>
              <a:glow rad="47625">
                <a:srgbClr val="22D3EE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3396035" cy="2041588"/>
            <a:chOff x="876300" y="2025968"/>
            <a:chExt cx="3396035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短期窗口 + LLM 长期记忆压缩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3211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PCB 13 → 54 类（以 pcb-tools.cn 为基准）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40 题社区回归：7 对 26 败 → 36 对 0 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2797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国内 API 全直连（trust_env=False）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3629368" cy="1641538"/>
            <a:chOff x="6591300" y="2025968"/>
            <a:chExt cx="3629368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3396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公式权威来源 &gt; 个人经验（0.37→0.347 修正）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3444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⭐ \b 汉字边界：Unicode 下汉字也是 word 字符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3210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声明式参数补足层（Param + CALC_DEFS）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22D3EE">
                <a:alpha val="10000"/>
              </a:srgbClr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5356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用真实社区问题做回归集，是打磨自然语言识别最有效的方法论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3684052" cy="1085850"/>
            <a:chOff x="558546" y="419100"/>
            <a:chExt cx="3684052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524000" cy="304800"/>
            </a:xfrm>
            <a:prstGeom prst="roundRect">
              <a:avLst>
                <a:gd name="adj" fmla="val 18750"/>
              </a:avLst>
            </a:prstGeom>
            <a:solidFill>
              <a:srgbClr val="FF2D78">
                <a:alpha val="15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518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STAGE 09 · v1.6.0-2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9635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并发 · 上下文工程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3677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2026-08-05 ~ 08-06 · 多人并发 + KV Cache 优化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FF2D78"/>
            </a:solidFill>
            <a:ln>
              <a:noFill/>
            </a:ln>
            <a:effectLst>
              <a:glow rad="47625">
                <a:srgbClr val="FF2D78">
                  <a:alpha val="50000"/>
                </a:srgbClr>
              </a:glow>
            </a:effectLst>
          </p:spPr>
        </p:sp>
      </p:grpSp>
      <p:grpSp>
        <p:nvGrpSpPr>
          <p:cNvPr id="16" name="Group 16"/>
          <p:cNvGrpSpPr/>
          <p:nvPr/>
        </p:nvGrpSpPr>
        <p:grpSpPr>
          <a:xfrm>
            <a:off x="876300" y="2025968"/>
            <a:ext cx="3653638" cy="1641538"/>
            <a:chOff x="876300" y="2025968"/>
            <a:chExt cx="3653638" cy="164153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asyncio.to_thread 放行慢操作，多人互不阻塞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每用户锁（同人串行异人并行）+ 限流 20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FF2D7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331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静态 system + 窗口20批量滚动（KV Cache）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2025968"/>
            <a:ext cx="3687664" cy="1641538"/>
            <a:chOff x="6591300" y="2025968"/>
            <a:chExt cx="3687664" cy="1641538"/>
          </a:xfrm>
        </p:grpSpPr>
        <p:sp>
          <p:nvSpPr>
            <p:cNvPr id="17" name="TextBox 17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5704" y="2632710"/>
              <a:ext cx="3503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⭐ asyncio.Lock 绑定事件循环，重连后必须重建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3032760"/>
              <a:ext cx="3189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⭐ V4 思考挤空 content：压缩需关 thinking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432810"/>
              <a:ext cx="3073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缓存命中率 ≈0% → 78%，多数稳定 85-98%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F2D78">
                <a:alpha val="10000"/>
              </a:srgbClr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5C98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42" y="5797868"/>
              <a:ext cx="68838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KV Cache 友好结构（静态前缀 + 批量化滚动）——不改模型就省 78% 的重复计算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8546" y="419100"/>
            <a:ext cx="2894533" cy="1085850"/>
            <a:chOff x="558546" y="419100"/>
            <a:chExt cx="2894533" cy="1085850"/>
          </a:xfrm>
        </p:grpSpPr>
        <p:sp>
          <p:nvSpPr>
            <p:cNvPr id="2" name="Rectangle 2"/>
            <p:cNvSpPr/>
            <p:nvPr/>
          </p:nvSpPr>
          <p:spPr>
            <a:xfrm>
              <a:off x="571500" y="41910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22FFEE">
                <a:alpha val="15000"/>
              </a:srgbClr>
            </a:solidFill>
            <a:ln w="9525">
              <a:solidFill>
                <a:srgbClr val="22FFEE">
                  <a:alpha val="50000"/>
                </a:srgbClr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8566" y="515302"/>
              <a:ext cx="134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2FFEE"/>
                  </a:solidFill>
                  <a:latin typeface="Consolas"/>
                  <a:ea typeface="Consolas"/>
                  <a:cs typeface="Consolas"/>
                </a:rPr>
                <a:t>STAGE 10 · v1.7.0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8546" y="79152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组织通讯录查询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1261110"/>
              <a:ext cx="2887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2026-08-06 · find_employee 工具上线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76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2FFEE"/>
            </a:solidFill>
            <a:ln>
              <a:noFill/>
            </a:ln>
            <a:effectLst>
              <a:glow rad="47625">
                <a:srgbClr val="22FFEE">
                  <a:alpha val="50000"/>
                </a:srgbClr>
              </a:glow>
            </a:effectLst>
          </p:spPr>
        </p:sp>
      </p:grpSp>
      <p:grpSp>
        <p:nvGrpSpPr>
          <p:cNvPr id="18" name="Group 18"/>
          <p:cNvGrpSpPr/>
          <p:nvPr/>
        </p:nvGrpSpPr>
        <p:grpSpPr>
          <a:xfrm>
            <a:off x="876300" y="2025968"/>
            <a:ext cx="3855568" cy="2041588"/>
            <a:chOff x="876300" y="2025968"/>
            <a:chExt cx="3855568" cy="2041588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做了什么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266700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2632710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find_employee 工具走注册中心，零改动接入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306705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0704" y="3032760"/>
              <a:ext cx="36711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姓名/部门/职位/工号全员可查，手机邮箱仅审核人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346710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3432810"/>
              <a:ext cx="2462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实时拉取 + 60s 缓存防 QPS 限流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38328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90 名员工全量拉到 · 227 项回归全绿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025968"/>
            <a:ext cx="3175102" cy="1641538"/>
            <a:chOff x="6591300" y="2025968"/>
            <a:chExt cx="3175102" cy="1641538"/>
          </a:xfrm>
        </p:grpSpPr>
        <p:sp>
          <p:nvSpPr>
            <p:cNvPr id="19" name="TextBox 19"/>
            <p:cNvSpPr txBox="1"/>
            <p:nvPr/>
          </p:nvSpPr>
          <p:spPr>
            <a:xfrm>
              <a:off x="6622542" y="2025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学到的新知识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2324100"/>
              <a:ext cx="381000" cy="28575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591300" y="26670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5704" y="263271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⭐ 新版接口 404 → 旧版 oapi 换族兜底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1300" y="306705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5704" y="3032760"/>
              <a:ext cx="299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敏感字段服务端剥离，不依赖 LLM 自觉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1300" y="3467100"/>
              <a:ext cx="76200" cy="76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704" y="34328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3F0"/>
                  </a:solidFill>
                  <a:latin typeface="Segoe UI"/>
                  <a:ea typeface="Microsoft YaHei"/>
                  <a:cs typeface="Segoe UI"/>
                </a:rPr>
                <a:t>权限放数据链路层，不放在提示词层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22FFEE">
                <a:alpha val="10000"/>
              </a:srgbClr>
            </a:solidFill>
            <a:ln w="9525">
              <a:solidFill>
                <a:srgbClr val="22FFEE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" y="556641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FFEE"/>
                  </a:solidFill>
                  <a:latin typeface="Segoe UI"/>
                  <a:ea typeface="Microsoft YaHei"/>
                  <a:cs typeface="Segoe UI"/>
                </a:rPr>
                <a:t>⭐ 核心认知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5797868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F"/>
                  </a:solidFill>
                  <a:latin typeface="Segoe UI"/>
                  <a:ea typeface="Microsoft YaHei"/>
                  <a:cs typeface="Segoe UI"/>
                </a:rPr>
                <a:t>工具注册中心架构的红利兑现：新能力无需改 agent.py 一行，权限天然按身份隔离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0A14"/>
            </a:gs>
            <a:gs pos="55000">
              <a:srgbClr val="140D28"/>
            </a:gs>
            <a:gs pos="100000">
              <a:srgbClr val="0A0A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0058400" y="1104900"/>
            <a:ext cx="1495425" cy="828675"/>
            <a:chOff x="10058400" y="1104900"/>
            <a:chExt cx="1495425" cy="828675"/>
          </a:xfrm>
        </p:grpSpPr>
        <p:sp>
          <p:nvSpPr>
            <p:cNvPr id="2" name="Ellipse 2"/>
            <p:cNvSpPr/>
            <p:nvPr/>
          </p:nvSpPr>
          <p:spPr>
            <a:xfrm>
              <a:off x="10058400" y="1104900"/>
              <a:ext cx="76200" cy="76200"/>
            </a:xfrm>
            <a:prstGeom prst="ellipse">
              <a:avLst/>
            </a:prstGeom>
            <a:solidFill>
              <a:srgbClr val="22FFEE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248900" y="1104900"/>
              <a:ext cx="76200" cy="76200"/>
            </a:xfrm>
            <a:prstGeom prst="ellipse">
              <a:avLst/>
            </a:prstGeom>
            <a:solidFill>
              <a:srgbClr val="22FFEE">
                <a:alpha val="6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39400" y="1104900"/>
              <a:ext cx="76200" cy="76200"/>
            </a:xfrm>
            <a:prstGeom prst="ellipse">
              <a:avLst/>
            </a:prstGeom>
            <a:solidFill>
              <a:srgbClr val="22FFEE">
                <a:alpha val="3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306175" y="1876425"/>
              <a:ext cx="57150" cy="57150"/>
            </a:xfrm>
            <a:prstGeom prst="ellipse">
              <a:avLst/>
            </a:prstGeom>
            <a:solidFill>
              <a:srgbClr val="FF2D78">
                <a:alpha val="5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96675" y="1685925"/>
              <a:ext cx="57150" cy="57150"/>
            </a:xfrm>
            <a:prstGeom prst="ellipse">
              <a:avLst/>
            </a:prstGeom>
            <a:solidFill>
              <a:srgbClr val="FF2D78">
                <a:alpha val="30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2950" y="2465070"/>
            <a:ext cx="3704082" cy="1496759"/>
            <a:chOff x="742950" y="2465070"/>
            <a:chExt cx="3704082" cy="1496759"/>
          </a:xfrm>
        </p:grpSpPr>
        <p:sp>
          <p:nvSpPr>
            <p:cNvPr id="8" name="TextBox 8"/>
            <p:cNvSpPr txBox="1"/>
            <p:nvPr/>
          </p:nvSpPr>
          <p:spPr>
            <a:xfrm>
              <a:off x="742950" y="2465070"/>
              <a:ext cx="309128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094" y="35804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2FFEE"/>
                  </a:solidFill>
                  <a:effectLst>
                    <a:glow rad="57150">
                      <a:srgbClr val="22FFEE">
                        <a:alpha val="5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一个查询工具，长成了知识助手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380" y="4191000"/>
            <a:ext cx="9532620" cy="569595"/>
            <a:chOff x="754380" y="4191000"/>
            <a:chExt cx="9532620" cy="569595"/>
          </a:xfrm>
        </p:grpSpPr>
        <p:sp>
          <p:nvSpPr>
            <p:cNvPr id="11" name="Rectangle 11"/>
            <p:cNvSpPr/>
            <p:nvPr/>
          </p:nvSpPr>
          <p:spPr>
            <a:xfrm>
              <a:off x="762000" y="4191000"/>
              <a:ext cx="952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FFEE"/>
                </a:gs>
                <a:gs pos="50000">
                  <a:srgbClr val="8B5CF6"/>
                </a:gs>
                <a:gs pos="100000">
                  <a:srgbClr val="FF2D7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4380" y="4467225"/>
              <a:ext cx="6982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4CBDD"/>
                  </a:solidFill>
                  <a:latin typeface="Segoe UI"/>
                  <a:ea typeface="Microsoft YaHei"/>
                  <a:cs typeface="Segoe UI"/>
                </a:rPr>
                <a:t>下一站：v2.0 企业知识中枢 · 部门知识库 + 通用文件引擎 + VLM 图片理解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5048250"/>
            <a:ext cx="2857500" cy="571500"/>
            <a:chOff x="762000" y="5048250"/>
            <a:chExt cx="2857500" cy="571500"/>
          </a:xfrm>
        </p:grpSpPr>
        <p:sp>
          <p:nvSpPr>
            <p:cNvPr id="14" name="Rectangle 14"/>
            <p:cNvSpPr/>
            <p:nvPr/>
          </p:nvSpPr>
          <p:spPr>
            <a:xfrm>
              <a:off x="762000" y="5048250"/>
              <a:ext cx="2857500" cy="571500"/>
            </a:xfrm>
            <a:prstGeom prst="roundRect">
              <a:avLst>
                <a:gd name="adj" fmla="val 20000"/>
              </a:avLst>
            </a:prstGeom>
            <a:solidFill>
              <a:srgbClr val="12122A"/>
            </a:solidFill>
            <a:ln w="9525">
              <a:solidFill>
                <a:srgbClr val="FF2D78">
                  <a:alpha val="5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504" y="527113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5C98"/>
                  </a:solidFill>
                  <a:latin typeface="Consolas"/>
                  <a:ea typeface="Consolas"/>
                  <a:cs typeface="Consolas"/>
                </a:rPr>
                <a:t>v1.0 → v1.7.0 ·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6547" y="6409849"/>
            <a:ext cx="11058906" cy="190690"/>
            <a:chOff x="566547" y="6409849"/>
            <a:chExt cx="110589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66547" y="64098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480"/>
                  </a:solidFill>
                  <a:latin typeface="Segoe UI"/>
                  <a:ea typeface="Microsoft YaHei"/>
                  <a:cs typeface="Segoe UI"/>
                </a:rPr>
                <a:t>天津恩特能源科技有限公司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73590" y="64098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A6480"/>
                  </a:solidFill>
                  <a:latin typeface="Segoe UI"/>
                  <a:ea typeface="Segoe UI"/>
                  <a:cs typeface="Segoe UI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tar_evo_full">
  <a:themeElements>
    <a:clrScheme name="entar_evo_ful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ntar_evo_ful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ar_evo_ful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2026-08-06T08:55:45Z</dcterms:created>
  <dcterms:modified xsi:type="dcterms:W3CDTF">2026-08-06T08:55:45Z</dcterms:modified>
  <cp:category/>
  <cp:contentStatus/>
</cp:coreProperties>
</file>