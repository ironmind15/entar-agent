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ntar_evo_interactiv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ntar_evo_interactiv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933450" y="933450"/>
            <a:ext cx="10325100" cy="990600"/>
            <a:chOff x="933450" y="933450"/>
            <a:chExt cx="10325100" cy="990600"/>
          </a:xfrm>
        </p:grpSpPr>
        <p:sp>
          <p:nvSpPr>
            <p:cNvPr id="2" name="Ellipse 2"/>
            <p:cNvSpPr/>
            <p:nvPr/>
          </p:nvSpPr>
          <p:spPr>
            <a:xfrm>
              <a:off x="933450" y="933450"/>
              <a:ext cx="38100" cy="381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219200" y="933450"/>
              <a:ext cx="38100" cy="3810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504950" y="933450"/>
              <a:ext cx="38100" cy="381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790700" y="933450"/>
              <a:ext cx="38100" cy="3810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934700" y="1885950"/>
              <a:ext cx="38100" cy="38100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1220450" y="1885950"/>
              <a:ext cx="38100" cy="38100"/>
            </a:xfrm>
            <a:prstGeom prst="ellipse">
              <a:avLst/>
            </a:prstGeom>
            <a:solidFill>
              <a:schemeClr val="accent3">
                <a:alpha val="30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934700" y="1219200"/>
              <a:ext cx="38100" cy="381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55904" y="1280160"/>
            <a:ext cx="4221358" cy="234696"/>
            <a:chOff x="755904" y="1280160"/>
            <a:chExt cx="4221358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755904" y="1280160"/>
              <a:ext cx="4221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4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ENTAR AGENT · EVOLUTION LOG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42950" y="2209800"/>
            <a:ext cx="4490656" cy="2073593"/>
            <a:chOff x="742950" y="2209800"/>
            <a:chExt cx="4490656" cy="2073593"/>
          </a:xfrm>
        </p:grpSpPr>
        <p:sp>
          <p:nvSpPr>
            <p:cNvPr id="12" name="Ellipse 12"/>
            <p:cNvSpPr/>
            <p:nvPr/>
          </p:nvSpPr>
          <p:spPr>
            <a:xfrm>
              <a:off x="895350" y="22098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57150">
                <a:srgbClr val="22FFEE">
                  <a:alpha val="55000"/>
                </a:srgbClr>
              </a:glo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742950" y="2463165"/>
              <a:ext cx="449065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恩特小助手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2950" y="3435668"/>
              <a:ext cx="225165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effectLst>
                    <a:glow rad="57150">
                      <a:srgbClr val="22FFEE">
                        <a:alpha val="55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进 化 史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2856" y="4301490"/>
            <a:ext cx="6621399" cy="352044"/>
            <a:chOff x="752856" y="4301490"/>
            <a:chExt cx="6621399" cy="352044"/>
          </a:xfrm>
        </p:grpSpPr>
        <p:sp>
          <p:nvSpPr>
            <p:cNvPr id="16" name="TextBox 16"/>
            <p:cNvSpPr txBox="1"/>
            <p:nvPr/>
          </p:nvSpPr>
          <p:spPr>
            <a:xfrm>
              <a:off x="752856" y="4301490"/>
              <a:ext cx="66213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从 v1.0 故障查询，到 v1.7.0 组织通讯录 · 十阶段、24 版本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4762500"/>
            <a:ext cx="10477500" cy="28575"/>
            <a:chOff x="762000" y="4762500"/>
            <a:chExt cx="10477500" cy="28575"/>
          </a:xfrm>
        </p:grpSpPr>
        <p:sp>
          <p:nvSpPr>
            <p:cNvPr id="18" name="Rectangle 18"/>
            <p:cNvSpPr/>
            <p:nvPr/>
          </p:nvSpPr>
          <p:spPr>
            <a:xfrm>
              <a:off x="762000" y="4762500"/>
              <a:ext cx="10477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14375" y="5305425"/>
            <a:ext cx="10191750" cy="270034"/>
            <a:chOff x="714375" y="5305425"/>
            <a:chExt cx="10191750" cy="270034"/>
          </a:xfrm>
        </p:grpSpPr>
        <p:sp>
          <p:nvSpPr>
            <p:cNvPr id="20" name="TextBox 20"/>
            <p:cNvSpPr txBox="1"/>
            <p:nvPr/>
          </p:nvSpPr>
          <p:spPr>
            <a:xfrm>
              <a:off x="756285" y="5355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v1.0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3285" y="53554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v1.2.1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0285" y="53554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v1.5.0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57285" y="53554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v1.7.0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62000" y="53530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9050">
              <a:solidFill>
                <a:srgbClr val="1E2A4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14375" y="5305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81375" y="53054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57150">
                <a:srgbClr val="22FFEE">
                  <a:alpha val="55000"/>
                </a:srgbClr>
              </a:glow>
            </a:effectLst>
          </p:spPr>
        </p:sp>
        <p:sp>
          <p:nvSpPr>
            <p:cNvPr id="27" name="Ellipse 27"/>
            <p:cNvSpPr/>
            <p:nvPr/>
          </p:nvSpPr>
          <p:spPr>
            <a:xfrm>
              <a:off x="6048375" y="53054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57150">
                <a:srgbClr val="22FFEE">
                  <a:alpha val="55000"/>
                </a:srgbClr>
              </a:glow>
            </a:effectLst>
          </p:spPr>
        </p:sp>
        <p:sp>
          <p:nvSpPr>
            <p:cNvPr id="28" name="Ellipse 28"/>
            <p:cNvSpPr/>
            <p:nvPr/>
          </p:nvSpPr>
          <p:spPr>
            <a:xfrm>
              <a:off x="8715375" y="53054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glow rad="57150">
                <a:srgbClr val="FF2D78">
                  <a:alpha val="50000"/>
                </a:srgbClr>
              </a:glow>
            </a:effectLst>
          </p:spPr>
        </p:sp>
        <p:sp>
          <p:nvSpPr>
            <p:cNvPr id="29" name="Ellipse 29"/>
            <p:cNvSpPr/>
            <p:nvPr/>
          </p:nvSpPr>
          <p:spPr>
            <a:xfrm>
              <a:off x="10810875" y="53054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glow rad="57150">
                <a:srgbClr val="FF2D78">
                  <a:alpha val="50000"/>
                </a:srgbClr>
              </a:glow>
            </a:effectLst>
          </p:spPr>
        </p:sp>
      </p:grpSp>
      <p:grpSp>
        <p:nvGrpSpPr>
          <p:cNvPr id="33" name="Group 33"/>
          <p:cNvGrpSpPr/>
          <p:nvPr/>
        </p:nvGrpSpPr>
        <p:grpSpPr>
          <a:xfrm>
            <a:off x="566547" y="6390799"/>
            <a:ext cx="11058906" cy="190690"/>
            <a:chOff x="566547" y="6390799"/>
            <a:chExt cx="110589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66547" y="6390799"/>
              <a:ext cx="20349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天津恩特能源科技有限公司 · 2026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73590" y="63907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716756"/>
            <a:ext cx="2109216" cy="719995"/>
            <a:chOff x="557784" y="716756"/>
            <a:chExt cx="2109216" cy="7199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16756"/>
              <a:ext cx="1154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37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CONTENTS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今天讲什么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glow rad="47625">
                <a:srgbClr val="22FFEE">
                  <a:alpha val="50000"/>
                </a:srgbClr>
              </a:glow>
            </a:effectLst>
          </p:spPr>
        </p:sp>
      </p:grpSp>
      <p:grpSp>
        <p:nvGrpSpPr>
          <p:cNvPr id="8" name="Group 8"/>
          <p:cNvGrpSpPr/>
          <p:nvPr/>
        </p:nvGrpSpPr>
        <p:grpSpPr>
          <a:xfrm>
            <a:off x="563880" y="1743075"/>
            <a:ext cx="5063490" cy="514731"/>
            <a:chOff x="563880" y="1743075"/>
            <a:chExt cx="5063490" cy="514731"/>
          </a:xfrm>
        </p:grpSpPr>
        <p:sp>
          <p:nvSpPr>
            <p:cNvPr id="6" name="TextBox 6"/>
            <p:cNvSpPr txBox="1"/>
            <p:nvPr/>
          </p:nvSpPr>
          <p:spPr>
            <a:xfrm>
              <a:off x="563880" y="17430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一条主线：一个查故障码的脚本，怎么长成企业知识助手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5404" y="2023110"/>
              <a:ext cx="3420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四个维度看进化——每个版本背后都有一个为什么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2476500"/>
            <a:ext cx="5334000" cy="1619250"/>
            <a:chOff x="571500" y="2476500"/>
            <a:chExt cx="5334000" cy="1619250"/>
          </a:xfrm>
        </p:grpSpPr>
        <p:sp>
          <p:nvSpPr>
            <p:cNvPr id="9" name="Rectangle 9"/>
            <p:cNvSpPr/>
            <p:nvPr/>
          </p:nvSpPr>
          <p:spPr>
            <a:xfrm>
              <a:off x="571500" y="2476500"/>
              <a:ext cx="5334000" cy="1619250"/>
            </a:xfrm>
            <a:prstGeom prst="roundRect">
              <a:avLst>
                <a:gd name="adj" fmla="val 8235"/>
              </a:avLst>
            </a:prstGeom>
            <a:solidFill>
              <a:srgbClr val="12122A"/>
            </a:solidFill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8685" y="27360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LANE 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018" y="30222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能力升级线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304" y="3413760"/>
              <a:ext cx="3679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记忆 1.0→3.0 · 检索 单路→混合 · 多部门 0→五中心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3718560"/>
              <a:ext cx="2478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PCB 9→54 类 · 并发 单线程→并行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6500" y="2476500"/>
            <a:ext cx="5334000" cy="1619250"/>
            <a:chOff x="6286500" y="2476500"/>
            <a:chExt cx="5334000" cy="1619250"/>
          </a:xfrm>
        </p:grpSpPr>
        <p:sp>
          <p:nvSpPr>
            <p:cNvPr id="15" name="Rectangle 15"/>
            <p:cNvSpPr/>
            <p:nvPr/>
          </p:nvSpPr>
          <p:spPr>
            <a:xfrm>
              <a:off x="6286500" y="2476500"/>
              <a:ext cx="5334000" cy="1619250"/>
            </a:xfrm>
            <a:prstGeom prst="roundRect">
              <a:avLst>
                <a:gd name="adj" fmla="val 8235"/>
              </a:avLst>
            </a:prstGeom>
            <a:solidFill>
              <a:srgbClr val="12122A"/>
            </a:solidFill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23685" y="27360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LANE 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21018" y="30222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反馈驱动线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23304" y="3413760"/>
              <a:ext cx="3113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同事 7/3 要经验查询 · 老板 7/20 要部门库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3304" y="3718560"/>
              <a:ext cx="1923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王哥 8/5 PCB 公式权威化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4381500"/>
            <a:ext cx="5334000" cy="1619250"/>
            <a:chOff x="571500" y="4381500"/>
            <a:chExt cx="53340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571500" y="4381500"/>
              <a:ext cx="5334000" cy="1619250"/>
            </a:xfrm>
            <a:prstGeom prst="roundRect">
              <a:avLst>
                <a:gd name="adj" fmla="val 8235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8685" y="46410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LANE 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6018" y="49272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跨项目学习线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304" y="5318760"/>
              <a:ext cx="4926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RAG 三件套 → 混合检索 · hello-agents/ai-agent-book → KV Cache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8304" y="5623560"/>
              <a:ext cx="2307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Codex · 会议工作流 · 桌面宠物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4381500"/>
            <a:ext cx="5334000" cy="1619250"/>
            <a:chOff x="6286500" y="4381500"/>
            <a:chExt cx="5334000" cy="1619250"/>
          </a:xfrm>
        </p:grpSpPr>
        <p:sp>
          <p:nvSpPr>
            <p:cNvPr id="27" name="Rectangle 27"/>
            <p:cNvSpPr/>
            <p:nvPr/>
          </p:nvSpPr>
          <p:spPr>
            <a:xfrm>
              <a:off x="6286500" y="4381500"/>
              <a:ext cx="5334000" cy="1619250"/>
            </a:xfrm>
            <a:prstGeom prst="roundRect">
              <a:avLst>
                <a:gd name="adj" fmla="val 8235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23685" y="46410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LANE 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1018" y="49272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决策原因线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3304" y="5318760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痛点驱动 · 成本认知驱动 · 数据说话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3304" y="56235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用户偏好小步交付，每次验证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3" name="TextBox 33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716756"/>
            <a:ext cx="3462261" cy="719995"/>
            <a:chOff x="557784" y="716756"/>
            <a:chExt cx="3462261" cy="7199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16756"/>
              <a:ext cx="7799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37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ORIGIN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34622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为什么做恩特小助手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glow rad="47625">
                <a:srgbClr val="22FFEE">
                  <a:alpha val="50000"/>
                </a:srgbClr>
              </a:glow>
            </a:effectLst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714500"/>
            <a:ext cx="5334000" cy="2857500"/>
            <a:chOff x="571500" y="1714500"/>
            <a:chExt cx="5334000" cy="2857500"/>
          </a:xfrm>
        </p:grpSpPr>
        <p:sp>
          <p:nvSpPr>
            <p:cNvPr id="6" name="Rectangle 6"/>
            <p:cNvSpPr/>
            <p:nvPr/>
          </p:nvSpPr>
          <p:spPr>
            <a:xfrm>
              <a:off x="571500" y="1714500"/>
              <a:ext cx="5334000" cy="2857500"/>
            </a:xfrm>
            <a:prstGeom prst="roundRect">
              <a:avLst>
                <a:gd name="adj" fmla="val 4667"/>
              </a:avLst>
            </a:prstGeom>
            <a:solidFill>
              <a:srgbClr val="12122A"/>
            </a:solidFill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6780" y="2009775"/>
              <a:ext cx="2167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起点 · 一个真实的痛点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542" y="2521268"/>
              <a:ext cx="2884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恩特能源（PCS 储能变流器企业）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28641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工程师检测遇报错代码，需要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542" y="3207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秒级查询错误类型、原因、解决方案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9624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704" y="3928110"/>
              <a:ext cx="3306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数据源：PCS 参数表 133 条故障 + 标准 PDF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1714500"/>
            <a:ext cx="5334000" cy="2857500"/>
            <a:chOff x="6286500" y="1714500"/>
            <a:chExt cx="5334000" cy="28575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714500"/>
              <a:ext cx="5334000" cy="2857500"/>
            </a:xfrm>
            <a:prstGeom prst="roundRect">
              <a:avLst>
                <a:gd name="adj" fmla="val 4667"/>
              </a:avLst>
            </a:prstGeom>
            <a:solidFill>
              <a:srgbClr val="12122A"/>
            </a:solidFill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21780" y="2009775"/>
              <a:ext cx="3609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78BFA"/>
                  </a:solidFill>
                  <a:latin typeface="Segoe UI"/>
                  <a:ea typeface="Microsoft YaHei"/>
                  <a:cs typeface="Segoe UI"/>
                </a:rPr>
                <a:t>三步走计划 · 2026-07-01 与胡总敲定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581775" y="27146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75323" y="2681764"/>
              <a:ext cx="33903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第一步 智能快速查询 + 标准检索 + 通用聊天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581775" y="31908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5323" y="3158014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第二步 项目经验全流程沉淀与复用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581775" y="36671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5323" y="3634264"/>
              <a:ext cx="1915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第三步 AI 辅助研发探索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23685" y="4145756"/>
              <a:ext cx="259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 个月窗口 · 面向中小企业 · 量力而行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4857750"/>
            <a:ext cx="11049000" cy="952500"/>
            <a:chOff x="571500" y="4857750"/>
            <a:chExt cx="11049000" cy="952500"/>
          </a:xfrm>
        </p:grpSpPr>
        <p:sp>
          <p:nvSpPr>
            <p:cNvPr id="24" name="Rectangle 24"/>
            <p:cNvSpPr/>
            <p:nvPr/>
          </p:nvSpPr>
          <p:spPr>
            <a:xfrm>
              <a:off x="571500" y="485775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923" y="512016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为什么值得做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7161" y="5427821"/>
              <a:ext cx="59595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把工程师从「翻手册查代码」里解放出来——一个内部工具，服务全公司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2756213" cy="998601"/>
            <a:chOff x="557784" y="438150"/>
            <a:chExt cx="2756213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4D7CFE">
                <a:alpha val="15000"/>
              </a:srgbClr>
            </a:solidFill>
            <a:ln w="9525">
              <a:solidFill>
                <a:srgbClr val="4D7CFE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4D7CFE"/>
                  </a:solidFill>
                  <a:latin typeface="Consolas"/>
                  <a:ea typeface="Consolas"/>
                  <a:cs typeface="Consolas"/>
                </a:rPr>
                <a:t>v1.0 · 07-09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27562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诞生 · 故障查询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rgbClr val="4D7CFE"/>
            </a:solidFill>
            <a:ln>
              <a:noFill/>
            </a:ln>
            <a:effectLst>
              <a:glow rad="47625">
                <a:srgbClr val="4D7CFE">
                  <a:alpha val="50000"/>
                </a:srgbClr>
              </a:glow>
            </a:effectLst>
          </p:spPr>
        </p:sp>
      </p:grpSp>
      <p:grpSp>
        <p:nvGrpSpPr>
          <p:cNvPr id="17" name="Group 17"/>
          <p:cNvGrpSpPr/>
          <p:nvPr/>
        </p:nvGrpSpPr>
        <p:grpSpPr>
          <a:xfrm>
            <a:off x="876300" y="2025968"/>
            <a:ext cx="3547013" cy="2105310"/>
            <a:chOff x="876300" y="2025968"/>
            <a:chExt cx="3547013" cy="2105310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76300" y="2724150"/>
              <a:ext cx="76200" cy="762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0323" y="2681764"/>
              <a:ext cx="33629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PCS 故障代码精确匹配（不调 LLM 秒回）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124200"/>
              <a:ext cx="76200" cy="762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323" y="3081814"/>
              <a:ext cx="27970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Chroma 语义搜索（bge-small-zh）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876300" y="3524250"/>
              <a:ext cx="76200" cy="762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3481864"/>
              <a:ext cx="235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钉钉 Stream 模式 + Web 页面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76300" y="3924300"/>
              <a:ext cx="76200" cy="762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323" y="3881914"/>
              <a:ext cx="2365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通用聊天托底 + 云服务器 7×24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91300" y="2025968"/>
            <a:ext cx="4038595" cy="1705260"/>
            <a:chOff x="6591300" y="2025968"/>
            <a:chExt cx="4038595" cy="1705260"/>
          </a:xfrm>
        </p:grpSpPr>
        <p:sp>
          <p:nvSpPr>
            <p:cNvPr id="18" name="TextBox 18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5913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5323" y="2681764"/>
              <a:ext cx="38545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RAG 两级查询：精确码不调 LLM，语义搜索兜底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591300" y="3124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5323" y="3081814"/>
              <a:ext cx="31351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Stream 模式 = 主动连钉钉，零部署成本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591300" y="3524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5323" y="34818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技能注册中心 @register，避免硬编码路由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7" name="Rectangle 27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chemeClr val="accent3">
                <a:alpha val="10000"/>
              </a:schemeClr>
            </a:solidFill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8304" y="5566410"/>
              <a:ext cx="1632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💬 同事 7/3 实测反馈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7542" y="5797868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「只查故障码太单一」→ 想要经验查询 + 集成钉钉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1" name="TextBox 31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4344372" cy="998601"/>
            <a:chOff x="557784" y="438150"/>
            <a:chExt cx="4344372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22D3EE">
                <a:alpha val="15000"/>
              </a:srgbClr>
            </a:solidFill>
            <a:ln w="9525">
              <a:solidFill>
                <a:srgbClr val="22D3EE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v1.1 · 07-09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43443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从规则路由到 RAG Agent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  <a:effectLst>
              <a:glow rad="47625">
                <a:srgbClr val="22D3EE">
                  <a:alpha val="50000"/>
                </a:srgbClr>
              </a:glow>
            </a:effectLst>
          </p:spPr>
        </p:sp>
      </p:grpSp>
      <p:grpSp>
        <p:nvGrpSpPr>
          <p:cNvPr id="15" name="Group 15"/>
          <p:cNvGrpSpPr/>
          <p:nvPr/>
        </p:nvGrpSpPr>
        <p:grpSpPr>
          <a:xfrm>
            <a:off x="876300" y="2025968"/>
            <a:ext cx="3501497" cy="1705260"/>
            <a:chOff x="876300" y="2025968"/>
            <a:chExt cx="3501497" cy="1705260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202596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改造前 · 规则路由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76300" y="27241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0323" y="2681764"/>
              <a:ext cx="2141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22 个关键词 if-else 硬路由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1242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323" y="3081814"/>
              <a:ext cx="33174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LLM 不知道知识库存在，两条路互不知晓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876300" y="35242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34818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无记忆、无循环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91300" y="2025968"/>
            <a:ext cx="3738184" cy="1705260"/>
            <a:chOff x="6591300" y="2025968"/>
            <a:chExt cx="3738184" cy="1705260"/>
          </a:xfrm>
        </p:grpSpPr>
        <p:sp>
          <p:nvSpPr>
            <p:cNvPr id="16" name="TextBox 16"/>
            <p:cNvSpPr txBox="1"/>
            <p:nvPr/>
          </p:nvSpPr>
          <p:spPr>
            <a:xfrm>
              <a:off x="6622542" y="2025968"/>
              <a:ext cx="1750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改造后 · RAG Agent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591300" y="272415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5323" y="2681764"/>
              <a:ext cx="2892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DeepSeek Function Calling 自主决策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591300" y="31242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5323" y="3081814"/>
              <a:ext cx="3554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精确故障码保留快速通道（不调 LLM 秒回）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591300" y="352425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5323" y="3481864"/>
              <a:ext cx="3158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聊天托底合并进 Agent（本质是一回事）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4857750"/>
            <a:ext cx="11049000" cy="1238250"/>
            <a:chOff x="571500" y="4857750"/>
            <a:chExt cx="11049000" cy="1238250"/>
          </a:xfrm>
        </p:grpSpPr>
        <p:sp>
          <p:nvSpPr>
            <p:cNvPr id="25" name="Rectangle 25"/>
            <p:cNvSpPr/>
            <p:nvPr/>
          </p:nvSpPr>
          <p:spPr>
            <a:xfrm>
              <a:off x="571500" y="4857750"/>
              <a:ext cx="11049000" cy="1238250"/>
            </a:xfrm>
            <a:prstGeom prst="roundRect">
              <a:avLst>
                <a:gd name="adj" fmla="val 9231"/>
              </a:avLst>
            </a:prstGeom>
            <a:solidFill>
              <a:srgbClr val="22D3EE">
                <a:alpha val="8000"/>
              </a:srgbClr>
            </a:solidFill>
            <a:ln w="9525">
              <a:solidFill>
                <a:srgbClr val="22D3EE">
                  <a:alpha val="4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8304" y="5128260"/>
              <a:ext cx="3031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💬 胡总 7/6 追问「是不是标准 Agent」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7542" y="5435918"/>
              <a:ext cx="6929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对比四要素（LLM + 工具 + 记忆 + 循环）→ 结论：规则路由 + 快速通道更适合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8685" y="5765006"/>
              <a:ext cx="4570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判断：技能数 ≥ 3 时再值得升级标准 Agent——不是越「Agent」越好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716756"/>
            <a:ext cx="3519508" cy="719995"/>
            <a:chOff x="557784" y="716756"/>
            <a:chExt cx="3519508" cy="7199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16756"/>
              <a:ext cx="2367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375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MEMORY EVOLUTION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35195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记忆系统 · 三次升级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glow rad="47625">
                <a:srgbClr val="8B5CF6">
                  <a:alpha val="50000"/>
                </a:srgbClr>
              </a:glow>
            </a:effectLst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619250"/>
            <a:ext cx="3619500" cy="2476500"/>
            <a:chOff x="571500" y="1619250"/>
            <a:chExt cx="3619500" cy="24765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3619500" cy="2476500"/>
            </a:xfrm>
            <a:prstGeom prst="roundRect">
              <a:avLst>
                <a:gd name="adj" fmla="val 5385"/>
              </a:avLst>
            </a:prstGeom>
            <a:solidFill>
              <a:srgbClr val="12122A"/>
            </a:solidFill>
            <a:ln w="9525">
              <a:solidFill>
                <a:srgbClr val="4D7CFE">
                  <a:alpha val="4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8685" y="1897856"/>
              <a:ext cx="1412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4D7CFE"/>
                  </a:solidFill>
                  <a:latin typeface="Consolas"/>
                  <a:ea typeface="Consolas"/>
                  <a:cs typeface="Consolas"/>
                </a:rPr>
                <a:t>1.0 · v1.1/v1.2.4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542" y="2235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会话记忆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685" y="2640806"/>
              <a:ext cx="159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JSON → SQLite 持久化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685" y="2926556"/>
              <a:ext cx="122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记忆去重省 token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685" y="3212306"/>
              <a:ext cx="144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WAL + 线程独立连接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619500" cy="2476500"/>
            <a:chOff x="4381500" y="1619250"/>
            <a:chExt cx="3619500" cy="24765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619500" cy="2476500"/>
            </a:xfrm>
            <a:prstGeom prst="roundRect">
              <a:avLst>
                <a:gd name="adj" fmla="val 5385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18685" y="1897856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2.0 · v1.5.3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7542" y="2235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双层记忆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18685" y="264080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短期窗口 8 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18685" y="2926556"/>
              <a:ext cx="2193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LLM 异步压缩成「事实+摘要」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18685" y="321230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跨会话记得项目/型号/偏好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91500" y="1619250"/>
            <a:ext cx="3619500" cy="2476500"/>
            <a:chOff x="8191500" y="1619250"/>
            <a:chExt cx="3619500" cy="2476500"/>
          </a:xfrm>
        </p:grpSpPr>
        <p:sp>
          <p:nvSpPr>
            <p:cNvPr id="20" name="Rectangle 20"/>
            <p:cNvSpPr/>
            <p:nvPr/>
          </p:nvSpPr>
          <p:spPr>
            <a:xfrm>
              <a:off x="8191500" y="1619250"/>
              <a:ext cx="3619500" cy="2476500"/>
            </a:xfrm>
            <a:prstGeom prst="roundRect">
              <a:avLst>
                <a:gd name="adj" fmla="val 5385"/>
              </a:avLst>
            </a:prstGeom>
            <a:solidFill>
              <a:srgbClr val="12122A"/>
            </a:solidFill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28685" y="1897856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3.0 · v1.6.2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7542" y="2235518"/>
              <a:ext cx="1274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KV Cache 友好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28685" y="2640806"/>
              <a:ext cx="2129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静态 system + 窗口20批量滚动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28685" y="29265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命中率 ≈0% → 78%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8685" y="3212306"/>
              <a:ext cx="14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真实日志稳定 85-98%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381500"/>
            <a:ext cx="11049000" cy="1714500"/>
            <a:chOff x="571500" y="4381500"/>
            <a:chExt cx="11049000" cy="1714500"/>
          </a:xfrm>
        </p:grpSpPr>
        <p:sp>
          <p:nvSpPr>
            <p:cNvPr id="27" name="Rectangle 27"/>
            <p:cNvSpPr/>
            <p:nvPr/>
          </p:nvSpPr>
          <p:spPr>
            <a:xfrm>
              <a:off x="571500" y="4381500"/>
              <a:ext cx="11049000" cy="1714500"/>
            </a:xfrm>
            <a:prstGeom prst="roundRect">
              <a:avLst>
                <a:gd name="adj" fmla="val 7778"/>
              </a:avLst>
            </a:prstGeom>
            <a:solidFill>
              <a:srgbClr val="12122A"/>
            </a:solidFill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7542" y="4654868"/>
              <a:ext cx="2170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78BFA"/>
                  </a:solidFill>
                  <a:latin typeface="Segoe UI"/>
                  <a:ea typeface="Microsoft YaHei"/>
                  <a:cs typeface="Segoe UI"/>
                </a:rPr>
                <a:t>📚 跨项目学习的直接落地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5071110"/>
              <a:ext cx="5100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hello-agents ch9 + ai-agent-book ch2 → 上下文工程 5 大差距第 1 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304" y="5414010"/>
              <a:ext cx="6288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84 组成本模拟支撑「窗口20 + 释放1/2 + 静态 system」决策（比纯成本最优仅差 5%）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304" y="5756910"/>
              <a:ext cx="7203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⭐ 根本原因修复：V4 思考型模型压缩挤空 content → 压缩关 thinking + max_tokens 600→1000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3" name="TextBox 33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3519508" cy="998601"/>
            <a:chOff x="557784" y="438150"/>
            <a:chExt cx="3519508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1151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v1.3.0 · 08-03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35195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检索升级 · 混合检索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glow rad="47625">
                <a:srgbClr val="22FFEE">
                  <a:alpha val="50000"/>
                </a:srgbClr>
              </a:glow>
            </a:effectLst>
          </p:spPr>
        </p:sp>
      </p:grpSp>
      <p:grpSp>
        <p:nvGrpSpPr>
          <p:cNvPr id="13" name="Group 13"/>
          <p:cNvGrpSpPr/>
          <p:nvPr/>
        </p:nvGrpSpPr>
        <p:grpSpPr>
          <a:xfrm>
            <a:off x="907542" y="2025968"/>
            <a:ext cx="2598039" cy="1958816"/>
            <a:chOff x="907542" y="2025968"/>
            <a:chExt cx="2598039" cy="1958816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20259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痛点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542" y="2673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短关键词检索差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923" y="30627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「过压」「硬件」这类两字关键词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923" y="34056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纯向量检索有噪声，命中不理想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685" y="37647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用户最痛的点，优先升级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91300" y="2025968"/>
            <a:ext cx="2987436" cy="1800510"/>
            <a:chOff x="6591300" y="2025968"/>
            <a:chExt cx="2987436" cy="1800510"/>
          </a:xfrm>
        </p:grpSpPr>
        <p:sp>
          <p:nvSpPr>
            <p:cNvPr id="14" name="TextBox 14"/>
            <p:cNvSpPr txBox="1"/>
            <p:nvPr/>
          </p:nvSpPr>
          <p:spPr>
            <a:xfrm>
              <a:off x="6622542" y="20259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方案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591300" y="27813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75323" y="2738914"/>
              <a:ext cx="1806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向量 + BM25 双路召回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591300" y="32004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5323" y="3158014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jieba 分词 + rank_bm25 精确字面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591300" y="36195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5323" y="3577114"/>
              <a:ext cx="28034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RRF 融合排名 + bge-reranker 重排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4381500"/>
            <a:ext cx="11049000" cy="1714500"/>
            <a:chOff x="571500" y="4381500"/>
            <a:chExt cx="11049000" cy="1714500"/>
          </a:xfrm>
        </p:grpSpPr>
        <p:sp>
          <p:nvSpPr>
            <p:cNvPr id="23" name="Rectangle 23"/>
            <p:cNvSpPr/>
            <p:nvPr/>
          </p:nvSpPr>
          <p:spPr>
            <a:xfrm>
              <a:off x="571500" y="4381500"/>
              <a:ext cx="11049000" cy="1714500"/>
            </a:xfrm>
            <a:prstGeom prst="roundRect">
              <a:avLst>
                <a:gd name="adj" fmla="val 7778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7542" y="4654868"/>
              <a:ext cx="2140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📚 从 RAG 开源项目学到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8304" y="5071110"/>
              <a:ext cx="523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研读 RAG-STARTER / industrial-general-rag / ragflow 三个开源项目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304" y="5414010"/>
              <a:ext cx="6276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不再闭门造车 → 混合检索（BM25+向量）是第一步，RAGAS 评估/引用溯源等列后续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304" y="5756910"/>
              <a:ext cx="6135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⭐ 教训：代码就绪 ≠ 功能生效——rerank 模型 1.1GB 下载慢，v1.3.0 仅框架就绪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3901156" cy="998601"/>
            <a:chOff x="557784" y="438150"/>
            <a:chExt cx="3901156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chemeClr val="accent3">
                <a:alpha val="15000"/>
              </a:schemeClr>
            </a:solidFill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1151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v1.5.2 · 08-04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390115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检索的教训 · 数据说话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>
              <a:glow rad="47625">
                <a:srgbClr val="FF2D78">
                  <a:alpha val="50000"/>
                </a:srgbClr>
              </a:glow>
            </a:effectLst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714500"/>
            <a:ext cx="5334000" cy="2857500"/>
            <a:chOff x="571500" y="1714500"/>
            <a:chExt cx="5334000" cy="2857500"/>
          </a:xfrm>
        </p:grpSpPr>
        <p:sp>
          <p:nvSpPr>
            <p:cNvPr id="7" name="Rectangle 7"/>
            <p:cNvSpPr/>
            <p:nvPr/>
          </p:nvSpPr>
          <p:spPr>
            <a:xfrm>
              <a:off x="571500" y="1714500"/>
              <a:ext cx="5334000" cy="2857500"/>
            </a:xfrm>
            <a:prstGeom prst="roundRect">
              <a:avLst>
                <a:gd name="adj" fmla="val 4667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161" y="2017871"/>
              <a:ext cx="21822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⭐ 降级保护可能掩盖 bug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304" y="2537460"/>
              <a:ext cx="2742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bge-reranker 静默失效半年没人发现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304" y="2880360"/>
              <a:ext cx="3040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BM25 候选混入向量池外的 id → KeyError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304" y="322326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异常被降级保护吞掉 → 重排从未生效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304" y="35661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修复：重排前过滤不在 candidates 的 id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685" y="406955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教训：自动回退不崩溃是双刃剑，要靠可观测性兜底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86500" y="1714500"/>
            <a:ext cx="5334000" cy="2857500"/>
            <a:chOff x="6286500" y="1714500"/>
            <a:chExt cx="5334000" cy="2857500"/>
          </a:xfrm>
        </p:grpSpPr>
        <p:sp>
          <p:nvSpPr>
            <p:cNvPr id="15" name="Rectangle 15"/>
            <p:cNvSpPr/>
            <p:nvPr/>
          </p:nvSpPr>
          <p:spPr>
            <a:xfrm>
              <a:off x="6286500" y="1714500"/>
              <a:ext cx="5334000" cy="2857500"/>
            </a:xfrm>
            <a:prstGeom prst="roundRect">
              <a:avLst>
                <a:gd name="adj" fmla="val 4667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22161" y="2017871"/>
              <a:ext cx="21320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29 条评估集 · 先测后改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23304" y="2537460"/>
              <a:ext cx="3792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故障代码 5 + 故障症状 12 + 标准编号 4 + 标准条款 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23304" y="2880360"/>
              <a:ext cx="3221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结论：rerank 收益微乎其微（MRR +0.02）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3304" y="3223260"/>
              <a:ext cx="3395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→ 1.1GB rerank 当前库上不值 → 落地配置开关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3304" y="35661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真实缺口：中文查英文标准失效（跨语言检索）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3685" y="40695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用数据说话，而不是靠感觉做技术决策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4762500"/>
            <a:ext cx="11049000" cy="1333500"/>
            <a:chOff x="571500" y="4762500"/>
            <a:chExt cx="11049000" cy="1333500"/>
          </a:xfrm>
        </p:grpSpPr>
        <p:sp>
          <p:nvSpPr>
            <p:cNvPr id="23" name="Rectangle 23"/>
            <p:cNvSpPr/>
            <p:nvPr/>
          </p:nvSpPr>
          <p:spPr>
            <a:xfrm>
              <a:off x="571500" y="476250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7923" y="5063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两条教训合成一条方法论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7542" y="5416868"/>
              <a:ext cx="7905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评估集揭示了「LLM + 快速通道联手掩盖了检索缺陷」——测试不只看通过，更要看测到了什么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27" name="TextBox 27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2698966" cy="998601"/>
            <a:chOff x="557784" y="438150"/>
            <a:chExt cx="2698966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chemeClr val="accent2">
                <a:alpha val="15000"/>
              </a:schemeClr>
            </a:solidFill>
            <a:ln w="9525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1325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v1.2.1-6 · 07-13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269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文档管理子系统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glow rad="47625">
                <a:srgbClr val="8B5CF6">
                  <a:alpha val="50000"/>
                </a:srgbClr>
              </a:glow>
            </a:effectLst>
          </p:spPr>
        </p:sp>
      </p:grpSp>
      <p:grpSp>
        <p:nvGrpSpPr>
          <p:cNvPr id="17" name="Group 17"/>
          <p:cNvGrpSpPr/>
          <p:nvPr/>
        </p:nvGrpSpPr>
        <p:grpSpPr>
          <a:xfrm>
            <a:off x="876300" y="2025968"/>
            <a:ext cx="4192442" cy="2105310"/>
            <a:chOff x="876300" y="2025968"/>
            <a:chExt cx="4192442" cy="2105310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763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0323" y="2681764"/>
              <a:ext cx="33644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doc_mgr 子系统：上传→切块→入库统一管道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124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323" y="3081814"/>
              <a:ext cx="4008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存储抽象层（VectorStore ABC，一行切 Qdrant）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876300" y="3524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3481864"/>
              <a:ext cx="36351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SHA-256 指纹 + staging/active 安全版本替换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76300" y="3924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323" y="3881914"/>
              <a:ext cx="199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崩溃恢复 + Web 同步管理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91300" y="2025968"/>
            <a:ext cx="3126308" cy="2105310"/>
            <a:chOff x="6591300" y="2025968"/>
            <a:chExt cx="3126308" cy="2105310"/>
          </a:xfrm>
        </p:grpSpPr>
        <p:sp>
          <p:nvSpPr>
            <p:cNvPr id="18" name="TextBox 18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5913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5323" y="26817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版本替换「宁可旧，不可错」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591300" y="3124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5323" y="308181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新版本校验成功才切换，失败保留旧版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591300" y="3524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5323" y="3481864"/>
              <a:ext cx="2606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查询层自动隐藏 staging/retired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591300" y="3924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5323" y="3881914"/>
              <a:ext cx="2793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SQLite 并发：WAL + 线程独立连接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9" name="Rectangle 29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chemeClr val="accent2">
                <a:alpha val="10000"/>
              </a:schemeClr>
            </a:solidFill>
            <a:ln w="9525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8304" y="5566410"/>
              <a:ext cx="1212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78BFA"/>
                  </a:solidFill>
                  <a:latin typeface="Segoe UI"/>
                  <a:ea typeface="Microsoft YaHei"/>
                  <a:cs typeface="Segoe UI"/>
                </a:rPr>
                <a:t>📋 P0 验收清单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7542" y="5797868"/>
              <a:ext cx="6463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真实环境端到端：Excel/PDF/MinerU 各走一遍入库→查询→修改→重学→删除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3" name="TextBox 33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2910672" cy="998601"/>
            <a:chOff x="557784" y="438150"/>
            <a:chExt cx="2910672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rgbClr val="22D3EE">
                <a:alpha val="15000"/>
              </a:srgbClr>
            </a:solidFill>
            <a:ln w="9525">
              <a:solidFill>
                <a:srgbClr val="22D3EE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1151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v1.2.2 · 07-14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29106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OCR 路线大切换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  <a:effectLst>
              <a:glow rad="47625">
                <a:srgbClr val="22D3EE">
                  <a:alpha val="50000"/>
                </a:srgbClr>
              </a:glow>
            </a:effectLst>
          </p:spPr>
        </p:sp>
      </p:grpSp>
      <p:grpSp>
        <p:nvGrpSpPr>
          <p:cNvPr id="15" name="Group 15"/>
          <p:cNvGrpSpPr/>
          <p:nvPr/>
        </p:nvGrpSpPr>
        <p:grpSpPr>
          <a:xfrm>
            <a:off x="876300" y="2025968"/>
            <a:ext cx="4126535" cy="1793938"/>
            <a:chOff x="876300" y="2025968"/>
            <a:chExt cx="4126535" cy="1793938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2025968"/>
              <a:ext cx="2625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旧路线 · PaddleOCR 传统识别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76300" y="27813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0704" y="2747010"/>
              <a:ext cx="1738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本地部署 Windows 坑多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2004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704" y="3166110"/>
              <a:ext cx="3942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PaddlePaddle 只有 3.2.2 兼容（3.3.1/3.0.0 报错）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876300" y="36195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704" y="358521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单页 ~22s，329 页全量 ~2 小时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91300" y="2025968"/>
            <a:ext cx="2792669" cy="1793938"/>
            <a:chOff x="6591300" y="2025968"/>
            <a:chExt cx="2792669" cy="1793938"/>
          </a:xfrm>
        </p:grpSpPr>
        <p:sp>
          <p:nvSpPr>
            <p:cNvPr id="16" name="TextBox 16"/>
            <p:cNvSpPr txBox="1"/>
            <p:nvPr/>
          </p:nvSpPr>
          <p:spPr>
            <a:xfrm>
              <a:off x="6622542" y="2025968"/>
              <a:ext cx="2482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新路线 · MinerU 大模型视觉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591300" y="27813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5704" y="2747010"/>
              <a:ext cx="2179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API 零部署、直接理解上下文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591300" y="32004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5704" y="3166110"/>
              <a:ext cx="2607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输出 Markdown 保留标题/表格结构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591300" y="36195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5704" y="3585210"/>
              <a:ext cx="2608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MarkdownChunker 按标题层级切块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572000"/>
            <a:ext cx="11049000" cy="1524000"/>
            <a:chOff x="571500" y="4572000"/>
            <a:chExt cx="11049000" cy="1524000"/>
          </a:xfrm>
        </p:grpSpPr>
        <p:sp>
          <p:nvSpPr>
            <p:cNvPr id="25" name="Rectangle 25"/>
            <p:cNvSpPr/>
            <p:nvPr/>
          </p:nvSpPr>
          <p:spPr>
            <a:xfrm>
              <a:off x="571500" y="4572000"/>
              <a:ext cx="11049000" cy="1524000"/>
            </a:xfrm>
            <a:prstGeom prst="roundRect">
              <a:avLst>
                <a:gd name="adj" fmla="val 8750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7542" y="4845368"/>
              <a:ext cx="1287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MinerU 三个坑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76300" y="54102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0704" y="5375910"/>
              <a:ext cx="5476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轮询状态永远 unknown → API 返回结构是 data.extract_result[0].state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76300" y="57340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0704" y="5699760"/>
              <a:ext cx="5211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上传 OSS 403 → 预签名 URL 不支持自定义 Content-Type，去掉即 200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685" y="5841206"/>
              <a:ext cx="33808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大 PDF 200 页硬限制 → 自动拆分 ≤200 页逐份送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3" name="TextBox 33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716756"/>
            <a:ext cx="5046099" cy="719995"/>
            <a:chOff x="557784" y="716756"/>
            <a:chExt cx="5046099" cy="7199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16756"/>
              <a:ext cx="16938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375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MULTI-CENTER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50460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多部门进化 · 权限从无到强制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>
              <a:glow rad="47625">
                <a:srgbClr val="FF2D78">
                  <a:alpha val="50000"/>
                </a:srgbClr>
              </a:glow>
            </a:effectLst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619250"/>
            <a:ext cx="3619500" cy="2381250"/>
            <a:chOff x="571500" y="1619250"/>
            <a:chExt cx="3619500" cy="238125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3619500" cy="2381250"/>
            </a:xfrm>
            <a:prstGeom prst="roundRect">
              <a:avLst>
                <a:gd name="adj" fmla="val 5600"/>
              </a:avLst>
            </a:prstGeom>
            <a:solidFill>
              <a:srgbClr val="12122A"/>
            </a:solidFill>
            <a:ln w="9525">
              <a:solidFill>
                <a:srgbClr val="4D7CFE">
                  <a:alpha val="4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8685" y="1897856"/>
              <a:ext cx="11671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4D7CFE"/>
                  </a:solidFill>
                  <a:latin typeface="Consolas"/>
                  <a:ea typeface="Microsoft YaHei"/>
                  <a:cs typeface="Consolas"/>
                </a:rPr>
                <a:t>阶段 1 · v1.2.8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542" y="22545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五中心组织架构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685" y="2678906"/>
              <a:ext cx="2624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PMO/研发/制造/商业/运营 + 公共区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685" y="2983706"/>
              <a:ext cx="226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chunk 带 department metadata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685" y="328850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用户中心 + 公共区 $in 过滤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619500" cy="2381250"/>
            <a:chOff x="4381500" y="1619250"/>
            <a:chExt cx="3619500" cy="23812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619500" cy="2381250"/>
            </a:xfrm>
            <a:prstGeom prst="roundRect">
              <a:avLst>
                <a:gd name="adj" fmla="val 5600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18685" y="1897856"/>
              <a:ext cx="11671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Microsoft YaHei"/>
                  <a:cs typeface="Consolas"/>
                </a:rPr>
                <a:t>阶段 2 · v1.2.9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7542" y="2254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隔离修复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18685" y="2678906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同步路径把中心覆盖成 public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18685" y="298370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修复：upsert_file 空值不覆盖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18685" y="32885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审核按真实部门入库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91500" y="1619250"/>
            <a:ext cx="3619500" cy="2381250"/>
            <a:chOff x="8191500" y="1619250"/>
            <a:chExt cx="3619500" cy="2381250"/>
          </a:xfrm>
        </p:grpSpPr>
        <p:sp>
          <p:nvSpPr>
            <p:cNvPr id="20" name="Rectangle 20"/>
            <p:cNvSpPr/>
            <p:nvPr/>
          </p:nvSpPr>
          <p:spPr>
            <a:xfrm>
              <a:off x="8191500" y="1619250"/>
              <a:ext cx="3619500" cy="2381250"/>
            </a:xfrm>
            <a:prstGeom prst="roundRect">
              <a:avLst>
                <a:gd name="adj" fmla="val 5600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28685" y="1897856"/>
              <a:ext cx="11671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onsolas"/>
                  <a:ea typeface="Microsoft YaHei"/>
                  <a:cs typeface="Consolas"/>
                </a:rPr>
                <a:t>阶段 3 · v1.5.2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7542" y="2254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归属可改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28685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后台下拉改归属中心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28685" y="2983706"/>
              <a:ext cx="2236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强制重学重写 Chroma metadata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8685" y="32885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版本替换机制复用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286250"/>
            <a:ext cx="11049000" cy="1809750"/>
            <a:chOff x="571500" y="4286250"/>
            <a:chExt cx="11049000" cy="1809750"/>
          </a:xfrm>
        </p:grpSpPr>
        <p:sp>
          <p:nvSpPr>
            <p:cNvPr id="27" name="Rectangle 27"/>
            <p:cNvSpPr/>
            <p:nvPr/>
          </p:nvSpPr>
          <p:spPr>
            <a:xfrm>
              <a:off x="571500" y="4286250"/>
              <a:ext cx="11049000" cy="1809750"/>
            </a:xfrm>
            <a:prstGeom prst="roundRect">
              <a:avLst>
                <a:gd name="adj" fmla="val 7368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7542" y="4559618"/>
              <a:ext cx="2895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💬 老板 7/20 需求驱动的架构升级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56810"/>
              <a:ext cx="4575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各部门独立知识库 + 权限系统（部门上传/部门查询/公共资料）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304" y="5280660"/>
              <a:ext cx="4252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多级回退策略（centers → center → public）杜绝权限黑洞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304" y="5642610"/>
              <a:ext cx="5299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权限演进：没有 → 五中心隔离 → 数据链路层强制 → v2.0 部门级 ACL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3" name="TextBox 33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3233273" cy="998601"/>
            <a:chOff x="557784" y="438150"/>
            <a:chExt cx="3233273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chemeClr val="accent2">
                <a:alpha val="15000"/>
              </a:schemeClr>
            </a:solidFill>
            <a:ln w="9525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1325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v1.4.0-2 · 08-03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323327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PCB 计算技能成长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glow rad="47625">
                <a:srgbClr val="8B5CF6">
                  <a:alpha val="50000"/>
                </a:srgbClr>
              </a:glow>
            </a:effectLst>
          </p:spPr>
        </p:sp>
      </p:grpSp>
      <p:grpSp>
        <p:nvGrpSpPr>
          <p:cNvPr id="17" name="Group 17"/>
          <p:cNvGrpSpPr/>
          <p:nvPr/>
        </p:nvGrpSpPr>
        <p:grpSpPr>
          <a:xfrm>
            <a:off x="876300" y="2025968"/>
            <a:ext cx="4565127" cy="2105310"/>
            <a:chOff x="876300" y="2025968"/>
            <a:chExt cx="4565127" cy="2105310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763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0323" y="2681764"/>
              <a:ext cx="35281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v1.4.0 起步 9 类（走线/阻抗/过孔/趋肤等）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124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323" y="3081814"/>
              <a:ext cx="3579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v1.4.2 布局综合校验（走线+安规+空间冲突）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876300" y="3524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3481864"/>
              <a:ext cx="4381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冲突时给 5 级设计建议（开槽→板材→三防漆→加厚→布局）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76300" y="3924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323" y="388191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钉钉即时反馈 + 错误码体系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91300" y="2025968"/>
            <a:ext cx="4270405" cy="2105310"/>
            <a:chOff x="6591300" y="2025968"/>
            <a:chExt cx="4270405" cy="2105310"/>
          </a:xfrm>
        </p:grpSpPr>
        <p:sp>
          <p:nvSpPr>
            <p:cNvPr id="18" name="TextBox 18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5913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5323" y="2681764"/>
              <a:ext cx="3499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「LLM 只用在刀刃上」极致版：公式本地算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591300" y="3124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5323" y="3081814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安规查表 + 线性插值 + 超范围警示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591300" y="3524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5323" y="3481864"/>
              <a:ext cx="30079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口语复杂表达才由 LLM 识别后调工具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591300" y="3924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5323" y="3881914"/>
              <a:ext cx="4086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已编译正则传 flags 抛 ValueError（Python 3.7+）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9" name="Rectangle 29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chemeClr val="accent2">
                <a:alpha val="10000"/>
              </a:schemeClr>
            </a:solidFill>
            <a:ln w="9525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8304" y="55664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78BFA"/>
                  </a:solidFill>
                  <a:latin typeface="Segoe UI"/>
                  <a:ea typeface="Microsoft YaHei"/>
                  <a:cs typeface="Segoe UI"/>
                </a:rPr>
                <a:t>成长数字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7542" y="5797868"/>
              <a:ext cx="5155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9 → 12 → 13 类，全本地公式秒回，参数正则提取不调 LLM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3" name="TextBox 33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3293760" cy="998601"/>
            <a:chOff x="557784" y="438150"/>
            <a:chExt cx="3293760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1325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v1.5.4-6 · 08-05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3293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PCB 权威化 + 打磨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glow rad="47625">
                <a:srgbClr val="22FFEE">
                  <a:alpha val="50000"/>
                </a:srgbClr>
              </a:glow>
            </a:effectLst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619250"/>
            <a:ext cx="11049000" cy="1524000"/>
            <a:chOff x="571500" y="1619250"/>
            <a:chExt cx="11049000" cy="1524000"/>
          </a:xfrm>
        </p:grpSpPr>
        <p:sp>
          <p:nvSpPr>
            <p:cNvPr id="7" name="Rectangle 7"/>
            <p:cNvSpPr/>
            <p:nvPr/>
          </p:nvSpPr>
          <p:spPr>
            <a:xfrm>
              <a:off x="571500" y="1619250"/>
              <a:ext cx="11049000" cy="1524000"/>
            </a:xfrm>
            <a:prstGeom prst="roundRect">
              <a:avLst>
                <a:gd name="adj" fmla="val 8750"/>
              </a:avLst>
            </a:prstGeom>
            <a:solidFill>
              <a:schemeClr val="accent3">
                <a:alpha val="10000"/>
              </a:schemeClr>
            </a:solidFill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161" y="1884521"/>
              <a:ext cx="36622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💬 王哥（PCB 部门主管）8/5 实测反馈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923" y="2300764"/>
              <a:ext cx="56389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「公式权威来源应是主管给的 pcb-tools.cn，之前都是自己实验得出的」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923" y="2681764"/>
              <a:ext cx="7213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还发现：「写了 30 度还是用 10 度」温升识别 · 直流峰值误乘 √2 · 紫铜路由落 LLM 瞎算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3333750"/>
            <a:ext cx="5334000" cy="2190750"/>
            <a:chOff x="571500" y="3333750"/>
            <a:chExt cx="5334000" cy="2190750"/>
          </a:xfrm>
        </p:grpSpPr>
        <p:sp>
          <p:nvSpPr>
            <p:cNvPr id="12" name="Rectangle 12"/>
            <p:cNvSpPr/>
            <p:nvPr/>
          </p:nvSpPr>
          <p:spPr>
            <a:xfrm>
              <a:off x="571500" y="3333750"/>
              <a:ext cx="5334000" cy="2190750"/>
            </a:xfrm>
            <a:prstGeom prst="roundRect">
              <a:avLst>
                <a:gd name="adj" fmla="val 6087"/>
              </a:avLst>
            </a:prstGeom>
            <a:solidFill>
              <a:srgbClr val="12122A"/>
            </a:solidFill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8685" y="3631406"/>
              <a:ext cx="1214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v1.5.4 权威基准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542" y="3988118"/>
              <a:ext cx="9010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13 → 54 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304" y="4404360"/>
              <a:ext cx="3873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公式全集 51 分类存 pcb_calculation_formulas.json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304" y="4728210"/>
              <a:ext cx="208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3 张查表独立文件随 git 管理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5052060"/>
              <a:ext cx="2793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修正：差分带状线系数 0.37 → 0.347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333750"/>
            <a:ext cx="5334000" cy="2190750"/>
            <a:chOff x="6286500" y="3333750"/>
            <a:chExt cx="5334000" cy="2190750"/>
          </a:xfrm>
        </p:grpSpPr>
        <p:sp>
          <p:nvSpPr>
            <p:cNvPr id="19" name="Rectangle 19"/>
            <p:cNvSpPr/>
            <p:nvPr/>
          </p:nvSpPr>
          <p:spPr>
            <a:xfrm>
              <a:off x="6286500" y="3333750"/>
              <a:ext cx="5334000" cy="2190750"/>
            </a:xfrm>
            <a:prstGeom prst="roundRect">
              <a:avLst>
                <a:gd name="adj" fmla="val 6087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3685" y="3631406"/>
              <a:ext cx="1072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onsolas"/>
                  <a:ea typeface="Microsoft YaHei"/>
                  <a:cs typeface="Consolas"/>
                </a:rPr>
                <a:t>v1.5.5/6 打磨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2542" y="3988118"/>
              <a:ext cx="2408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40 题社区回归 + 参数补足层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23304" y="4404360"/>
              <a:ext cx="166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7 对 26 败 → 36 对 0 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3304" y="4728210"/>
              <a:ext cx="4244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⭐ \b 汉字边界系统性 bug（Unicode 汉字也是 word 字符）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23304" y="505206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声明式参数补足层 + 多组合表格输出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07542" y="5874068"/>
            <a:ext cx="6625762" cy="264033"/>
            <a:chOff x="907542" y="5874068"/>
            <a:chExt cx="6625762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907542" y="5874068"/>
              <a:ext cx="6625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⭐ 核心认知：公式权威来源 &gt; 个人经验——对客户/主管的交付可信度是第一位的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2317318" cy="998601"/>
            <a:chOff x="557784" y="438150"/>
            <a:chExt cx="2317318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chemeClr val="accent3">
                <a:alpha val="15000"/>
              </a:schemeClr>
            </a:solidFill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1151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v1.6.0 · 08-05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多人并发处理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>
              <a:glow rad="47625">
                <a:srgbClr val="FF2D78">
                  <a:alpha val="50000"/>
                </a:srgbClr>
              </a:glow>
            </a:effectLst>
          </p:spPr>
        </p:sp>
      </p:grpSp>
      <p:grpSp>
        <p:nvGrpSpPr>
          <p:cNvPr id="12" name="Group 12"/>
          <p:cNvGrpSpPr/>
          <p:nvPr/>
        </p:nvGrpSpPr>
        <p:grpSpPr>
          <a:xfrm>
            <a:off x="907542" y="2025968"/>
            <a:ext cx="3373450" cy="1629060"/>
            <a:chOff x="907542" y="2025968"/>
            <a:chExt cx="3373450" cy="1629060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20259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痛点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542" y="2673668"/>
              <a:ext cx="2538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一人问 LLM，其他人全部排队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923" y="3062764"/>
              <a:ext cx="3373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同步调用无 await 点占死 asyncio 事件循环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923" y="3405664"/>
              <a:ext cx="2743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DeepSeek 60s 超时 × 3 重试 × 5 轮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91300" y="2025968"/>
            <a:ext cx="3615573" cy="1800510"/>
            <a:chOff x="6591300" y="2025968"/>
            <a:chExt cx="3615573" cy="1800510"/>
          </a:xfrm>
        </p:grpSpPr>
        <p:sp>
          <p:nvSpPr>
            <p:cNvPr id="13" name="TextBox 13"/>
            <p:cNvSpPr txBox="1"/>
            <p:nvPr/>
          </p:nvSpPr>
          <p:spPr>
            <a:xfrm>
              <a:off x="6622542" y="20259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方案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591300" y="27813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75323" y="2738914"/>
              <a:ext cx="2494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asyncio.to_thread 放行慢操作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591300" y="32004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75323" y="3158014"/>
              <a:ext cx="3431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BoundedSemaphore 限流 20（防费用失控）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591300" y="36195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5323" y="35771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每用户锁：同人串行、异人并行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4381500"/>
            <a:ext cx="11049000" cy="1714500"/>
            <a:chOff x="571500" y="4381500"/>
            <a:chExt cx="11049000" cy="1714500"/>
          </a:xfrm>
        </p:grpSpPr>
        <p:sp>
          <p:nvSpPr>
            <p:cNvPr id="22" name="Rectangle 22"/>
            <p:cNvSpPr/>
            <p:nvPr/>
          </p:nvSpPr>
          <p:spPr>
            <a:xfrm>
              <a:off x="571500" y="4381500"/>
              <a:ext cx="11049000" cy="1714500"/>
            </a:xfrm>
            <a:prstGeom prst="roundRect">
              <a:avLst>
                <a:gd name="adj" fmla="val 7778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7542" y="4654868"/>
              <a:ext cx="1406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📚 借鉴异步模型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304" y="5071110"/>
              <a:ext cx="62256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hello-agents ch7 AsyncToolExecutor（ThreadPoolExecutor + run_in_executor）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8304" y="5414010"/>
              <a:ext cx="4682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ai-agent-book 4-5 Flux：「异步 LLM 客户端是真正并发地基」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304" y="5756910"/>
              <a:ext cx="4278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⭐ 验证：205 项回归全绿，快消息 0.32s 立即返回不排队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4340051" cy="998601"/>
            <a:chOff x="557784" y="438150"/>
            <a:chExt cx="4340051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rgbClr val="22D3EE">
                <a:alpha val="15000"/>
              </a:srgbClr>
            </a:solidFill>
            <a:ln w="9525">
              <a:solidFill>
                <a:srgbClr val="22D3EE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1325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v1.6.1-2 · 08-06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434005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并发修复 · 韧性 · 稳定性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  <a:effectLst>
              <a:glow rad="47625">
                <a:srgbClr val="22D3EE">
                  <a:alpha val="50000"/>
                </a:srgbClr>
              </a:glow>
            </a:effectLst>
          </p:spPr>
        </p:sp>
      </p:grpSp>
      <p:grpSp>
        <p:nvGrpSpPr>
          <p:cNvPr id="15" name="Group 15"/>
          <p:cNvGrpSpPr/>
          <p:nvPr/>
        </p:nvGrpSpPr>
        <p:grpSpPr>
          <a:xfrm>
            <a:off x="876300" y="2025968"/>
            <a:ext cx="3525289" cy="1603438"/>
            <a:chOff x="876300" y="2025968"/>
            <a:chExt cx="3525289" cy="1603438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并发修复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76300" y="27241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0704" y="2689860"/>
              <a:ext cx="33408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⭐ asyncio.Lock 绑定事件循环，钉钉重连必炸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1051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704" y="3070860"/>
              <a:ext cx="29926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修复：锁按 (loop, lock) 结构随循环重建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876300" y="34290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704" y="3394710"/>
              <a:ext cx="2778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懒加载单例加 threading.Lock 双检锁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91300" y="2025968"/>
            <a:ext cx="3423209" cy="1603438"/>
            <a:chOff x="6591300" y="2025968"/>
            <a:chExt cx="3423209" cy="1603438"/>
          </a:xfrm>
        </p:grpSpPr>
        <p:sp>
          <p:nvSpPr>
            <p:cNvPr id="16" name="TextBox 16"/>
            <p:cNvSpPr txBox="1"/>
            <p:nvPr/>
          </p:nvSpPr>
          <p:spPr>
            <a:xfrm>
              <a:off x="6622542" y="20259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稳定性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591300" y="272415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5704" y="2689860"/>
              <a:ext cx="32388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DeepSeek 瞬断自动重试（指数退避 1s→2s）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591300" y="310515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5704" y="3070860"/>
              <a:ext cx="2847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10061/429/5xx 重试 3 次，4xx 不重试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591300" y="34290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5704" y="3394710"/>
              <a:ext cx="3089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崩溃恢复：启动清理遗留 staging/retired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3810000"/>
            <a:ext cx="11049000" cy="1905000"/>
            <a:chOff x="571500" y="3810000"/>
            <a:chExt cx="110490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571500" y="3810000"/>
              <a:ext cx="11049000" cy="1905000"/>
            </a:xfrm>
            <a:prstGeom prst="roundRect">
              <a:avLst>
                <a:gd name="adj" fmla="val 7000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7161" y="4075271"/>
              <a:ext cx="29070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🌐 Clash 代理劫持 · 三症状同根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7923" y="4491514"/>
              <a:ext cx="4696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DeepSeek 报 10061 · 钉钉 token 报 10054 · 还有 SSL EOF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923" y="483441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三者是同一根病（代理劫持）在不同崩溃阶段的三种表现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7923" y="5177314"/>
              <a:ext cx="5258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修复：国内 API 全直连 trust_env=False——以后新增 API 默认加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1" name="TextBox 31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7784" y="438150"/>
            <a:ext cx="4664452" cy="998601"/>
            <a:chOff x="557784" y="438150"/>
            <a:chExt cx="4664452" cy="998601"/>
          </a:xfrm>
        </p:grpSpPr>
        <p:sp>
          <p:nvSpPr>
            <p:cNvPr id="2" name="Rectangle 2"/>
            <p:cNvSpPr/>
            <p:nvPr/>
          </p:nvSpPr>
          <p:spPr>
            <a:xfrm>
              <a:off x="571500" y="4381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185" y="526256"/>
              <a:ext cx="1151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v1.7.0 · 08-06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08685"/>
              <a:ext cx="46644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组织通讯录 find_employee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glow rad="47625">
                <a:srgbClr val="22FFEE">
                  <a:alpha val="50000"/>
                </a:srgbClr>
              </a:glow>
            </a:effectLst>
          </p:spPr>
        </p:sp>
      </p:grpSp>
      <p:grpSp>
        <p:nvGrpSpPr>
          <p:cNvPr id="19" name="Group 19"/>
          <p:cNvGrpSpPr/>
          <p:nvPr/>
        </p:nvGrpSpPr>
        <p:grpSpPr>
          <a:xfrm>
            <a:off x="876300" y="2025968"/>
            <a:ext cx="3669096" cy="2257710"/>
            <a:chOff x="876300" y="2025968"/>
            <a:chExt cx="3669096" cy="2257710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76300" y="27241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0323" y="2681764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find_employee 工具走注册中心，零改动接入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1051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323" y="3062764"/>
              <a:ext cx="2365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姓名/部门/职位/工号全员可查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876300" y="3429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3386614"/>
              <a:ext cx="1830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手机/邮箱仅审核人可见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76300" y="37528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323" y="3710464"/>
              <a:ext cx="20636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60s TTL 缓存防 QPS 限流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76300" y="40767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0323" y="4034314"/>
              <a:ext cx="2683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90 员工全量拉到 · 227 项回归全绿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91300" y="2025968"/>
            <a:ext cx="4160190" cy="1933860"/>
            <a:chOff x="6591300" y="2025968"/>
            <a:chExt cx="4160190" cy="1933860"/>
          </a:xfrm>
        </p:grpSpPr>
        <p:sp>
          <p:nvSpPr>
            <p:cNvPr id="20" name="TextBox 20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5913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5323" y="2681764"/>
              <a:ext cx="28561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⭐ 钉钉新版接口 404 → 旧版 oapi 换族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591300" y="3105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5323" y="306276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api.dingtalk.com/v1.0 全 404 → oapi topapi 可用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591300" y="34290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5323" y="3386614"/>
              <a:ext cx="3190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敏感字段服务端剥离，不依赖 LLM 自觉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591300" y="3752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5323" y="37104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权限放数据链路层，不放在提示词层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7542" y="5874068"/>
            <a:ext cx="7045575" cy="264033"/>
            <a:chOff x="907542" y="5874068"/>
            <a:chExt cx="7045575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907542" y="5874068"/>
              <a:ext cx="7045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⭐ 工具注册中心架构红利兑现：新能力无需改 agent.py 一行，权限天然按身份隔离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3" name="TextBox 33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716756"/>
            <a:ext cx="3519508" cy="719995"/>
            <a:chOff x="557784" y="716756"/>
            <a:chExt cx="3519508" cy="7199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16756"/>
              <a:ext cx="15819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37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GROWTH DATA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35195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半年成长 · 数字看板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glow rad="47625">
                <a:srgbClr val="22FFEE">
                  <a:alpha val="55000"/>
                </a:srgbClr>
              </a:glow>
            </a:effectLst>
          </p:spPr>
        </p:sp>
      </p:grpSp>
      <p:grpSp>
        <p:nvGrpSpPr>
          <p:cNvPr id="9" name="Group 9"/>
          <p:cNvGrpSpPr/>
          <p:nvPr/>
        </p:nvGrpSpPr>
        <p:grpSpPr>
          <a:xfrm>
            <a:off x="571500" y="1714500"/>
            <a:ext cx="3524250" cy="1428750"/>
            <a:chOff x="571500" y="1714500"/>
            <a:chExt cx="3524250" cy="1428750"/>
          </a:xfrm>
        </p:grpSpPr>
        <p:sp>
          <p:nvSpPr>
            <p:cNvPr id="6" name="Rectangle 6"/>
            <p:cNvSpPr/>
            <p:nvPr/>
          </p:nvSpPr>
          <p:spPr>
            <a:xfrm>
              <a:off x="571500" y="17145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6874" y="1856422"/>
              <a:ext cx="193693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effectLst>
                    <a:glow rad="47625">
                      <a:srgbClr val="22FFEE">
                        <a:alpha val="55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33 → 227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304" y="27279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自动化测试项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333875" y="1714500"/>
            <a:ext cx="3524250" cy="1428750"/>
            <a:chOff x="4333875" y="1714500"/>
            <a:chExt cx="3524250" cy="1428750"/>
          </a:xfrm>
        </p:grpSpPr>
        <p:sp>
          <p:nvSpPr>
            <p:cNvPr id="10" name="Rectangle 10"/>
            <p:cNvSpPr/>
            <p:nvPr/>
          </p:nvSpPr>
          <p:spPr>
            <a:xfrm>
              <a:off x="4333875" y="17145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59249" y="18564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24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0679" y="2727960"/>
              <a:ext cx="1632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发布版本 · 10 大阶段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96250" y="1714500"/>
            <a:ext cx="3524250" cy="1428750"/>
            <a:chOff x="8096250" y="1714500"/>
            <a:chExt cx="3524250" cy="1428750"/>
          </a:xfrm>
        </p:grpSpPr>
        <p:sp>
          <p:nvSpPr>
            <p:cNvPr id="14" name="Rectangle 14"/>
            <p:cNvSpPr/>
            <p:nvPr/>
          </p:nvSpPr>
          <p:spPr>
            <a:xfrm>
              <a:off x="8096250" y="17145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1624" y="1856422"/>
              <a:ext cx="120543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5C98"/>
                  </a:solidFill>
                  <a:effectLst>
                    <a:glow rad="47625">
                      <a:srgbClr val="FF2D78">
                        <a:alpha val="50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54 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3054" y="2727960"/>
              <a:ext cx="1257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PCB 本地计算器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3429000"/>
            <a:ext cx="3524250" cy="1428750"/>
            <a:chOff x="571500" y="3429000"/>
            <a:chExt cx="3524250" cy="1428750"/>
          </a:xfrm>
        </p:grpSpPr>
        <p:sp>
          <p:nvSpPr>
            <p:cNvPr id="18" name="Rectangle 18"/>
            <p:cNvSpPr/>
            <p:nvPr/>
          </p:nvSpPr>
          <p:spPr>
            <a:xfrm>
              <a:off x="571500" y="34290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6874" y="3570922"/>
              <a:ext cx="120543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≈78%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304" y="4442460"/>
              <a:ext cx="3009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KV Cache 命中率（真实日志 89-92%）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33875" y="3429000"/>
            <a:ext cx="3524250" cy="1428750"/>
            <a:chOff x="4333875" y="3429000"/>
            <a:chExt cx="3524250" cy="1428750"/>
          </a:xfrm>
        </p:grpSpPr>
        <p:sp>
          <p:nvSpPr>
            <p:cNvPr id="22" name="Rectangle 22"/>
            <p:cNvSpPr/>
            <p:nvPr/>
          </p:nvSpPr>
          <p:spPr>
            <a:xfrm>
              <a:off x="4333875" y="34290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59249" y="35709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90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70679" y="444246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员工通讯录全量拉到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96250" y="3429000"/>
            <a:ext cx="3524250" cy="1428750"/>
            <a:chOff x="8096250" y="3429000"/>
            <a:chExt cx="3524250" cy="1428750"/>
          </a:xfrm>
        </p:grpSpPr>
        <p:sp>
          <p:nvSpPr>
            <p:cNvPr id="26" name="Rectangle 26"/>
            <p:cNvSpPr/>
            <p:nvPr/>
          </p:nvSpPr>
          <p:spPr>
            <a:xfrm>
              <a:off x="8096250" y="34290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1624" y="3570922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133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3054" y="4442460"/>
              <a:ext cx="14370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PCS 故障记录入库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5143500"/>
            <a:ext cx="11049000" cy="952500"/>
            <a:chOff x="571500" y="5143500"/>
            <a:chExt cx="11049000" cy="952500"/>
          </a:xfrm>
        </p:grpSpPr>
        <p:sp>
          <p:nvSpPr>
            <p:cNvPr id="30" name="Rectangle 30"/>
            <p:cNvSpPr/>
            <p:nvPr/>
          </p:nvSpPr>
          <p:spPr>
            <a:xfrm>
              <a:off x="571500" y="5143500"/>
              <a:ext cx="11049000" cy="952500"/>
            </a:xfrm>
            <a:prstGeom prst="roundRect">
              <a:avLst>
                <a:gd name="adj" fmla="val 14000"/>
              </a:avLst>
            </a:prstGeom>
            <a:solidFill>
              <a:srgbClr val="12122A"/>
            </a:solidFill>
            <a:ln w="9525">
              <a:solidFill>
                <a:srgbClr val="3A4A7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7923" y="53868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成长主线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542" y="5683568"/>
              <a:ext cx="6474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先做「能查」→ 再做「能管」→ 再做「能算」→ 最后做「能记、能并发、能认人」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4" name="TextBox 34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716756"/>
            <a:ext cx="3519508" cy="719995"/>
            <a:chOff x="557784" y="716756"/>
            <a:chExt cx="3519508" cy="7199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16756"/>
              <a:ext cx="2037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375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PITS WE CLIMBED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35195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爬过的坑 · 横切汇总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>
              <a:glow rad="47625">
                <a:srgbClr val="FF2D78">
                  <a:alpha val="50000"/>
                </a:srgbClr>
              </a:glow>
            </a:effectLst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714500"/>
            <a:ext cx="3798703" cy="2095500"/>
            <a:chOff x="571500" y="1714500"/>
            <a:chExt cx="3798703" cy="2095500"/>
          </a:xfrm>
        </p:grpSpPr>
        <p:sp>
          <p:nvSpPr>
            <p:cNvPr id="6" name="Rectangle 6"/>
            <p:cNvSpPr/>
            <p:nvPr/>
          </p:nvSpPr>
          <p:spPr>
            <a:xfrm>
              <a:off x="571500" y="1714500"/>
              <a:ext cx="3619500" cy="2095500"/>
            </a:xfrm>
            <a:prstGeom prst="roundRect">
              <a:avLst>
                <a:gd name="adj" fmla="val 6364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8685" y="19931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Microsoft YaHei"/>
                  <a:cs typeface="Consolas"/>
                </a:rPr>
                <a:t>版本兼容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304" y="2385060"/>
              <a:ext cx="2254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PaddlePaddle 只有 3.2.2 兼容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304" y="2727960"/>
              <a:ext cx="3461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re.search(已编译正则, flags) 抛 ValueError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304" y="3070860"/>
              <a:ext cx="2529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钉钉新版 REST 接口整个前缀 404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714500"/>
            <a:ext cx="3619500" cy="2095500"/>
            <a:chOff x="4381500" y="1714500"/>
            <a:chExt cx="3619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619500" cy="2095500"/>
            </a:xfrm>
            <a:prstGeom prst="roundRect">
              <a:avLst>
                <a:gd name="adj" fmla="val 6364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18685" y="1993106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Microsoft YaHei"/>
                  <a:cs typeface="Consolas"/>
                </a:rPr>
                <a:t>环境 / 网络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18304" y="2385060"/>
              <a:ext cx="193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Clash 代理劫持三症状同根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8304" y="272796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.pyc 缓存不释放端口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18304" y="3070860"/>
              <a:ext cx="2035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Windows GBK 中文日志乱码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91500" y="1714500"/>
            <a:ext cx="3619500" cy="2095500"/>
            <a:chOff x="8191500" y="1714500"/>
            <a:chExt cx="3619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1714500"/>
              <a:ext cx="3619500" cy="2095500"/>
            </a:xfrm>
            <a:prstGeom prst="roundRect">
              <a:avLst>
                <a:gd name="adj" fmla="val 6364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28685" y="1993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Microsoft YaHei"/>
                  <a:cs typeface="Consolas"/>
                </a:rPr>
                <a:t>并发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28304" y="2385060"/>
              <a:ext cx="2878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asyncio.Lock 跨事件循环（重连必炸）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28304" y="2727960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gather 内 mock.patch 竞态泄漏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8304" y="30708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懒加载单例非线程安全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4000500"/>
            <a:ext cx="3619500" cy="2095500"/>
            <a:chOff x="571500" y="4000500"/>
            <a:chExt cx="3619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571500" y="4000500"/>
              <a:ext cx="3619500" cy="2095500"/>
            </a:xfrm>
            <a:prstGeom prst="roundRect">
              <a:avLst>
                <a:gd name="adj" fmla="val 6364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8685" y="4279106"/>
              <a:ext cx="705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Microsoft YaHei"/>
                  <a:cs typeface="Consolas"/>
                </a:rPr>
                <a:t>LLM 行为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304" y="4671060"/>
              <a:ext cx="2867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V4 思考挤空 content（长期记忆为空）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304" y="5013960"/>
              <a:ext cx="2549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content=None 触发 .strip() 崩溃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8304" y="53568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编造需「绝对不能编造」显式约束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4000500"/>
            <a:ext cx="3619500" cy="2095500"/>
            <a:chOff x="4381500" y="4000500"/>
            <a:chExt cx="3619500" cy="2095500"/>
          </a:xfrm>
        </p:grpSpPr>
        <p:sp>
          <p:nvSpPr>
            <p:cNvPr id="30" name="Rectangle 30"/>
            <p:cNvSpPr/>
            <p:nvPr/>
          </p:nvSpPr>
          <p:spPr>
            <a:xfrm>
              <a:off x="4381500" y="4000500"/>
              <a:ext cx="3619500" cy="2095500"/>
            </a:xfrm>
            <a:prstGeom prst="roundRect">
              <a:avLst>
                <a:gd name="adj" fmla="val 6364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18685" y="4279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Microsoft YaHei"/>
                  <a:cs typeface="Consolas"/>
                </a:rPr>
                <a:t>工程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18304" y="4671060"/>
              <a:ext cx="2103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字节级重复 PDF 污染知识库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18304" y="5013960"/>
              <a:ext cx="1417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汉字 \b 边界不成立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18304" y="5356860"/>
              <a:ext cx="1409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尾零 rstrip 削数据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191500" y="4000500"/>
            <a:ext cx="3619500" cy="2095500"/>
            <a:chOff x="8191500" y="4000500"/>
            <a:chExt cx="3619500" cy="2095500"/>
          </a:xfrm>
        </p:grpSpPr>
        <p:sp>
          <p:nvSpPr>
            <p:cNvPr id="36" name="Rectangle 36"/>
            <p:cNvSpPr/>
            <p:nvPr/>
          </p:nvSpPr>
          <p:spPr>
            <a:xfrm>
              <a:off x="8191500" y="4000500"/>
              <a:ext cx="3619500" cy="2095500"/>
            </a:xfrm>
            <a:prstGeom prst="roundRect">
              <a:avLst>
                <a:gd name="adj" fmla="val 6364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28685" y="42791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5C98"/>
                  </a:solidFill>
                  <a:latin typeface="Consolas"/>
                  <a:ea typeface="Microsoft YaHei"/>
                  <a:cs typeface="Consolas"/>
                </a:rPr>
                <a:t>数据失真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28304" y="46710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裸语义检索对代码/编号全 miss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28304" y="5013960"/>
              <a:ext cx="2394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rerank 静默失效近 3 版本才发现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28304" y="5356860"/>
              <a:ext cx="1765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降级保护吞掉 KeyError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716756"/>
            <a:ext cx="4664452" cy="719995"/>
            <a:chOff x="557784" y="716756"/>
            <a:chExt cx="4664452" cy="7199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16756"/>
              <a:ext cx="15484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37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KEY LESSONS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46644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最重要的教训 · 五条方法论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314450"/>
              <a:ext cx="20955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glow rad="47625">
                <a:srgbClr val="22FFEE">
                  <a:alpha val="50000"/>
                </a:srgbClr>
              </a:glo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714500"/>
            <a:ext cx="3619500" cy="1524000"/>
            <a:chOff x="571500" y="1714500"/>
            <a:chExt cx="3619500" cy="1524000"/>
          </a:xfrm>
        </p:grpSpPr>
        <p:sp>
          <p:nvSpPr>
            <p:cNvPr id="6" name="Rectangle 6"/>
            <p:cNvSpPr/>
            <p:nvPr/>
          </p:nvSpPr>
          <p:spPr>
            <a:xfrm>
              <a:off x="571500" y="1714500"/>
              <a:ext cx="3619500" cy="1524000"/>
            </a:xfrm>
            <a:prstGeom prst="roundRect">
              <a:avLst>
                <a:gd name="adj" fmla="val 8750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6018" y="1955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542" y="2368868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降级保护可能掩盖 bug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685" y="277415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自动回退不崩溃是双刃剑，靠可观测性兜底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81500" y="1714500"/>
            <a:ext cx="3619500" cy="1524000"/>
            <a:chOff x="4381500" y="1714500"/>
            <a:chExt cx="3619500" cy="1524000"/>
          </a:xfrm>
        </p:grpSpPr>
        <p:sp>
          <p:nvSpPr>
            <p:cNvPr id="11" name="Rectangle 11"/>
            <p:cNvSpPr/>
            <p:nvPr/>
          </p:nvSpPr>
          <p:spPr>
            <a:xfrm>
              <a:off x="4381500" y="1714500"/>
              <a:ext cx="3619500" cy="1524000"/>
            </a:xfrm>
            <a:prstGeom prst="roundRect">
              <a:avLst>
                <a:gd name="adj" fmla="val 8750"/>
              </a:avLst>
            </a:prstGeom>
            <a:solidFill>
              <a:srgbClr val="12122A"/>
            </a:solidFill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16018" y="1955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17542" y="2368868"/>
              <a:ext cx="1656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LLM 只用在刀刃上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18685" y="2774156"/>
              <a:ext cx="2512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能本地匹配就不调 API，省时间省钱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191500" y="1714500"/>
            <a:ext cx="3619500" cy="1524000"/>
            <a:chOff x="8191500" y="1714500"/>
            <a:chExt cx="3619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8191500" y="1714500"/>
              <a:ext cx="3619500" cy="1524000"/>
            </a:xfrm>
            <a:prstGeom prst="roundRect">
              <a:avLst>
                <a:gd name="adj" fmla="val 8750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26018" y="1955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27542" y="2368868"/>
              <a:ext cx="1759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代码就绪 ≠ 功能生效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28685" y="2774156"/>
              <a:ext cx="265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模型/依赖就位前，框架就绪不等于可用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3429000"/>
            <a:ext cx="3619500" cy="1524000"/>
            <a:chOff x="571500" y="3429000"/>
            <a:chExt cx="3619500" cy="1524000"/>
          </a:xfrm>
        </p:grpSpPr>
        <p:sp>
          <p:nvSpPr>
            <p:cNvPr id="21" name="Rectangle 21"/>
            <p:cNvSpPr/>
            <p:nvPr/>
          </p:nvSpPr>
          <p:spPr>
            <a:xfrm>
              <a:off x="571500" y="3429000"/>
              <a:ext cx="3619500" cy="1524000"/>
            </a:xfrm>
            <a:prstGeom prst="roundRect">
              <a:avLst>
                <a:gd name="adj" fmla="val 8750"/>
              </a:avLst>
            </a:prstGeom>
            <a:solidFill>
              <a:srgbClr val="12122A"/>
            </a:solidFill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018" y="36699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7542" y="4083368"/>
              <a:ext cx="2141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新接口 ≠ 可用，换族兜底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4488656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钉钉新版 404 → 旧版 oapi 实测可用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3429000"/>
            <a:ext cx="3619500" cy="1524000"/>
            <a:chOff x="4381500" y="3429000"/>
            <a:chExt cx="3619500" cy="1524000"/>
          </a:xfrm>
        </p:grpSpPr>
        <p:sp>
          <p:nvSpPr>
            <p:cNvPr id="26" name="Rectangle 26"/>
            <p:cNvSpPr/>
            <p:nvPr/>
          </p:nvSpPr>
          <p:spPr>
            <a:xfrm>
              <a:off x="4381500" y="3429000"/>
              <a:ext cx="3619500" cy="1524000"/>
            </a:xfrm>
            <a:prstGeom prst="roundRect">
              <a:avLst>
                <a:gd name="adj" fmla="val 8750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16018" y="36699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17542" y="40833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权限放数据链路层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8685" y="4488656"/>
              <a:ext cx="25842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不依赖 LLM 自觉，键不进返回 JSON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91500" y="3429000"/>
            <a:ext cx="3619500" cy="1524000"/>
            <a:chOff x="8191500" y="3429000"/>
            <a:chExt cx="3619500" cy="1524000"/>
          </a:xfrm>
        </p:grpSpPr>
        <p:sp>
          <p:nvSpPr>
            <p:cNvPr id="31" name="Rectangle 31"/>
            <p:cNvSpPr/>
            <p:nvPr/>
          </p:nvSpPr>
          <p:spPr>
            <a:xfrm>
              <a:off x="8191500" y="3429000"/>
              <a:ext cx="3619500" cy="1524000"/>
            </a:xfrm>
            <a:prstGeom prst="roundRect">
              <a:avLst>
                <a:gd name="adj" fmla="val 8750"/>
              </a:avLst>
            </a:prstGeom>
            <a:solidFill>
              <a:srgbClr val="12122A"/>
            </a:solidFill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26018" y="36699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27542" y="40833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用数据说话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28685" y="4488656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评估集 + 成本模拟，不靠感觉做决策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5238750"/>
            <a:ext cx="11049000" cy="857250"/>
            <a:chOff x="571500" y="5238750"/>
            <a:chExt cx="11049000" cy="857250"/>
          </a:xfrm>
        </p:grpSpPr>
        <p:sp>
          <p:nvSpPr>
            <p:cNvPr id="36" name="Rectangle 36"/>
            <p:cNvSpPr/>
            <p:nvPr/>
          </p:nvSpPr>
          <p:spPr>
            <a:xfrm>
              <a:off x="571500" y="5238750"/>
              <a:ext cx="11049000" cy="857250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7542" y="5512118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这些不是「技术债」，是长出来的方法论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8304" y="58140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每个坑都变成了下一版本的防坑设计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5000">
              <a:srgbClr val="140D28"/>
            </a:gs>
            <a:gs pos="100000">
              <a:schemeClr val="l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0058400" y="1104900"/>
            <a:ext cx="1304925" cy="828675"/>
            <a:chOff x="10058400" y="1104900"/>
            <a:chExt cx="1304925" cy="828675"/>
          </a:xfrm>
        </p:grpSpPr>
        <p:sp>
          <p:nvSpPr>
            <p:cNvPr id="2" name="Ellipse 2"/>
            <p:cNvSpPr/>
            <p:nvPr/>
          </p:nvSpPr>
          <p:spPr>
            <a:xfrm>
              <a:off x="10058400" y="11049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248900" y="1104900"/>
              <a:ext cx="76200" cy="762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39400" y="1104900"/>
              <a:ext cx="76200" cy="7620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1306175" y="1876425"/>
              <a:ext cx="57150" cy="57150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2950" y="2369820"/>
            <a:ext cx="3704082" cy="1468183"/>
            <a:chOff x="742950" y="2369820"/>
            <a:chExt cx="3704082" cy="1468183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2369820"/>
              <a:ext cx="309128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谢谢观看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094" y="3456622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effectLst>
                    <a:glow rad="57150">
                      <a:srgbClr val="22FFEE">
                        <a:alpha val="55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一个查询工具，长成了知识助手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4380" y="4000500"/>
            <a:ext cx="10485120" cy="607695"/>
            <a:chOff x="754380" y="4000500"/>
            <a:chExt cx="10485120" cy="607695"/>
          </a:xfrm>
        </p:grpSpPr>
        <p:sp>
          <p:nvSpPr>
            <p:cNvPr id="10" name="Rectangle 10"/>
            <p:cNvSpPr/>
            <p:nvPr/>
          </p:nvSpPr>
          <p:spPr>
            <a:xfrm>
              <a:off x="762000" y="4000500"/>
              <a:ext cx="10477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4380" y="431482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下一站：v2.0 企业知识中枢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76300" y="4959668"/>
            <a:ext cx="4863541" cy="1064133"/>
            <a:chOff x="876300" y="4959668"/>
            <a:chExt cx="4863541" cy="1064133"/>
          </a:xfrm>
        </p:grpSpPr>
        <p:sp>
          <p:nvSpPr>
            <p:cNvPr id="13" name="Ellipse 13"/>
            <p:cNvSpPr/>
            <p:nvPr/>
          </p:nvSpPr>
          <p:spPr>
            <a:xfrm>
              <a:off x="876300" y="50101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942" y="4959668"/>
              <a:ext cx="39664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部门知识库 + 权限系统（v1.2.8 五中心的基础）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76300" y="5410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9942" y="5359718"/>
              <a:ext cx="46798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通用文件引擎 + VLM 图片理解（钉钉发图机器人看懂）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76300" y="58102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942" y="5759768"/>
              <a:ext cx="393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腾讯云自动同步 · 第二步经验库进行中（~40%）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6096000"/>
            <a:ext cx="2857500" cy="457200"/>
            <a:chOff x="762000" y="6096000"/>
            <a:chExt cx="2857500" cy="457200"/>
          </a:xfrm>
        </p:grpSpPr>
        <p:sp>
          <p:nvSpPr>
            <p:cNvPr id="20" name="Rectangle 20"/>
            <p:cNvSpPr/>
            <p:nvPr/>
          </p:nvSpPr>
          <p:spPr>
            <a:xfrm>
              <a:off x="762000" y="6096000"/>
              <a:ext cx="2857500" cy="457200"/>
            </a:xfrm>
            <a:prstGeom prst="roundRect">
              <a:avLst>
                <a:gd name="adj" fmla="val 25000"/>
              </a:avLst>
            </a:prstGeom>
            <a:solidFill>
              <a:srgbClr val="12122A"/>
            </a:solidFill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504" y="627126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v1.0 → v1.7.0 · 2026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438742" y="6295549"/>
            <a:ext cx="21867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5A6480"/>
                </a:solidFill>
                <a:latin typeface="Segoe UI"/>
                <a:ea typeface="Microsoft YaHei"/>
                <a:cs typeface="Segoe UI"/>
              </a:rPr>
              <a:t>天津恩特能源科技有限公司 · 20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ntar_evo_interactive">
  <a:themeElements>
    <a:clrScheme name="entar_evo_interactive">
      <a:dk1>
        <a:srgbClr val="E2E8F6"/>
      </a:dk1>
      <a:lt1>
        <a:srgbClr val="0A0A14"/>
      </a:lt1>
      <a:dk2>
        <a:srgbClr val="1F497D"/>
      </a:dk2>
      <a:lt2>
        <a:srgbClr val="141428"/>
      </a:lt2>
      <a:accent1>
        <a:srgbClr val="22FFEE"/>
      </a:accent1>
      <a:accent2>
        <a:srgbClr val="8B5CF6"/>
      </a:accent2>
      <a:accent3>
        <a:srgbClr val="FF2D78"/>
      </a:accent3>
      <a:accent4>
        <a:srgbClr val="22FFEE"/>
      </a:accent4>
      <a:accent5>
        <a:srgbClr val="4BACC6"/>
      </a:accent5>
      <a:accent6>
        <a:srgbClr val="F79646"/>
      </a:accent6>
      <a:hlink>
        <a:srgbClr val="8B5CF6"/>
      </a:hlink>
      <a:folHlink>
        <a:srgbClr val="FF2D78"/>
      </a:folHlink>
    </a:clrScheme>
    <a:fontScheme name="entar_evo_interactiv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tar_evo_intera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2026-08-06T09:35:07Z</dcterms:created>
  <dcterms:modified xsi:type="dcterms:W3CDTF">2026-08-06T09:35:07Z</dcterms:modified>
  <cp:category/>
  <cp:contentStatus/>
</cp:coreProperties>
</file>