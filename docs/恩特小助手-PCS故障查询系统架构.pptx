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🔧 恩特小助手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ACCFF"/>
                </a:solidFill>
                <a:latin typeface="微软雅黑"/>
              </a:defRPr>
            </a:pPr>
            <a:r>
              <a:t>PCS 故障代码智能查询系统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383280"/>
            <a:ext cx="3657600" cy="36576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微软雅黑"/>
              </a:defRPr>
            </a:pPr>
            <a:r>
              <a:t>基于 RAG 架构 | Chroma 向量检索 | DeepSeek 自然语言处理 | 钉钉 Stream 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88"/>
                </a:solidFill>
                <a:latin typeface="微软雅黑"/>
              </a:defRPr>
            </a:pPr>
            <a:r>
              <a:t>恩特能源 · 内部工具   |   2026年7月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675120"/>
            <a:ext cx="12188952" cy="1828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02020"/>
                </a:solidFill>
                <a:latin typeface="微软雅黑"/>
              </a:defRPr>
            </a:pPr>
            <a:r>
              <a:t>📑 内容目录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51560"/>
            <a:ext cx="2286000" cy="36576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系统整体架构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55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从用户入口到数据存储的完整链路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模型搭建过程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95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RAG 系统的构建步骤与技术选型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查询策略详解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35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精确匹配 vs 语义搜索的双级机制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钉钉机器人工作流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675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Stream 模式下的消息处理流程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背后信息传输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7556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数据在各组件间的流转时序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103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网络架构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3957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本地服务与钉钉云的连接方式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技术栈一览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0358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所有组件、工具与依赖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83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73E8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部署与使用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6758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快速上手指南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🏗️ 系统整体架构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286000" cy="64008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👤 用户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188720"/>
            <a:ext cx="2286000" cy="6400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🌐 Web 页面</a:t>
            </a:r>
            <a:br/>
            <a:r>
              <a:t>localhost:8000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2286000" cy="6400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💬 钉钉群聊</a:t>
            </a:r>
            <a:br/>
            <a:r>
              <a:t>@恩特小助手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17520" y="1417320"/>
            <a:ext cx="548640" cy="2286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4800600" y="1874519"/>
            <a:ext cx="274320" cy="320040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7543800" y="1874519"/>
            <a:ext cx="274320" cy="320040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2377440"/>
            <a:ext cx="5486400" cy="10058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🚀 FastAPI 服务 (main.py)</a:t>
            </a:r>
            <a:br/>
            <a:br/>
            <a:r>
              <a:t>error_query.handle() — 两级查询引擎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800600" y="3429000"/>
            <a:ext cx="274320" cy="320040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7315200" y="3429000"/>
            <a:ext cx="274320" cy="320040"/>
          </a:xfrm>
          <a:prstGeom prst="downArrow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3931920"/>
            <a:ext cx="3200400" cy="914400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💾 Chroma 向量数据库</a:t>
            </a:r>
            <a:br/>
            <a:br/>
            <a:r>
              <a:t>BAAI/bge-small-zh-v1.5</a:t>
            </a:r>
            <a:br/>
            <a:r>
              <a:t>133 条故障记录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3200400" cy="9144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🧠 DeepSeek API</a:t>
            </a:r>
            <a:br/>
            <a:br/>
            <a:r>
              <a:t>仅用于：自然语言关键词提取</a:t>
            </a:r>
            <a:br/>
            <a:r>
              <a:t>精确匹配不调用（秒回）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971800" y="4892040"/>
            <a:ext cx="228600" cy="274320"/>
          </a:xfrm>
          <a:prstGeom prst="downArrow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5303520"/>
            <a:ext cx="3200400" cy="54864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📊 Excel 数据源</a:t>
            </a:r>
            <a:br/>
            <a:r>
              <a:t>PCS参数表 V1.6.2.xlsx</a:t>
            </a:r>
            <a:br/>
            <a:r>
              <a:t>遥信（DI）sheet 第51~183行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943600"/>
            <a:ext cx="3200400" cy="36576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02020"/>
                </a:solidFill>
                <a:latin typeface="微软雅黑"/>
              </a:defRPr>
            </a:pPr>
            <a:r>
              <a:t>🔄 sync_kb.py 同步脚本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377440"/>
            <a:ext cx="228600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📡 WebSocket</a:t>
            </a:r>
            <a:br/>
            <a:r>
              <a:t>→ 钉钉服务器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686800" y="2468880"/>
            <a:ext cx="365760" cy="228600"/>
          </a:xfrm>
          <a:prstGeom prst="down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🔨 模型搭建过程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2011680" cy="22860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1️⃣ 数据准备</a:t>
            </a:r>
            <a:br/>
            <a:br/>
            <a:r>
              <a:t>PCS参数表 V1.6.2.xlsx</a:t>
            </a:r>
            <a:br/>
            <a:r>
              <a:t>提取遥信（DI）sheet</a:t>
            </a:r>
            <a:br/>
            <a:r>
              <a:t>第51~183行数据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71800" y="2377440"/>
            <a:ext cx="2286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011680" cy="22860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2️⃣ 字段解析</a:t>
            </a:r>
            <a:br/>
            <a:br/>
            <a:r>
              <a:t>故障代码 / 名称 / 地址</a:t>
            </a:r>
            <a:br/>
            <a:r>
              <a:t>故障原因 / 说明 / 备注</a:t>
            </a:r>
            <a:br/>
            <a:r>
              <a:t>共 12 个字段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66360" y="2377440"/>
            <a:ext cx="2286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2011680" cy="22860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3️⃣ Embedding</a:t>
            </a:r>
            <a:br/>
            <a:br/>
            <a:r>
              <a:t>BAAI/bge-small-zh-v1.5</a:t>
            </a:r>
            <a:br/>
            <a:r>
              <a:t>中文语句 → 向量</a:t>
            </a:r>
            <a:br/>
            <a:r>
              <a:t>768 维特征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920" y="2377440"/>
            <a:ext cx="2286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0" y="1371600"/>
            <a:ext cx="2011680" cy="2286000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4️⃣ 存入 Chroma</a:t>
            </a:r>
            <a:br/>
            <a:br/>
            <a:r>
              <a:t>逐行写入向量数据库</a:t>
            </a:r>
            <a:br/>
            <a:r>
              <a:t>支持 metadata 过滤</a:t>
            </a:r>
            <a:br/>
            <a:r>
              <a:t>支持语义查询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555480" y="2377440"/>
            <a:ext cx="22860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0" y="1371600"/>
            <a:ext cx="2011680" cy="22860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5️⃣ 查询引擎</a:t>
            </a:r>
            <a:br/>
            <a:br/>
            <a:r>
              <a:t>两级查询策略</a:t>
            </a:r>
            <a:br/>
            <a:r>
              <a:t>精确匹配 + 语义搜索</a:t>
            </a:r>
            <a:br/>
            <a:r>
              <a:t>DeepSeek 辅助提取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114800"/>
            <a:ext cx="91440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02020"/>
                </a:solidFill>
                <a:latin typeface="微软雅黑"/>
              </a:defRPr>
            </a:pPr>
            <a:r>
              <a:t>🔄 一键同步命令：python scripts/sync_kb.py</a:t>
            </a:r>
            <a:br/>
            <a:br/>
            <a:r>
              <a:t>流程：读取 Excel → 解析行数据 → 构建文档文本 → 计算向量嵌入 → 写入 Chroma</a:t>
            </a:r>
            <a:br/>
            <a:r>
              <a:t>       删除旧集合 → 创建新集合（id: error_codes）→ 分批写入（每批50条）</a:t>
            </a:r>
            <a:br/>
            <a:br/>
            <a:r>
              <a:t>📌 每次修改 Excel 后运行一次即可增量更新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486400"/>
            <a:ext cx="91440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73E8"/>
                </a:solidFill>
                <a:latin typeface="微软雅黑"/>
              </a:defRPr>
            </a:pPr>
            <a:r>
              <a:t>⚙️ 关键路径要点</a:t>
            </a:r>
            <a:br/>
            <a:br/>
            <a:r>
              <a:t>• Embedding 模型首次加载自动从 HuggingFace 下载（约30MB）</a:t>
            </a:r>
            <a:br/>
            <a:r>
              <a:t>• 国内网络需设置镜像：os.environ["HF_ENDPOINT"] = "https://hf-mirror.com"</a:t>
            </a:r>
            <a:br/>
            <a:r>
              <a:t>• Chroma 使用余弦距离（cosine）作为向量相似度度量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🎯 查询策略详解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486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📥 用户提问 → error_query.handle(q)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43600" y="1783080"/>
            <a:ext cx="228600" cy="228600"/>
          </a:xfrm>
          <a:prstGeom prst="downArrow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2194560"/>
            <a:ext cx="8229600" cy="4572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A000"/>
                </a:solidFill>
                <a:latin typeface="微软雅黑"/>
              </a:defRPr>
            </a:pPr>
            <a:r>
              <a:t>❓ 提取故障代码（正则匹配 d4-1、df-8、d10-1~d10-16 等）</a:t>
            </a:r>
          </a:p>
        </p:txBody>
      </p:sp>
      <p:sp>
        <p:nvSpPr>
          <p:cNvPr id="7" name="Down Arrow 6"/>
          <p:cNvSpPr/>
          <p:nvPr/>
        </p:nvSpPr>
        <p:spPr>
          <a:xfrm>
            <a:off x="3200400" y="2697480"/>
            <a:ext cx="182880" cy="182880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8686800" y="2697480"/>
            <a:ext cx="182880" cy="182880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4572000" cy="109728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✅ 分支 A：精确匹配（秒回）</a:t>
            </a:r>
            <a:br/>
            <a:br/>
            <a:r>
              <a:t>• collection.get(where={"fault_code": code})</a:t>
            </a:r>
            <a:br/>
            <a:r>
              <a:t>• 元数据直接过滤，不调向量搜索</a:t>
            </a:r>
            <a:br/>
            <a:r>
              <a:t>• 不调 DeepSeek API（零延迟）</a:t>
            </a:r>
            <a:br/>
            <a:r>
              <a:t>• 返回该故障全部字段信息 + 来源行号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029200" cy="10972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  <a:latin typeface="微软雅黑"/>
              </a:defRPr>
            </a:pPr>
            <a:r>
              <a:t>🔍 分支 B：语义搜索</a:t>
            </a:r>
            <a:br/>
            <a:br/>
            <a:r>
              <a:t>• 自然语言 → DeepSeek 提取关键词</a:t>
            </a:r>
            <a:br/>
            <a:r>
              <a:t>• Chroma query(query_texts=keywords)</a:t>
            </a:r>
            <a:br/>
            <a:r>
              <a:t>• 返回 top-5 相似结果 + 匹配度标记</a:t>
            </a:r>
            <a:br/>
            <a:r>
              <a:t>• 来源标注：遥信（DI）表 第XX行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200400" y="4160520"/>
            <a:ext cx="182880" cy="182880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8686800" y="4160520"/>
            <a:ext cx="182880" cy="182880"/>
          </a:xfrm>
          <a:prstGeom prst="downArrow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28800" y="4480560"/>
            <a:ext cx="8229600" cy="4572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📤 返回格式化结果：{answer: "...", source: "遥信（DI）表 第XX行"}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查询场景对照表：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微软雅黑"/>
              </a:defRPr>
            </a:pPr>
            <a:r>
              <a:t>输入示例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微软雅黑"/>
              </a:defRPr>
            </a:pPr>
            <a:r>
              <a:t>匹配方式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微软雅黑"/>
              </a:defRPr>
            </a:pPr>
            <a:r>
              <a:t>LLM?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5778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02020"/>
                </a:solidFill>
                <a:latin typeface="微软雅黑"/>
              </a:defRPr>
            </a:pPr>
            <a:r>
              <a:t>速度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d4-1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7790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精确匹配（metadata）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779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779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⚡毫秒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0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急停告警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98017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语义搜索（名称）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980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598017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⚡毫秒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1813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外部急停信号闭合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618134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语义搜索（原因）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181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618134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⚡毫秒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382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这个报错怎么回事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6382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LLM提取→语义搜索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6382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✅提取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825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较快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583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硬件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65836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语义搜索（关键词）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5836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⚡毫秒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🤖 钉钉机器人工作流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000"/>
                </a:solidFill>
                <a:latin typeface="微软雅黑"/>
              </a:defRPr>
            </a:pPr>
            <a:r>
              <a:t>Stream 模式 vs 传统 Webhook 模式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5720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DC3545"/>
                </a:solidFill>
                <a:latin typeface="微软雅黑"/>
              </a:defRPr>
            </a:pPr>
            <a:r>
              <a:t>❌ 传统 Webhook 模式</a:t>
            </a:r>
            <a:br/>
            <a:br/>
            <a:r>
              <a:t>• 需要公网 IP / 域名</a:t>
            </a:r>
            <a:br/>
            <a:r>
              <a:t>• 需要防火墙白名单</a:t>
            </a:r>
            <a:br/>
            <a:r>
              <a:t>• 需要 SSL 证书</a:t>
            </a:r>
            <a:br/>
            <a:r>
              <a:t>• 钉钉 → 你的服务器（被动等待）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029200" cy="1828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34A853"/>
                </a:solidFill>
                <a:latin typeface="微软雅黑"/>
              </a:defRPr>
            </a:pPr>
            <a:r>
              <a:t>✅ Stream 模式（当前方案）</a:t>
            </a:r>
            <a:br/>
            <a:br/>
            <a:r>
              <a:t>• 不需要公网 IP</a:t>
            </a:r>
            <a:br/>
            <a:r>
              <a:t>• 不需要防火墙白名单</a:t>
            </a:r>
            <a:br/>
            <a:r>
              <a:t>• 不需要 SSL 证书</a:t>
            </a:r>
            <a:br/>
            <a:r>
              <a:t>• 我们 → 钉钉服务器（主动连接）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消息处理时序：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286000" cy="45720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① 用户在钉钉群</a:t>
            </a:r>
            <a:br/>
            <a:r>
              <a:t>@恩特小助手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08960" y="425196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4114800"/>
            <a:ext cx="2286000" cy="45720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② WebSocket</a:t>
            </a:r>
            <a:br/>
            <a:r>
              <a:t>推送到我们的服务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52160" y="4251960"/>
            <a:ext cx="274320" cy="18288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2286000" cy="45720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③ process() 处理</a:t>
            </a:r>
            <a:br/>
            <a:r>
              <a:t>调用 error_query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7315200" y="4617720"/>
            <a:ext cx="182880" cy="182880"/>
          </a:xfrm>
          <a:prstGeom prst="downArrow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2286000" cy="457200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④ reply_markdown()</a:t>
            </a:r>
            <a:br/>
            <a:r>
              <a:t>回复到群聊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515600" cy="82296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1A73E8"/>
                </a:solidFill>
                <a:latin typeface="微软雅黑"/>
              </a:defRPr>
            </a:pPr>
            <a:r>
              <a:t>📝 代码关键点</a:t>
            </a:r>
            <a:br/>
            <a:br/>
            <a:r>
              <a:t>• ChatbotHandler.process() 是 async 方法 ← SDK 的 raw_process() 会 await 它</a:t>
            </a:r>
            <a:br/>
            <a:r>
              <a:t>• reply_markdown() / reply_text() 是同步方法 ← 不要加 await！</a:t>
            </a:r>
            <a:br/>
            <a:r>
              <a:t>• 处理结束后 return (AckMessage.STATUS_OK, "ok") ← 返回元组给 SDK</a:t>
            </a:r>
            <a:br/>
            <a:r>
              <a:t>• session_webhook 临时 URL 用于回复当前消息（每个消息不同）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📡 信息传输流程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从用户提问到获得回复的完整数据链路：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828800" cy="34747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5448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发送消息到群聊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75104"/>
            <a:ext cx="1828800" cy="34747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钉钉服务器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97510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通过 WebSocket 推送 CallbackMessage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95728"/>
            <a:ext cx="1828800" cy="347472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dingtalk_bot.py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3957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ChatbotHandler.process() 接收消息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16352"/>
            <a:ext cx="1828800" cy="347472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error_query.py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1635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handle() 执行查询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3697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├── 精确匹配 → Chroma metadata 过滤（本机内存）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└── 语义搜索 → Chroma query（本机向量检索）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7822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└── 自然语言 → DeepSeek API（仅提取关键词）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98848"/>
            <a:ext cx="1828800" cy="347472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error_query.py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4988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组装格式化结果 Markdown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19472"/>
            <a:ext cx="1828800" cy="347472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dingtalk_bot.py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194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reply_markdown() 通过 session_webhook 回复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0096"/>
            <a:ext cx="1828800" cy="347472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钉钉服务器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3400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推送到群聊展示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760720"/>
            <a:ext cx="1828800" cy="34747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760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看到回复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10515600" cy="4572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💡 关键优化：精确匹配完全不调用 DeepSeek API，既省钱又省时间。DeepSeek 仅在处理复杂自然语言时用于关键词提取（prompt 极小，消耗可忽略）。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🌐 网络架构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4572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🏠 本地局域网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2286000" cy="54864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💻 本机 (10.168.1.225)</a:t>
            </a:r>
            <a:br/>
            <a:r>
              <a:t>FastAPI 服务 :8000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localhost:8000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920240"/>
            <a:ext cx="1828800" cy="548640"/>
          </a:xfrm>
          <a:prstGeom prst="round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👥 同事电脑</a:t>
            </a:r>
            <a:br/>
            <a:r>
              <a:t>浏览器访问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603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http://10.168.1.225:8000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08960"/>
            <a:ext cx="1828800" cy="457200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📁 Chroma 向量库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108960"/>
            <a:ext cx="182880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📊 Excel 数据源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188720"/>
            <a:ext cx="4572000" cy="45720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微软雅黑"/>
              </a:defRPr>
            </a:pPr>
            <a:r>
              <a:t>☁️ 外部服务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1920240"/>
            <a:ext cx="201168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🤖 钉钉服务器</a:t>
            </a:r>
            <a:br/>
            <a:r>
              <a:t>WebSocket 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920240"/>
            <a:ext cx="1828800" cy="54864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🧠 DeepSeek API</a:t>
            </a:r>
            <a:br/>
            <a:r>
              <a:t>HL 推理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743200"/>
            <a:ext cx="2011680" cy="457200"/>
          </a:xfrm>
          <a:prstGeom prst="roundRect">
            <a:avLst/>
          </a:prstGeom>
          <a:solidFill>
            <a:srgbClr val="7B2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🤗 HuggingFace</a:t>
            </a:r>
            <a:br/>
            <a:r>
              <a:t>模型下载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3383280"/>
            <a:ext cx="420624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🔗 连接说明</a:t>
            </a:r>
            <a:br/>
            <a:br/>
            <a:r>
              <a:t>• 钉钉：WebSocket 长连接（由我们发起）</a:t>
            </a:r>
            <a:br/>
            <a:r>
              <a:t>• DeepSeek：HTTPS 请求（需 API Key）</a:t>
            </a:r>
            <a:br/>
            <a:r>
              <a:t>• HuggingFace：首次下载模型（国内镜像 hf-mirror.com）</a:t>
            </a:r>
            <a:br/>
            <a:r>
              <a:t>• 本机&lt;-&gt;局域网：HTTP（需防火墙放行）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46320"/>
            <a:ext cx="10515600" cy="13716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02020"/>
                </a:solidFill>
                <a:latin typeface="微软雅黑"/>
              </a:defRPr>
            </a:pPr>
            <a:r>
              <a:t>🛡️ 防火墙配置</a:t>
            </a:r>
            <a:br/>
            <a:br/>
            <a:r>
              <a:t>• 入站规则：允许 TCP 端口 8000（用于局域网访问）</a:t>
            </a:r>
            <a:br/>
            <a:r>
              <a:t>  命令：netsh advfirewall firewall add rule name="恩特小助手 8000" dir=in action=allow protocol=TCP localport=8000</a:t>
            </a:r>
            <a:br/>
            <a:br/>
            <a:r>
              <a:t>• 出站规则：允许 Python 进程访问 DeepSeek API（api.deepseek.com）和 HuggingFace 镜像</a:t>
            </a:r>
            <a:br/>
            <a:br/>
            <a:r>
              <a:t>• 钉钉 Stream 模式：不需要配置任何防火墙规则（由我们主动发起 WebSocket 连接）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📋 技术栈一览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🚀 Web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Python 异步 Web 框架，提供 REST API + 静态页面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💾 向量数据库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Chroma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本地持久化向量库，支持 metadata 过滤 + 语义搜索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🧠 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bge-small-zh-v1.5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4069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BAAI 出品，30MB，CPU 运行，中文语义理解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🔮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DeepSeek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5349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deepseek-chat 模型，仅用于关键词提取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18872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🤖 钉钉 SDK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dingtalk-stream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508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Stream 模式，WebSocket 长连接，无需公网 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46888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📊 数据源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OpenPyXL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7889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读取 .xlsx 文件，解析 PCS 参数表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4904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🌐 HTTP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httpx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4069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调用 DeepSeek API 的 HTTP 客户端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029200"/>
            <a:ext cx="2011680" cy="36576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📄 文档处理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02020"/>
                </a:solidFill>
                <a:latin typeface="微软雅黑"/>
              </a:defRPr>
            </a:pPr>
            <a:r>
              <a:t>python-pptx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5349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生成此 PPT 演示文稿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02020"/>
                </a:solidFill>
                <a:latin typeface="微软雅黑"/>
              </a:defRPr>
            </a:pPr>
            <a:r>
              <a:t>🚀 部署与使用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777240"/>
            <a:ext cx="1828800" cy="27432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📦 本地部署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微软雅黑"/>
              </a:defRPr>
            </a:pPr>
            <a:r>
              <a:t>安装依赖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pip install fastapi uvicorn chromadb</a:t>
            </a:r>
            <a:br/>
            <a:r>
              <a:t>  sentence-transformers openpyxl httpx dingtalk-stream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微软雅黑"/>
              </a:defRPr>
            </a:pPr>
            <a:r>
              <a:t>配置凭证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编辑 local_config.py</a:t>
            </a:r>
            <a:br/>
            <a:r>
              <a:t>填 DeepSeek API Key + 钉钉 ClientID/Secret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3️⃣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08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微软雅黑"/>
              </a:defRPr>
            </a:pPr>
            <a:r>
              <a:t>同步数据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108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python scripts/sync_kb.py</a:t>
            </a:r>
            <a:br/>
            <a:r>
              <a:t>（首次会自动下载 Embedding 模型）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4️⃣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微软雅黑"/>
              </a:defRPr>
            </a:pPr>
            <a:r>
              <a:t>启动服务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886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python scripts/main.py</a:t>
            </a:r>
            <a:br/>
            <a:r>
              <a:t>→ http://localhost:8000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73E8"/>
                </a:solidFill>
                <a:latin typeface="微软雅黑"/>
              </a:defRPr>
            </a:pPr>
            <a:r>
              <a:t>5️⃣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02020"/>
                </a:solidFill>
                <a:latin typeface="微软雅黑"/>
              </a:defRPr>
            </a:pPr>
            <a:r>
              <a:t>防火墙放行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6634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netsh advfirewall...</a:t>
            </a:r>
            <a:br/>
            <a:r>
              <a:t>（局域网其他设备访问需要）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02020"/>
                </a:solidFill>
                <a:latin typeface="微软雅黑"/>
              </a:defRPr>
            </a:pPr>
            <a:r>
              <a:t>☁️ 云服务器部署（计划中）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02020"/>
                </a:solidFill>
                <a:latin typeface="微软雅黑"/>
              </a:defRPr>
            </a:pPr>
            <a:r>
              <a:t>待办步骤</a:t>
            </a:r>
            <a:br/>
            <a:br/>
            <a:r>
              <a:t>1. 购买云服务器（2C2G 40GB 起步）</a:t>
            </a:r>
            <a:br/>
            <a:r>
              <a:t>   阿里云/腾讯云/华为云 ≈ 30元/月</a:t>
            </a:r>
            <a:br/>
            <a:br/>
            <a:r>
              <a:t>2. 安装 Python + Git</a:t>
            </a:r>
            <a:br/>
            <a:br/>
            <a:r>
              <a:t>3. 上传代码 + knowledge_base/</a:t>
            </a:r>
            <a:br/>
            <a:r>
              <a:t>   + local_config.py</a:t>
            </a:r>
            <a:br/>
            <a:br/>
            <a:r>
              <a:t>4. 安装依赖并启动</a:t>
            </a:r>
            <a:br/>
            <a:br/>
            <a:r>
              <a:t>5. 配置 systemd/supervisor</a:t>
            </a:r>
            <a:br/>
            <a:r>
              <a:t>   开机自启 + 挂了自动重启</a:t>
            </a:r>
            <a:br/>
            <a:br/>
            <a:r>
              <a:t>6. 7×24 小时在线</a:t>
            </a:r>
            <a:br/>
            <a:r>
              <a:t>   息屏/断网不影响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🔧 恩特小助手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CCFF"/>
                </a:solidFill>
                <a:latin typeface="微软雅黑"/>
              </a:defRPr>
            </a:pPr>
            <a:r>
              <a:t>PCS 故障代码智能查询系统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3840480"/>
            <a:ext cx="2743200" cy="36576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297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AA"/>
                </a:solidFill>
                <a:latin typeface="微软雅黑"/>
              </a:defRPr>
            </a:pPr>
            <a:r>
              <a:t>数据驱动 · 智能查询 · 即时响应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88"/>
                </a:solidFill>
                <a:latin typeface="微软雅黑"/>
              </a:defRPr>
            </a:pPr>
            <a:r>
              <a:t>恩特能源 · 内部工具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6675120"/>
            <a:ext cx="12188952" cy="182880"/>
          </a:xfrm>
          <a:prstGeom prst="round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