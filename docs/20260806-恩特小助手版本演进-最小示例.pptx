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entar_evo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entar_evo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733"/>
            </a:gs>
            <a:gs pos="55000">
              <a:srgbClr val="1B2A52"/>
            </a:gs>
            <a:gs pos="100000">
              <a:srgbClr val="2C3E6B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9963150" y="819150"/>
            <a:ext cx="1495425" cy="828675"/>
            <a:chOff x="9963150" y="819150"/>
            <a:chExt cx="1495425" cy="828675"/>
          </a:xfrm>
        </p:grpSpPr>
        <p:sp>
          <p:nvSpPr>
            <p:cNvPr id="2" name="Ellipse 2"/>
            <p:cNvSpPr/>
            <p:nvPr/>
          </p:nvSpPr>
          <p:spPr>
            <a:xfrm>
              <a:off x="9963150" y="819150"/>
              <a:ext cx="76200" cy="762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0153650" y="819150"/>
              <a:ext cx="76200" cy="76200"/>
            </a:xfrm>
            <a:prstGeom prst="ellipse">
              <a:avLst/>
            </a:prstGeom>
            <a:solidFill>
              <a:srgbClr val="4D7CFE">
                <a:alpha val="70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344150" y="819150"/>
              <a:ext cx="76200" cy="76200"/>
            </a:xfrm>
            <a:prstGeom prst="ellipse">
              <a:avLst/>
            </a:prstGeom>
            <a:solidFill>
              <a:srgbClr val="8B5CF6">
                <a:alpha val="50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1210925" y="1495425"/>
              <a:ext cx="57150" cy="57150"/>
            </a:xfrm>
            <a:prstGeom prst="ellipse">
              <a:avLst/>
            </a:prstGeom>
            <a:solidFill>
              <a:srgbClr val="22D3EE">
                <a:alpha val="50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1401425" y="1590675"/>
              <a:ext cx="57150" cy="57150"/>
            </a:xfrm>
            <a:prstGeom prst="ellipse">
              <a:avLst/>
            </a:prstGeom>
            <a:solidFill>
              <a:srgbClr val="4D7CFE">
                <a:alpha val="40000"/>
              </a:srgbClr>
            </a:solidFill>
            <a:ln>
              <a:noFill/>
            </a:ln>
          </p:spPr>
        </p:sp>
      </p:grpSp>
      <p:sp>
        <p:nvSpPr>
          <p:cNvPr id="8" name="Rectangle 8"/>
          <p:cNvSpPr/>
          <p:nvPr/>
        </p:nvSpPr>
        <p:spPr>
          <a:xfrm>
            <a:off x="762000" y="1219200"/>
            <a:ext cx="76200" cy="800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D7CFE"/>
              </a:gs>
              <a:gs pos="50000">
                <a:srgbClr val="8B5CF6"/>
              </a:gs>
              <a:gs pos="100000">
                <a:srgbClr val="22D3EE"/>
              </a:gs>
            </a:gsLst>
            <a:lin ang="0" scaled="1"/>
          </a:gra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61466" y="1429702"/>
            <a:ext cx="27616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300" dirty="0">
                <a:solidFill>
                  <a:srgbClr val="22D3EE"/>
                </a:solidFill>
                <a:latin typeface="Segoe UI"/>
                <a:ea typeface="Microsoft YaHei"/>
                <a:cs typeface="Segoe UI"/>
              </a:rPr>
              <a:t>ENTAR AI AGENT · 版本演进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47750" y="2242185"/>
            <a:ext cx="7890605" cy="1767840"/>
            <a:chOff x="1047750" y="2242185"/>
            <a:chExt cx="7890605" cy="1767840"/>
          </a:xfrm>
        </p:grpSpPr>
        <p:sp>
          <p:nvSpPr>
            <p:cNvPr id="10" name="TextBox 10"/>
            <p:cNvSpPr txBox="1"/>
            <p:nvPr/>
          </p:nvSpPr>
          <p:spPr>
            <a:xfrm>
              <a:off x="1047750" y="2242185"/>
              <a:ext cx="6644644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0" b="1" spc="-7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恩特小助手 进化史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55370" y="3376612"/>
              <a:ext cx="788298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B8C4E8"/>
                  </a:solidFill>
                  <a:latin typeface="Segoe UI"/>
                  <a:ea typeface="Microsoft YaHei"/>
                  <a:cs typeface="Segoe UI"/>
                </a:rPr>
                <a:t>从 v1.0 故障查询到 v1.7.0 组织通讯录 · 10 阶段 24 版本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066800" y="400050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28575" cap="rnd">
              <a:solidFill>
                <a:srgbClr val="22D3EE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66166" y="6249352"/>
            <a:ext cx="11059668" cy="205359"/>
            <a:chOff x="566166" y="6249352"/>
            <a:chExt cx="11059668" cy="205359"/>
          </a:xfrm>
        </p:grpSpPr>
        <p:sp>
          <p:nvSpPr>
            <p:cNvPr id="14" name="TextBox 14"/>
            <p:cNvSpPr txBox="1"/>
            <p:nvPr/>
          </p:nvSpPr>
          <p:spPr>
            <a:xfrm>
              <a:off x="566166" y="6249352"/>
              <a:ext cx="21804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BB8"/>
                  </a:solidFill>
                  <a:latin typeface="Segoe UI"/>
                  <a:ea typeface="Microsoft YaHei"/>
                  <a:cs typeface="Segoe UI"/>
                </a:rPr>
                <a:t>天津恩特能源科技有限公司 · 2026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41640" y="62493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BB8"/>
                  </a:solidFill>
                  <a:latin typeface="Segoe UI"/>
                  <a:ea typeface="Segoe UI"/>
                  <a:cs typeface="Segoe UI"/>
                </a:rPr>
                <a:t>01 / 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733"/>
            </a:gs>
            <a:gs pos="100000">
              <a:srgbClr val="1B2A5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7022" y="549592"/>
            <a:ext cx="4973132" cy="717233"/>
            <a:chOff x="557022" y="549592"/>
            <a:chExt cx="4973132" cy="717233"/>
          </a:xfrm>
        </p:grpSpPr>
        <p:sp>
          <p:nvSpPr>
            <p:cNvPr id="2" name="TextBox 2"/>
            <p:cNvSpPr txBox="1"/>
            <p:nvPr/>
          </p:nvSpPr>
          <p:spPr>
            <a:xfrm>
              <a:off x="557022" y="549592"/>
              <a:ext cx="452073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版本演进 · 十阶段时间线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5785" y="1040606"/>
              <a:ext cx="4964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2026-07-09 诞生 → 2026-08-06 通讯录上线，24 个版本浓缩为 10 个阶段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2573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28575" cap="rnd">
              <a:solidFill>
                <a:srgbClr val="22D3EE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04850" y="1885950"/>
            <a:ext cx="10782300" cy="114300"/>
            <a:chOff x="704850" y="1885950"/>
            <a:chExt cx="10782300" cy="114300"/>
          </a:xfrm>
        </p:grpSpPr>
        <p:sp>
          <p:nvSpPr>
            <p:cNvPr id="6" name="Line 6"/>
            <p:cNvSpPr/>
            <p:nvPr/>
          </p:nvSpPr>
          <p:spPr>
            <a:xfrm>
              <a:off x="762000" y="19431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rgbClr val="3B4A7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04850" y="1885950"/>
              <a:ext cx="114300" cy="1143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1372850" y="1885950"/>
              <a:ext cx="114300" cy="1143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95147" y="1609249"/>
            <a:ext cx="803301" cy="717708"/>
            <a:chOff x="795147" y="1609249"/>
            <a:chExt cx="803301" cy="717708"/>
          </a:xfrm>
        </p:grpSpPr>
        <p:sp>
          <p:nvSpPr>
            <p:cNvPr id="10" name="Ellipse 10"/>
            <p:cNvSpPr/>
            <p:nvPr/>
          </p:nvSpPr>
          <p:spPr>
            <a:xfrm>
              <a:off x="952500" y="1885950"/>
              <a:ext cx="114300" cy="114300"/>
            </a:xfrm>
            <a:prstGeom prst="ellipse">
              <a:avLst/>
            </a:prstGeom>
            <a:solidFill>
              <a:srgbClr val="4D7CF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95147" y="160924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4D7CFE"/>
                  </a:solidFill>
                  <a:latin typeface="Segoe UI"/>
                  <a:ea typeface="Segoe UI"/>
                  <a:cs typeface="Segoe UI"/>
                </a:rPr>
                <a:t>v1.0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5338" y="2150745"/>
              <a:ext cx="8031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8C4E8"/>
                  </a:solidFill>
                  <a:latin typeface="Segoe UI"/>
                  <a:ea typeface="Microsoft YaHei"/>
                  <a:cs typeface="Segoe UI"/>
                </a:rPr>
                <a:t>诞生·故障查询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547747" y="1609249"/>
            <a:ext cx="818411" cy="717708"/>
            <a:chOff x="2547747" y="1609249"/>
            <a:chExt cx="818411" cy="717708"/>
          </a:xfrm>
        </p:grpSpPr>
        <p:sp>
          <p:nvSpPr>
            <p:cNvPr id="14" name="Ellipse 14"/>
            <p:cNvSpPr/>
            <p:nvPr/>
          </p:nvSpPr>
          <p:spPr>
            <a:xfrm>
              <a:off x="2857500" y="1885950"/>
              <a:ext cx="114300" cy="114300"/>
            </a:xfrm>
            <a:prstGeom prst="ellipse">
              <a:avLst/>
            </a:prstGeom>
            <a:solidFill>
              <a:srgbClr val="4D7CF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47747" y="160924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4D7CFE"/>
                  </a:solidFill>
                  <a:latin typeface="Segoe UI"/>
                  <a:ea typeface="Segoe UI"/>
                  <a:cs typeface="Segoe UI"/>
                </a:rPr>
                <a:t>v1.1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47938" y="2150745"/>
              <a:ext cx="8182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8C4E8"/>
                  </a:solidFill>
                  <a:latin typeface="Segoe UI"/>
                  <a:ea typeface="Microsoft YaHei"/>
                  <a:cs typeface="Segoe UI"/>
                </a:rPr>
                <a:t>Agent 化·记忆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319397" y="1609249"/>
            <a:ext cx="829018" cy="717708"/>
            <a:chOff x="4319397" y="1609249"/>
            <a:chExt cx="829018" cy="717708"/>
          </a:xfrm>
        </p:grpSpPr>
        <p:sp>
          <p:nvSpPr>
            <p:cNvPr id="18" name="Ellipse 18"/>
            <p:cNvSpPr/>
            <p:nvPr/>
          </p:nvSpPr>
          <p:spPr>
            <a:xfrm>
              <a:off x="4762500" y="1885950"/>
              <a:ext cx="114300" cy="114300"/>
            </a:xfrm>
            <a:prstGeom prst="ellipse">
              <a:avLst/>
            </a:prstGeom>
            <a:solidFill>
              <a:srgbClr val="4D7CF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319397" y="1609249"/>
              <a:ext cx="6194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4D7CFE"/>
                  </a:solidFill>
                  <a:latin typeface="Segoe UI"/>
                  <a:ea typeface="Segoe UI"/>
                  <a:cs typeface="Segoe UI"/>
                </a:rPr>
                <a:t>v1.2.1-6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19588" y="2150745"/>
              <a:ext cx="8288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8C4E8"/>
                  </a:solidFill>
                  <a:latin typeface="Segoe UI"/>
                  <a:ea typeface="Microsoft YaHei"/>
                  <a:cs typeface="Segoe UI"/>
                </a:rPr>
                <a:t>文档管理·OCR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167247" y="1609249"/>
            <a:ext cx="682143" cy="717708"/>
            <a:chOff x="6167247" y="1609249"/>
            <a:chExt cx="682143" cy="717708"/>
          </a:xfrm>
        </p:grpSpPr>
        <p:sp>
          <p:nvSpPr>
            <p:cNvPr id="22" name="Ellipse 22"/>
            <p:cNvSpPr/>
            <p:nvPr/>
          </p:nvSpPr>
          <p:spPr>
            <a:xfrm>
              <a:off x="6667500" y="1885950"/>
              <a:ext cx="114300" cy="1143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167247" y="1609249"/>
              <a:ext cx="6194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8B5CF6"/>
                  </a:solidFill>
                  <a:latin typeface="Segoe UI"/>
                  <a:ea typeface="Segoe UI"/>
                  <a:cs typeface="Segoe UI"/>
                </a:rPr>
                <a:t>v1.2.7-9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167438" y="2150745"/>
              <a:ext cx="6819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8C4E8"/>
                  </a:solidFill>
                  <a:latin typeface="Segoe UI"/>
                  <a:ea typeface="Microsoft YaHei"/>
                  <a:cs typeface="Segoe UI"/>
                </a:rPr>
                <a:t>多中心·安全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262747" y="1609249"/>
            <a:ext cx="494348" cy="717708"/>
            <a:chOff x="8262747" y="1609249"/>
            <a:chExt cx="494348" cy="717708"/>
          </a:xfrm>
        </p:grpSpPr>
        <p:sp>
          <p:nvSpPr>
            <p:cNvPr id="26" name="Ellipse 26"/>
            <p:cNvSpPr/>
            <p:nvPr/>
          </p:nvSpPr>
          <p:spPr>
            <a:xfrm>
              <a:off x="8572500" y="1885950"/>
              <a:ext cx="114300" cy="1143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62747" y="1609249"/>
              <a:ext cx="4670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8B5CF6"/>
                  </a:solidFill>
                  <a:latin typeface="Segoe UI"/>
                  <a:ea typeface="Segoe UI"/>
                  <a:cs typeface="Segoe UI"/>
                </a:rPr>
                <a:t>v1.3.0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62938" y="21507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8C4E8"/>
                  </a:solidFill>
                  <a:latin typeface="Segoe UI"/>
                  <a:ea typeface="Microsoft YaHei"/>
                  <a:cs typeface="Segoe UI"/>
                </a:rPr>
                <a:t>检索升级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61797" y="2800350"/>
            <a:ext cx="619412" cy="707707"/>
            <a:chOff x="661797" y="2800350"/>
            <a:chExt cx="619412" cy="707707"/>
          </a:xfrm>
        </p:grpSpPr>
        <p:sp>
          <p:nvSpPr>
            <p:cNvPr id="30" name="Ellipse 30"/>
            <p:cNvSpPr/>
            <p:nvPr/>
          </p:nvSpPr>
          <p:spPr>
            <a:xfrm>
              <a:off x="952500" y="2800350"/>
              <a:ext cx="114300" cy="1143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1797" y="3133249"/>
              <a:ext cx="6194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22D3EE"/>
                  </a:solidFill>
                  <a:latin typeface="Segoe UI"/>
                  <a:ea typeface="Segoe UI"/>
                  <a:cs typeface="Segoe UI"/>
                </a:rPr>
                <a:t>v1.4.0-2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1988" y="3331845"/>
              <a:ext cx="51518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8C4E8"/>
                  </a:solidFill>
                  <a:latin typeface="Segoe UI"/>
                  <a:ea typeface="Microsoft YaHei"/>
                  <a:cs typeface="Segoe UI"/>
                </a:rPr>
                <a:t>PCB 技能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2338197" y="2800350"/>
            <a:ext cx="633603" cy="707707"/>
            <a:chOff x="2338197" y="2800350"/>
            <a:chExt cx="633603" cy="707707"/>
          </a:xfrm>
        </p:grpSpPr>
        <p:sp>
          <p:nvSpPr>
            <p:cNvPr id="34" name="Ellipse 34"/>
            <p:cNvSpPr/>
            <p:nvPr/>
          </p:nvSpPr>
          <p:spPr>
            <a:xfrm>
              <a:off x="2857500" y="2800350"/>
              <a:ext cx="114300" cy="1143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338197" y="3133249"/>
              <a:ext cx="6194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22D3EE"/>
                  </a:solidFill>
                  <a:latin typeface="Segoe UI"/>
                  <a:ea typeface="Segoe UI"/>
                  <a:cs typeface="Segoe UI"/>
                </a:rPr>
                <a:t>v1.5.0-2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338388" y="33318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8C4E8"/>
                  </a:solidFill>
                  <a:latin typeface="Segoe UI"/>
                  <a:ea typeface="Microsoft YaHei"/>
                  <a:cs typeface="Segoe UI"/>
                </a:rPr>
                <a:t>经验知识库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243197" y="2800350"/>
            <a:ext cx="944233" cy="707707"/>
            <a:chOff x="4243197" y="2800350"/>
            <a:chExt cx="944233" cy="707707"/>
          </a:xfrm>
        </p:grpSpPr>
        <p:sp>
          <p:nvSpPr>
            <p:cNvPr id="38" name="Ellipse 38"/>
            <p:cNvSpPr/>
            <p:nvPr/>
          </p:nvSpPr>
          <p:spPr>
            <a:xfrm>
              <a:off x="4762500" y="2800350"/>
              <a:ext cx="114300" cy="1143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243197" y="3133249"/>
              <a:ext cx="6194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22D3EE"/>
                  </a:solidFill>
                  <a:latin typeface="Segoe UI"/>
                  <a:ea typeface="Segoe UI"/>
                  <a:cs typeface="Segoe UI"/>
                </a:rPr>
                <a:t>v1.5.3-6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43388" y="3331845"/>
              <a:ext cx="9440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8C4E8"/>
                  </a:solidFill>
                  <a:latin typeface="Segoe UI"/>
                  <a:ea typeface="Microsoft YaHei"/>
                  <a:cs typeface="Segoe UI"/>
                </a:rPr>
                <a:t>记忆升级·PCB54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148197" y="2800350"/>
            <a:ext cx="924459" cy="707707"/>
            <a:chOff x="6148197" y="2800350"/>
            <a:chExt cx="924459" cy="707707"/>
          </a:xfrm>
        </p:grpSpPr>
        <p:sp>
          <p:nvSpPr>
            <p:cNvPr id="42" name="Ellipse 42"/>
            <p:cNvSpPr/>
            <p:nvPr/>
          </p:nvSpPr>
          <p:spPr>
            <a:xfrm>
              <a:off x="6667500" y="2800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48197" y="3133249"/>
              <a:ext cx="6194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59E0B"/>
                  </a:solidFill>
                  <a:latin typeface="Segoe UI"/>
                  <a:ea typeface="Segoe UI"/>
                  <a:cs typeface="Segoe UI"/>
                </a:rPr>
                <a:t>v1.6.0-2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148388" y="3331845"/>
              <a:ext cx="9242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8C4E8"/>
                  </a:solidFill>
                  <a:latin typeface="Segoe UI"/>
                  <a:ea typeface="Microsoft YaHei"/>
                  <a:cs typeface="Segoe UI"/>
                </a:rPr>
                <a:t>并发·上下文工程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243697" y="2800350"/>
            <a:ext cx="615506" cy="707707"/>
            <a:chOff x="8243697" y="2800350"/>
            <a:chExt cx="615506" cy="707707"/>
          </a:xfrm>
        </p:grpSpPr>
        <p:sp>
          <p:nvSpPr>
            <p:cNvPr id="46" name="Ellipse 46"/>
            <p:cNvSpPr/>
            <p:nvPr/>
          </p:nvSpPr>
          <p:spPr>
            <a:xfrm>
              <a:off x="8572500" y="2800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243697" y="3133249"/>
              <a:ext cx="4670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59E0B"/>
                  </a:solidFill>
                  <a:latin typeface="Segoe UI"/>
                  <a:ea typeface="Segoe UI"/>
                  <a:cs typeface="Segoe UI"/>
                </a:rPr>
                <a:t>v1.7.0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43888" y="33318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8C4E8"/>
                  </a:solidFill>
                  <a:latin typeface="Segoe UI"/>
                  <a:ea typeface="Microsoft YaHei"/>
                  <a:cs typeface="Segoe UI"/>
                </a:rPr>
                <a:t>组织通讯录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62000" y="4476750"/>
            <a:ext cx="10668000" cy="1238250"/>
            <a:chOff x="762000" y="4476750"/>
            <a:chExt cx="10668000" cy="1238250"/>
          </a:xfrm>
        </p:grpSpPr>
        <p:sp>
          <p:nvSpPr>
            <p:cNvPr id="50" name="Rectangle 50"/>
            <p:cNvSpPr/>
            <p:nvPr/>
          </p:nvSpPr>
          <p:spPr>
            <a:xfrm>
              <a:off x="762000" y="4476750"/>
              <a:ext cx="10668000" cy="1238250"/>
            </a:xfrm>
            <a:prstGeom prst="roundRect">
              <a:avLst>
                <a:gd name="adj" fmla="val 10769"/>
              </a:avLst>
            </a:prstGeom>
            <a:solidFill>
              <a:srgbClr val="223052"/>
            </a:solidFill>
            <a:ln w="9525">
              <a:solidFill>
                <a:srgbClr val="3B4A7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41654" y="4728210"/>
              <a:ext cx="15387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一句话看懂进化脉络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40892" y="5045392"/>
              <a:ext cx="64744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2E8F6"/>
                  </a:solidFill>
                  <a:latin typeface="Segoe UI"/>
                  <a:ea typeface="Microsoft YaHei"/>
                  <a:cs typeface="Segoe UI"/>
                </a:rPr>
                <a:t>先做「能查」→ 再做「能管」→ 再做「能算」→ 最后做「能记、能并发、能认人」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42416" y="5411152"/>
              <a:ext cx="56039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核心主线：LLM 只用在刀刃上 · 数据安全与权限逐步加固 · 每步都有自动化测试护航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66738" y="6417945"/>
            <a:ext cx="11058524" cy="176212"/>
            <a:chOff x="566738" y="6417945"/>
            <a:chExt cx="11058524" cy="176212"/>
          </a:xfrm>
        </p:grpSpPr>
        <p:sp>
          <p:nvSpPr>
            <p:cNvPr id="55" name="TextBox 55"/>
            <p:cNvSpPr txBox="1"/>
            <p:nvPr/>
          </p:nvSpPr>
          <p:spPr>
            <a:xfrm>
              <a:off x="566738" y="64179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A9E"/>
                  </a:solidFill>
                  <a:latin typeface="Segoe UI"/>
                  <a:ea typeface="Microsoft YaHei"/>
                  <a:cs typeface="Segoe UI"/>
                </a:rPr>
                <a:t>恩特小助手 · 版本演进时间线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09858" y="64179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6B7A9E"/>
                  </a:solidFill>
                  <a:latin typeface="Segoe UI"/>
                  <a:ea typeface="Segoe UI"/>
                  <a:cs typeface="Segoe UI"/>
                </a:rPr>
                <a:t>02 / 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733"/>
            </a:gs>
            <a:gs pos="100000">
              <a:srgbClr val="1B2A5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7022" y="549592"/>
            <a:ext cx="4117887" cy="717233"/>
            <a:chOff x="557022" y="549592"/>
            <a:chExt cx="4117887" cy="717233"/>
          </a:xfrm>
        </p:grpSpPr>
        <p:sp>
          <p:nvSpPr>
            <p:cNvPr id="2" name="TextBox 2"/>
            <p:cNvSpPr txBox="1"/>
            <p:nvPr/>
          </p:nvSpPr>
          <p:spPr>
            <a:xfrm>
              <a:off x="557022" y="549592"/>
              <a:ext cx="411788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关键阶段 · 学到了什么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5785" y="1040606"/>
              <a:ext cx="36526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每个阶段最大的认知升级，标注 ⭐ 的是最有价值的教训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2573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28575" cap="rnd">
              <a:solidFill>
                <a:srgbClr val="22D3EE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619250"/>
            <a:ext cx="3524250" cy="2286000"/>
            <a:chOff x="571500" y="1619250"/>
            <a:chExt cx="3524250" cy="2286000"/>
          </a:xfrm>
        </p:grpSpPr>
        <p:sp>
          <p:nvSpPr>
            <p:cNvPr id="6" name="Rectangle 6"/>
            <p:cNvSpPr/>
            <p:nvPr/>
          </p:nvSpPr>
          <p:spPr>
            <a:xfrm>
              <a:off x="571500" y="1619250"/>
              <a:ext cx="3524250" cy="2286000"/>
            </a:xfrm>
            <a:prstGeom prst="roundRect">
              <a:avLst>
                <a:gd name="adj" fmla="val 6667"/>
              </a:avLst>
            </a:prstGeom>
            <a:solidFill>
              <a:srgbClr val="223052"/>
            </a:solidFill>
            <a:ln w="9525">
              <a:solidFill>
                <a:srgbClr val="3B4A7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9823" y="1919764"/>
              <a:ext cx="13880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4D7CFE"/>
                  </a:solidFill>
                  <a:latin typeface="Segoe UI"/>
                  <a:ea typeface="Microsoft YaHei"/>
                  <a:cs typeface="Segoe UI"/>
                </a:rPr>
                <a:t>v1.2.6 版本替换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0585" y="2316956"/>
              <a:ext cx="25713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2E8F6"/>
                  </a:solidFill>
                  <a:latin typeface="Segoe UI"/>
                  <a:ea typeface="Microsoft YaHei"/>
                  <a:cs typeface="Segoe UI"/>
                </a:rPr>
                <a:t>SHA-256 指纹 + staging/active 切换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966" y="2648902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新版本先校验成功再切换，失败保留旧版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0966" y="2953702"/>
              <a:ext cx="21380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查询层自动隐藏 staging/retired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0966" y="3391852"/>
              <a:ext cx="11757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9E0B"/>
                  </a:solidFill>
                  <a:latin typeface="Segoe UI"/>
                  <a:ea typeface="Microsoft YaHei"/>
                  <a:cs typeface="Segoe UI"/>
                </a:rPr>
                <a:t>⭐ 宁可旧，不可错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33875" y="1619250"/>
            <a:ext cx="3524250" cy="2286000"/>
            <a:chOff x="4333875" y="1619250"/>
            <a:chExt cx="3524250" cy="2286000"/>
          </a:xfrm>
        </p:grpSpPr>
        <p:sp>
          <p:nvSpPr>
            <p:cNvPr id="13" name="Rectangle 13"/>
            <p:cNvSpPr/>
            <p:nvPr/>
          </p:nvSpPr>
          <p:spPr>
            <a:xfrm>
              <a:off x="4333875" y="1619250"/>
              <a:ext cx="3524250" cy="2286000"/>
            </a:xfrm>
            <a:prstGeom prst="roundRect">
              <a:avLst>
                <a:gd name="adj" fmla="val 6667"/>
              </a:avLst>
            </a:prstGeom>
            <a:solidFill>
              <a:srgbClr val="223052"/>
            </a:solidFill>
            <a:ln w="9525">
              <a:solidFill>
                <a:srgbClr val="3B4A7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632198" y="1919764"/>
              <a:ext cx="13880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v1.5.2 重排失效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32960" y="2316956"/>
              <a:ext cx="25595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2E8F6"/>
                  </a:solidFill>
                  <a:latin typeface="Segoe UI"/>
                  <a:ea typeface="Microsoft YaHei"/>
                  <a:cs typeface="Segoe UI"/>
                </a:rPr>
                <a:t>bge-reranker 静默失效半年没人发现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33341" y="2648902"/>
              <a:ext cx="26605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BM25 候选混入向量池外的 id → KeyError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33341" y="295370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异常被降级保护吞掉，功能悄悄退化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33341" y="3391852"/>
              <a:ext cx="16135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9E0B"/>
                  </a:solidFill>
                  <a:latin typeface="Segoe UI"/>
                  <a:ea typeface="Microsoft YaHei"/>
                  <a:cs typeface="Segoe UI"/>
                </a:rPr>
                <a:t>⭐ 降级保护可能掩盖 bug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096250" y="1619250"/>
            <a:ext cx="3524250" cy="2286000"/>
            <a:chOff x="8096250" y="1619250"/>
            <a:chExt cx="3524250" cy="2286000"/>
          </a:xfrm>
        </p:grpSpPr>
        <p:sp>
          <p:nvSpPr>
            <p:cNvPr id="20" name="Rectangle 20"/>
            <p:cNvSpPr/>
            <p:nvPr/>
          </p:nvSpPr>
          <p:spPr>
            <a:xfrm>
              <a:off x="8096250" y="1619250"/>
              <a:ext cx="3524250" cy="2286000"/>
            </a:xfrm>
            <a:prstGeom prst="roundRect">
              <a:avLst>
                <a:gd name="adj" fmla="val 6667"/>
              </a:avLst>
            </a:prstGeom>
            <a:solidFill>
              <a:srgbClr val="223052"/>
            </a:solidFill>
            <a:ln w="9525">
              <a:solidFill>
                <a:srgbClr val="3B4A7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94573" y="1919764"/>
              <a:ext cx="15689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8B5CF6"/>
                  </a:solidFill>
                  <a:latin typeface="Segoe UI"/>
                  <a:ea typeface="Microsoft YaHei"/>
                  <a:cs typeface="Segoe UI"/>
                </a:rPr>
                <a:t>v1.6.2 上下文工程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95335" y="2316956"/>
              <a:ext cx="22202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2E8F6"/>
                  </a:solidFill>
                  <a:latin typeface="Segoe UI"/>
                  <a:ea typeface="Microsoft YaHei"/>
                  <a:cs typeface="Segoe UI"/>
                </a:rPr>
                <a:t>静态 system + 窗口 20 批量滚动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95716" y="2648902"/>
              <a:ext cx="2691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V4 思考挤空 content → 压缩需关 thinking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95716" y="2953702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缓存命中率 ≈0% → 78%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95716" y="3391852"/>
              <a:ext cx="14244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9E0B"/>
                  </a:solidFill>
                  <a:latin typeface="Segoe UI"/>
                  <a:ea typeface="Microsoft YaHei"/>
                  <a:cs typeface="Segoe UI"/>
                </a:rPr>
                <a:t>⭐ KV Cache 友好结构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4191000"/>
            <a:ext cx="5334000" cy="1714500"/>
            <a:chOff x="571500" y="4191000"/>
            <a:chExt cx="5334000" cy="1714500"/>
          </a:xfrm>
        </p:grpSpPr>
        <p:sp>
          <p:nvSpPr>
            <p:cNvPr id="27" name="Rectangle 27"/>
            <p:cNvSpPr/>
            <p:nvPr/>
          </p:nvSpPr>
          <p:spPr>
            <a:xfrm>
              <a:off x="571500" y="4191000"/>
              <a:ext cx="5334000" cy="1714500"/>
            </a:xfrm>
            <a:prstGeom prst="roundRect">
              <a:avLst>
                <a:gd name="adj" fmla="val 8889"/>
              </a:avLst>
            </a:prstGeom>
            <a:solidFill>
              <a:srgbClr val="223052"/>
            </a:solidFill>
            <a:ln w="9525">
              <a:solidFill>
                <a:srgbClr val="3B4A7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9823" y="4472464"/>
              <a:ext cx="23800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4D7CFE"/>
                  </a:solidFill>
                  <a:latin typeface="Segoe UI"/>
                  <a:ea typeface="Microsoft YaHei"/>
                  <a:cs typeface="Segoe UI"/>
                </a:rPr>
                <a:t>v1.5.5 PCB 自然语言健壮性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0966" y="4858702"/>
              <a:ext cx="3858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⭐ Python 正则 \b 汉字边界：Unicode 下汉字也是 word 字符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0966" y="5163502"/>
              <a:ext cx="25055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40 题社区回归：7 对 26 败 → 36 对 0 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70966" y="5468302"/>
              <a:ext cx="28306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公式权威来源 pcb-tools.cn 优先于个人经验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143625" y="4191000"/>
            <a:ext cx="5476875" cy="1714500"/>
            <a:chOff x="6143625" y="4191000"/>
            <a:chExt cx="5476875" cy="1714500"/>
          </a:xfrm>
        </p:grpSpPr>
        <p:sp>
          <p:nvSpPr>
            <p:cNvPr id="33" name="Rectangle 33"/>
            <p:cNvSpPr/>
            <p:nvPr/>
          </p:nvSpPr>
          <p:spPr>
            <a:xfrm>
              <a:off x="6143625" y="4191000"/>
              <a:ext cx="5476875" cy="1714500"/>
            </a:xfrm>
            <a:prstGeom prst="roundRect">
              <a:avLst>
                <a:gd name="adj" fmla="val 8889"/>
              </a:avLst>
            </a:prstGeom>
            <a:solidFill>
              <a:srgbClr val="223052"/>
            </a:solidFill>
            <a:ln w="9525">
              <a:solidFill>
                <a:srgbClr val="3B4A7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41948" y="4472464"/>
              <a:ext cx="15689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2D3EE"/>
                  </a:solidFill>
                  <a:latin typeface="Segoe UI"/>
                  <a:ea typeface="Microsoft YaHei"/>
                  <a:cs typeface="Segoe UI"/>
                </a:rPr>
                <a:t>v1.7.0 通讯录查询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43091" y="4858702"/>
              <a:ext cx="26256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⭐ 新版钉钉接口 404 → 旧版 oapi 换族兜底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43091" y="5163502"/>
              <a:ext cx="26168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敏感字段服务端剥离，不依赖 LLM 自觉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43091" y="5468302"/>
              <a:ext cx="21804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8CF"/>
                  </a:solidFill>
                  <a:latin typeface="Segoe UI"/>
                  <a:ea typeface="Microsoft YaHei"/>
                  <a:cs typeface="Segoe UI"/>
                </a:rPr>
                <a:t>90 员工全量拉到，227 项回归全绿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66738" y="6417945"/>
            <a:ext cx="11058524" cy="176212"/>
            <a:chOff x="566738" y="6417945"/>
            <a:chExt cx="11058524" cy="176212"/>
          </a:xfrm>
        </p:grpSpPr>
        <p:sp>
          <p:nvSpPr>
            <p:cNvPr id="39" name="TextBox 39"/>
            <p:cNvSpPr txBox="1"/>
            <p:nvPr/>
          </p:nvSpPr>
          <p:spPr>
            <a:xfrm>
              <a:off x="566738" y="64179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A9E"/>
                  </a:solidFill>
                  <a:latin typeface="Segoe UI"/>
                  <a:ea typeface="Microsoft YaHei"/>
                  <a:cs typeface="Segoe UI"/>
                </a:rPr>
                <a:t>恩特小助手 · 版本演进时间线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09858" y="64179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6B7A9E"/>
                  </a:solidFill>
                  <a:latin typeface="Segoe UI"/>
                  <a:ea typeface="Segoe UI"/>
                  <a:cs typeface="Segoe UI"/>
                </a:rPr>
                <a:t>03 / 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733"/>
            </a:gs>
            <a:gs pos="55000">
              <a:srgbClr val="1B2A52"/>
            </a:gs>
            <a:gs pos="100000">
              <a:srgbClr val="2C3E6B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10058400" y="4724400"/>
            <a:ext cx="1304925" cy="733425"/>
            <a:chOff x="10058400" y="4724400"/>
            <a:chExt cx="1304925" cy="733425"/>
          </a:xfrm>
        </p:grpSpPr>
        <p:sp>
          <p:nvSpPr>
            <p:cNvPr id="2" name="Ellipse 2"/>
            <p:cNvSpPr/>
            <p:nvPr/>
          </p:nvSpPr>
          <p:spPr>
            <a:xfrm>
              <a:off x="10058400" y="4724400"/>
              <a:ext cx="76200" cy="762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0248900" y="4819650"/>
              <a:ext cx="76200" cy="76200"/>
            </a:xfrm>
            <a:prstGeom prst="ellipse">
              <a:avLst/>
            </a:prstGeom>
            <a:solidFill>
              <a:srgbClr val="4D7CFE">
                <a:alpha val="70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439400" y="4914900"/>
              <a:ext cx="76200" cy="76200"/>
            </a:xfrm>
            <a:prstGeom prst="ellipse">
              <a:avLst/>
            </a:prstGeom>
            <a:solidFill>
              <a:srgbClr val="8B5CF6">
                <a:alpha val="50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1306175" y="5400675"/>
              <a:ext cx="57150" cy="57150"/>
            </a:xfrm>
            <a:prstGeom prst="ellipse">
              <a:avLst/>
            </a:prstGeom>
            <a:solidFill>
              <a:srgbClr val="22D3EE">
                <a:alpha val="50000"/>
              </a:srgbClr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047750" y="2671762"/>
            <a:ext cx="6728231" cy="1433513"/>
            <a:chOff x="1047750" y="2671762"/>
            <a:chExt cx="6728231" cy="1433513"/>
          </a:xfrm>
        </p:grpSpPr>
        <p:sp>
          <p:nvSpPr>
            <p:cNvPr id="7" name="TextBox 7"/>
            <p:cNvSpPr txBox="1"/>
            <p:nvPr/>
          </p:nvSpPr>
          <p:spPr>
            <a:xfrm>
              <a:off x="1047750" y="2671762"/>
              <a:ext cx="3006471" cy="1019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谢谢观看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7656" y="3615690"/>
              <a:ext cx="67183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8C4E8"/>
                  </a:solidFill>
                  <a:latin typeface="Segoe UI"/>
                  <a:ea typeface="Microsoft YaHei"/>
                  <a:cs typeface="Segoe UI"/>
                </a:rPr>
                <a:t>一个查询工具，长成了知识助手 — 下一站：v2.0 企业知识中枢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066800" y="409575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28575" cap="rnd">
              <a:solidFill>
                <a:srgbClr val="22D3EE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66166" y="6096952"/>
            <a:ext cx="11059668" cy="205359"/>
            <a:chOff x="566166" y="6096952"/>
            <a:chExt cx="11059668" cy="205359"/>
          </a:xfrm>
        </p:grpSpPr>
        <p:sp>
          <p:nvSpPr>
            <p:cNvPr id="11" name="TextBox 11"/>
            <p:cNvSpPr txBox="1"/>
            <p:nvPr/>
          </p:nvSpPr>
          <p:spPr>
            <a:xfrm>
              <a:off x="566166" y="6096952"/>
              <a:ext cx="28094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BB8"/>
                  </a:solidFill>
                  <a:latin typeface="Segoe UI"/>
                  <a:ea typeface="Microsoft YaHei"/>
                  <a:cs typeface="Segoe UI"/>
                </a:rPr>
                <a:t>恩特小助手 · 版本演进时间线 · 2026-08-06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141640" y="60969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BB8"/>
                  </a:solidFill>
                  <a:latin typeface="Segoe UI"/>
                  <a:ea typeface="Segoe UI"/>
                  <a:cs typeface="Segoe UI"/>
                </a:rPr>
                <a:t>04 / 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entar_evo">
  <a:themeElements>
    <a:clrScheme name="entar_ev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ntar_ev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ntar_ev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2026-08-06T08:42:54Z</dcterms:created>
  <dcterms:modified xsi:type="dcterms:W3CDTF">2026-08-06T08:42:54Z</dcterms:modified>
  <cp:category/>
  <cp:contentStatus/>
</cp:coreProperties>
</file>