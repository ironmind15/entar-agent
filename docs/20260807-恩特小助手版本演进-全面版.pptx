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  <Relationship Id="rId27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大家好，今天我想用大概二十分钟，给大家讲讲恩特小助手这一年多的进化历程。它不是一个常规的汇报，而是一个故事——一个最初只能查故障码的小脚本，是怎么一步步长成整个公司的知识助手的。封面上的这几个版本号，v1.0、v1.2.1、v1.5.0、v1.7.0，就是故事的关键节点。从最早的故障查询，到最后连组织通讯录都能查，一共十个阶段、二十四个版本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会从四个维度来讲这个进化，方便大家跟着一条主线走：第一，能力升级线——同一个能力怎么逐版本变强；第二，反馈驱动线——同事们说了什么，我们就做了什么；第三，跨项目学习线——我们不断从外面的开源项目和书里学习，再落地回来；第四，决策原因线——每一步为什么这么做。记住一句话：每个版本背后，都有一个为什么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先说为什么做。恩特是做 PCS 储能变流器的，工程师在现场检测，遇到报错代码，往往要翻手册、翻表格才能查到错误类型、原因和解决方案。这就是最真实的痛点。所以我们在七月一号，和胡总敲定了三步走计划：第一步做智能快速查询加标准检索，第二步把项目经验沉淀复用，第三步用 AI 辅助研发。数据源就是 PCS 参数表里的一百三十三条故障记录，加上标准文档。我们的目标很朴素：把工程师从翻手册里解放出来，一个内部工具，服务全公司。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第一版 v1.0 在七月九号上线。它做了什么？故障代码精确匹配，不调大模型，毫秒级返回；还有向量语义搜索、钉钉 Stream 模式机器人、Web 页面、通用聊天托底，部署在云服务器上七天二十四小时跑。这里面我们学到两个关键认知：一个是 RAG 两级查询策略，能精确匹配就走快速通道；另一个是钉钉 Stream 模式，我们主动连钉钉，不需要公网 IP，中小企业零部署成本。更重要的是，同事们七月三号实测之后反馈说：只查故障码太单一了，想要经验查询，想集成进钉钉。这个反馈，直接定下了后面很多版本的方向。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接着是 Agent 化。v1.0 之前是规则路由——二十二个关键词 if-else 硬编码，大模型根本不知道知识库的存在。v1.1 我们升级成 DeepSeek Function Calling，让大模型自主决策要不要查库，精确故障码仍然保留快速通道。这里有个插曲，胡总七月六号追问我们：这到底是不是标准 Agent？我们对标了 Agent 的四要素——大模型、工具、记忆、循环——结论是：规则路由加快速通道更适合我们的场景，不是越 Agent 越好。这个统一路由骨架，成了后续所有工具能力的基石。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记忆系统我们升了三次级。第一次是会话记忆，从 JSON 迁到 SQLite，做记忆去重省 token；第二次是双层记忆，短期窗口加长期记忆压缩，让机器人跨会话记得用户的项目、型号和偏好；第三次是上下文工程，把 system 提示词改造成 KV Cache 友好的静态结构，配合窗口二十轮批量滚动，缓存命中率从接近零直接拉到百分之七十八，真实日志里稳定在百分之八十五到九十八。这三次升级不是拍脑袋——第二次、第三次都直接落地了 hello-agents 和 ai-agent-book 这两本书的结论，还做了八十四组成本模拟来支撑决策。中间还修了一个很有意思的根因：思考型大模型压缩长对话时会把内容挤空，解决方法是压缩时关掉思考模式。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再讲检索。用户最痛的一个问题是短关键词检索差——比如「过压」「硬件」这种两个字的词，纯向量检索噪声很大。v1.3.0 我们做了混合检索：向量加 BM25 关键词双路召回，用 RRF 融合排名，再加重排模型精排。这个思路不是闭门造车，是研读了 RAG-STARTER、industrial-general-rag、ragflow 三个开源项目之后学到的。这里有个教训值得记住：代码就绪不等于功能生效——重排模型有 1.1GB，下载慢，v1.3.0 只是框架就绪，到 v1.4.0 模型到位才真正启用。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这一页是个重要的教训。我们建了二十九条评估集，先测后改，结果发现一个隐藏了半年的 bug：重排模型其实一直静默失效——BM25 的候选混进了向量池之外的 id，抛了 KeyError，异常又被降级保护吞掉，导致重排从未真正生效过。评估还告诉我们：重排模型在当前知识库上收益微乎其微，所以最终落地成了配置开关。这两条教训合起来就是一套方法论：用数据说话，而不是靠感觉做技术决策；自动回退不崩溃是双刃剑，要靠可观测性兜底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文档管理是另一个大工程。我们做了 doc_mgr 子系统，统一的上传、切块、入库管道；用 SHA-256 指纹做内容识别；实现 staging 到 active 的安全版本替换，失败就保留旧版；还有崩溃恢复和 Web 同步管理。核心原则就一句话：宁可旧，不可错。新版本校验成功才切换，查询层自动隐藏中间状态。存储层做了抽象，以后要换向量数据库只改一行。这块还有一个 P0 验收清单，要求真实环境下每种文件类型都走一遍完整的入库、查询、修改、重学、删除。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扫描版 PDF 的识别，我们也做过一次大切换。旧路线用 PaddleOCR 传统识别，本地部署在 Windows 上坑很多，PaddlePaddle 版本兼容性差，单页要二十多秒。后来切换成 MinerU 大模型视觉识别，API 零部署，直接理解上下文，输出 Markdown 还保留标题表格结构。这个切换不是一帆风顺的，踩了三个坑：轮询状态永远 unknown，是因为 API 返回结构看错了字段；上传 OSS 报 403，去掉自定义 Content-Type 就好了；大 PDF 有两百页硬限制，就自动拆分逐份送。这些坑后来都成了防坑设计。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多部门隔离，是老板七月二十号提的需求驱动的。老板说每个部门要有独立知识库和权限系统。v1.2.8 建了五中心架构——PMO、研发、制造、商业、运营，加上公共区，每个数据块都带部门标签；v1.2.9 修了一个隔离 bug，同步路径会把部门覆盖成公共；v1.5.2 支持改归属，强制重学重写元数据。权限演进经历了从没有，到五中心隔离，再到数据链路层强制的路径。多级回退策略确保不会产生权限黑洞。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PCB 计算是个很受欢迎的能力。v1.4.0 起步九类计算器，走线、阻抗、过孔、趋肤深度这些；v1.4.2 加了布局综合校验，输入电流、铜厚、电压，一次给出走线约束、安规间距、占用判定，冲突时给五级设计建议。核心认知是「把大模型只用在刀刃上」——这些公式全部本地计算，秒回，只有口语化的复杂表达才让大模型识别后调工具。这也再次验证了原则：能本地匹配就不调 API。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PCB 这块还有个重要的转折。王哥，PCB 部门主管，八月五号实测之后反馈：公式的权威来源应该是主管给我们的 pcb-tools.cn，而不是之前自己实验得出的。这个反馈非常关键。v1.5.4 我们以权威源为基准，把计算器从十三类扩到五十四类，还修正了差分带状线的系数。随后用四十道社区真实问题做回归，从七对二十六败提升到三十六对零败。这里最深的认知是：公式权威来源大于个人经验，对客户和主管的交付可信度是第一位的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并发，是多人使用后必然遇到的问题。之前是一个单线程事件循环，一个人问大模型，其他人全部排队。v1.6.0 用 asyncio.to_thread 把慢操作放行到线程池，慢的走后台，快的毫秒级不阻塞；用信号量限流二十个并发请求防止费用失控；每个用户一把锁，同一用户串行、不同用户并行，回复不会乱序。这个改造直接借鉴了 hello-agents 和 ai-agent-book 里讲的异步模型。验证结果很硬核：两百零五项回归全绿，快消息零点三二秒就返回，不排队。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并发改造完，我们还做了一轮代码审查，修复了一批隐藏问题。最典型的是 asyncio 锁绑定事件循环——钉钉断线重连后必须按事件循环重建锁，否则会抛运行时错误。稳定性方面，DeepSeek 网络瞬断做了指数退避自动重试，启动时清理崩溃残留。还有一个很有意思的排障：DeepSeek 报一百零一、钉钉报一百零五十四、还有 SSL EOF，三个症状其实是同一个根因——Clash 代理劫持，在不同崩溃阶段的表现。修复方法是国内 API 全部直连，强制不走系统代理。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v1.7.0 上了组织通讯录查询。现在你问机器人「谁负责采购」「研发中心王工电话多少」，它能直接查。姓名、部门、职位、工号全员可查，手机号、邮箱只有审核人能看。这个功能踩了一个典型的坑：新版钉钉接口整个前缀都返回 404，换成旧版 oapi 接口族就通了。所以这个功能最大的学习是两句话：新版接口不等于可用，报错时换接口族优先；敏感字段在服务端直接剥离，权限放在数据链路层，而不是依赖大模型自觉。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这些加起来，就是一组很有说服力的数字。自动化测试从三十三项涨到二百二十七项；二十四个发布版本，十大大阶段；PCB 本地计算器五十四类；一百三十三条 PCS 故障记录入库；KV Cache 缓存命中率接近百分之七十八，真实日志到百分之八十九到九十二；九十名员工的通讯录全量拉到。成长主线很清晰：先做能查，再做能管，再做能算，最后做能记、能并发、能认人。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一路走来我们也爬了很多坑，这里横向汇总一下。版本兼容类：PaddlePaddle 版本限制、已编译正则传 flags 报错、钉钉新版接口整体 404；环境网络类：Clash 代理劫持、缓存不释放端口、中文日志乱码；并发类：锁跨事件循环、测试 mock 竞态、懒加载单例线程安全；大模型行为类：思考挤空内容、空内容崩溃、需要显式约束不能编造；工程类：重复 PDF 污染知识库、裸检索对编号全 miss；数据失真类：尾零被削、重排静默失效、降级保护吞异常。每个坑都变成了下一版本的防坑设计。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如果把这些坑提炼成方法论，就是这六条：降级保护可能掩盖 bug，要靠可观测性兜底；大模型只用在刀刃上，能本地匹配就不调 API；代码就绪不等于功能生效，模型到位才算数；新接口不等于可用，报错时换族兜底；权限放数据链路层，不依赖大模型自觉；用数据说话，评估集加成本模拟，不靠感觉做决策。这些不是技术债，是长出来的方法论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最后收个尾。一个查故障码的脚本，就这样长成了知识助手。下一步是 v2.0 企业知识中枢：部门知识库加权限系统，这是五中心架构的自然延伸；通用文件引擎加大模型图片理解，钉钉发图机器人就能看懂；还有腾讯云自动同步，第二步的经验知识库已经在推进中，完成了大约百分之四十。感谢大家，欢迎一起把恩特小助手做得更好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entar-assistant-evolutio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entar-assistant-evolutio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CE6F5"/>
            </a:gs>
            <a:gs pos="52000">
              <a:srgbClr val="EEF3FA"/>
            </a:gs>
            <a:gs pos="100000">
              <a:schemeClr val="lt1"/>
            </a:gs>
          </a:gsLst>
          <a:path path="circle">
            <a:fillToRect l="50000" t="42000" r="50000" b="58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096250" y="381000"/>
            <a:ext cx="3810000" cy="3810000"/>
          </a:xfrm>
          <a:prstGeom prst="ellipse">
            <a:avLst/>
          </a:prstGeom>
          <a:gradFill>
            <a:gsLst>
              <a:gs pos="0">
                <a:schemeClr val="accent3">
                  <a:alpha val="16000"/>
                </a:schemeClr>
              </a:gs>
              <a:gs pos="100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8743950" y="1028700"/>
            <a:ext cx="2514600" cy="2514600"/>
          </a:xfrm>
          <a:prstGeom prst="ellipse">
            <a:avLst/>
          </a:prstGeom>
          <a:noFill/>
          <a:ln w="14288">
            <a:solidFill>
              <a:schemeClr val="accent3">
                <a:alpha val="35000"/>
              </a:schemeClr>
            </a:solidFill>
          </a:ln>
        </p:spPr>
      </p:sp>
      <p:sp>
        <p:nvSpPr>
          <p:cNvPr id="4" name="Ellipse 4"/>
          <p:cNvSpPr/>
          <p:nvPr/>
        </p:nvSpPr>
        <p:spPr>
          <a:xfrm>
            <a:off x="9124950" y="1409700"/>
            <a:ext cx="1752600" cy="1752600"/>
          </a:xfrm>
          <a:prstGeom prst="ellipse">
            <a:avLst/>
          </a:prstGeom>
          <a:solidFill>
            <a:schemeClr val="lt1">
              <a:alpha val="55000"/>
            </a:schemeClr>
          </a:solidFill>
          <a:ln w="19050">
            <a:solidFill>
              <a:schemeClr val="accent2"/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755142" y="1283018"/>
            <a:ext cx="3572561" cy="264033"/>
            <a:chOff x="755142" y="1283018"/>
            <a:chExt cx="3572561" cy="264033"/>
          </a:xfrm>
        </p:grpSpPr>
        <p:sp>
          <p:nvSpPr>
            <p:cNvPr id="5" name="TextBox 5"/>
            <p:cNvSpPr txBox="1"/>
            <p:nvPr/>
          </p:nvSpPr>
          <p:spPr>
            <a:xfrm>
              <a:off x="755142" y="1283018"/>
              <a:ext cx="35725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ENTAR AGENT · EVOLUTION LOG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42950" y="2007870"/>
            <a:ext cx="7022253" cy="1047750"/>
            <a:chOff x="742950" y="2007870"/>
            <a:chExt cx="7022253" cy="1047750"/>
          </a:xfrm>
        </p:grpSpPr>
        <p:sp>
          <p:nvSpPr>
            <p:cNvPr id="7" name="TextBox 7"/>
            <p:cNvSpPr txBox="1"/>
            <p:nvPr/>
          </p:nvSpPr>
          <p:spPr>
            <a:xfrm>
              <a:off x="742950" y="2007870"/>
              <a:ext cx="7022253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恩特小助手 · </a:t>
              </a:r>
              <a:r>
                <a:rPr lang="zh-CN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进化史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8858" y="3055620"/>
            <a:ext cx="8828532" cy="469392"/>
            <a:chOff x="768858" y="3055620"/>
            <a:chExt cx="8828532" cy="469392"/>
          </a:xfrm>
        </p:grpSpPr>
        <p:sp>
          <p:nvSpPr>
            <p:cNvPr id="9" name="TextBox 9"/>
            <p:cNvSpPr txBox="1"/>
            <p:nvPr/>
          </p:nvSpPr>
          <p:spPr>
            <a:xfrm>
              <a:off x="768858" y="3055620"/>
              <a:ext cx="88285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从 v1.0 故障查询，到 v1.7.0 组织通讯录 · 十阶段、24 版本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4305300"/>
            <a:ext cx="9334500" cy="1066800"/>
            <a:chOff x="762000" y="4305300"/>
            <a:chExt cx="9334500" cy="1066800"/>
          </a:xfrm>
        </p:grpSpPr>
        <p:grpSp>
          <p:nvGrpSpPr>
            <p:cNvPr id="14" name="Group 14"/>
            <p:cNvGrpSpPr/>
            <p:nvPr/>
          </p:nvGrpSpPr>
          <p:grpSpPr>
            <a:xfrm>
              <a:off x="762000" y="4305300"/>
              <a:ext cx="2190750" cy="1066800"/>
              <a:chOff x="762000" y="4305300"/>
              <a:chExt cx="2190750" cy="10668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762000" y="4305300"/>
                <a:ext cx="2190750" cy="1066800"/>
              </a:xfrm>
              <a:prstGeom prst="roundRect">
                <a:avLst>
                  <a:gd name="adj" fmla="val 17857"/>
                </a:avLst>
              </a:prstGeom>
              <a:solidFill>
                <a:schemeClr val="lt1">
                  <a:alpha val="72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52400" dist="57150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978408" y="4484370"/>
                <a:ext cx="77071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v1.0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83742" y="4959668"/>
                <a:ext cx="13131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诞生 · 故障查询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143250" y="4305300"/>
              <a:ext cx="2190750" cy="1066800"/>
              <a:chOff x="3143250" y="4305300"/>
              <a:chExt cx="2190750" cy="10668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3143250" y="4305300"/>
                <a:ext cx="2190750" cy="1066800"/>
              </a:xfrm>
              <a:prstGeom prst="roundRect">
                <a:avLst>
                  <a:gd name="adj" fmla="val 17857"/>
                </a:avLst>
              </a:prstGeom>
              <a:solidFill>
                <a:schemeClr val="lt1">
                  <a:alpha val="72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52400" dist="57150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359658" y="4484370"/>
                <a:ext cx="114388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v1.2.1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364992" y="4959668"/>
                <a:ext cx="135788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文档管理 · OCR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5524500" y="4305300"/>
              <a:ext cx="2190750" cy="1066800"/>
              <a:chOff x="5524500" y="4305300"/>
              <a:chExt cx="2190750" cy="10668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524500" y="4305300"/>
                <a:ext cx="2190750" cy="1066800"/>
              </a:xfrm>
              <a:prstGeom prst="roundRect">
                <a:avLst>
                  <a:gd name="adj" fmla="val 17857"/>
                </a:avLst>
              </a:prstGeom>
              <a:solidFill>
                <a:schemeClr val="lt1">
                  <a:alpha val="72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52400" dist="57150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5740908" y="4484370"/>
                <a:ext cx="114388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v1.5.0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746242" y="495966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经验知识库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7905750" y="4305300"/>
              <a:ext cx="2190750" cy="1066800"/>
              <a:chOff x="7905750" y="4305300"/>
              <a:chExt cx="2190750" cy="10668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7905750" y="4305300"/>
                <a:ext cx="2190750" cy="1066800"/>
              </a:xfrm>
              <a:prstGeom prst="roundRect">
                <a:avLst>
                  <a:gd name="adj" fmla="val 17857"/>
                </a:avLst>
              </a:prstGeom>
              <a:solidFill>
                <a:schemeClr val="lt1">
                  <a:alpha val="78000"/>
                </a:schemeClr>
              </a:solidFill>
              <a:ln w="17145">
                <a:solidFill>
                  <a:schemeClr val="accent2"/>
                </a:solidFill>
              </a:ln>
              <a:effectLst>
                <a:outerShdw blurRad="152400" dist="57150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122158" y="4484370"/>
                <a:ext cx="114388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v1.7.0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27492" y="4959668"/>
                <a:ext cx="14948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组织通讯录 · 现在</a:t>
                </a:r>
              </a:p>
            </p:txBody>
          </p:sp>
        </p:grpSp>
      </p:grpSp>
      <p:sp>
        <p:nvSpPr>
          <p:cNvPr id="28" name="TextBox 28"/>
          <p:cNvSpPr txBox="1"/>
          <p:nvPr/>
        </p:nvSpPr>
        <p:spPr>
          <a:xfrm>
            <a:off x="755142" y="6216968"/>
            <a:ext cx="393100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天津恩特能源科技有限公司 · 2026 · AI AGENT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CE6F5"/>
            </a:gs>
            <a:gs pos="55000">
              <a:srgbClr val="EEF3FA"/>
            </a:gs>
            <a:gs pos="100000">
              <a:schemeClr val="lt1"/>
            </a:gs>
          </a:gsLst>
          <a:path path="circle">
            <a:fillToRect l="50000" t="40000" r="50000" b="6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5998" y="673418"/>
            <a:ext cx="10632929" cy="783717"/>
            <a:chOff x="745998" y="673418"/>
            <a:chExt cx="10632929" cy="783717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6734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CONTENTS · 今天讲什么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998" y="841058"/>
              <a:ext cx="31487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四条主线看进化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56392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20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52856" y="1558290"/>
            <a:ext cx="9492844" cy="352044"/>
            <a:chOff x="752856" y="1558290"/>
            <a:chExt cx="9492844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752856" y="1558290"/>
              <a:ext cx="94928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一条主线：一个查故障码的脚本，怎么长成企业知识助手——</a:t>
              </a:r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每个版本背后都有一个为什么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62000" y="2190750"/>
            <a:ext cx="10668000" cy="3352800"/>
            <a:chOff x="762000" y="2190750"/>
            <a:chExt cx="10668000" cy="3352800"/>
          </a:xfrm>
        </p:grpSpPr>
        <p:grpSp>
          <p:nvGrpSpPr>
            <p:cNvPr id="20" name="Group 20"/>
            <p:cNvGrpSpPr/>
            <p:nvPr/>
          </p:nvGrpSpPr>
          <p:grpSpPr>
            <a:xfrm>
              <a:off x="762000" y="2190750"/>
              <a:ext cx="2552700" cy="3352800"/>
              <a:chOff x="762000" y="2190750"/>
              <a:chExt cx="2552700" cy="33528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762000" y="2190750"/>
                <a:ext cx="2552700" cy="3352800"/>
              </a:xfrm>
              <a:prstGeom prst="roundRect">
                <a:avLst>
                  <a:gd name="adj" fmla="val 7463"/>
                </a:avLst>
              </a:prstGeom>
              <a:solidFill>
                <a:schemeClr val="lt1">
                  <a:alpha val="74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grpSp>
            <p:nvGrpSpPr>
              <p:cNvPr id="11" name="Group 11"/>
              <p:cNvGrpSpPr/>
              <p:nvPr/>
            </p:nvGrpSpPr>
            <p:grpSpPr>
              <a:xfrm>
                <a:off x="1076325" y="2606675"/>
                <a:ext cx="285751" cy="158750"/>
                <a:chOff x="1076325" y="2606675"/>
                <a:chExt cx="285751" cy="158750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076325" y="2606675"/>
                  <a:ext cx="285751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158750">
                      <a:moveTo>
                        <a:pt x="0" y="158750"/>
                      </a:moveTo>
                      <a:lnTo>
                        <a:pt x="95250" y="63500"/>
                      </a:lnTo>
                      <a:lnTo>
                        <a:pt x="158750" y="127000"/>
                      </a:lnTo>
                      <a:lnTo>
                        <a:pt x="285751" y="0"/>
                      </a:ln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250950" y="2606675"/>
                  <a:ext cx="11112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11125">
                      <a:moveTo>
                        <a:pt x="0" y="0"/>
                      </a:moveTo>
                      <a:lnTo>
                        <a:pt x="111125" y="0"/>
                      </a:lnTo>
                      <a:lnTo>
                        <a:pt x="111125" y="111125"/>
                      </a:ln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1019556" y="3006090"/>
                <a:ext cx="98608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LANE 01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18032" y="3316605"/>
                <a:ext cx="15055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能力升级线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1028700" y="3733800"/>
                <a:ext cx="2019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19300" h="9525">
                    <a:moveTo>
                      <a:pt x="0" y="0"/>
                    </a:moveTo>
                    <a:lnTo>
                      <a:pt x="2019300" y="0"/>
                    </a:lnTo>
                  </a:path>
                </a:pathLst>
              </a:custGeom>
              <a:noFill/>
              <a:ln w="9525">
                <a:solidFill>
                  <a:schemeClr val="accent3">
                    <a:alpha val="40000"/>
                  </a:schemeClr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21080" y="3933825"/>
                <a:ext cx="12571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记忆 1.0→3.0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21080" y="4238625"/>
                <a:ext cx="13984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检索 单路→混合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21080" y="4543425"/>
                <a:ext cx="150952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多部门 0→五中心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21080" y="4848225"/>
                <a:ext cx="11780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PCB 9→54 类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21080" y="5153025"/>
                <a:ext cx="16003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并发 单线程→并行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3505200" y="2190750"/>
              <a:ext cx="2663952" cy="3352800"/>
              <a:chOff x="3505200" y="2190750"/>
              <a:chExt cx="2663952" cy="33528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3505200" y="2190750"/>
                <a:ext cx="2552700" cy="3352800"/>
              </a:xfrm>
              <a:prstGeom prst="roundRect">
                <a:avLst>
                  <a:gd name="adj" fmla="val 7463"/>
                </a:avLst>
              </a:prstGeom>
              <a:solidFill>
                <a:schemeClr val="lt1">
                  <a:alpha val="74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3819525" y="2543175"/>
                <a:ext cx="285750" cy="285750"/>
                <a:chOff x="3819525" y="2543175"/>
                <a:chExt cx="285750" cy="28575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3930650" y="2543175"/>
                  <a:ext cx="174625" cy="17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25" h="174625">
                      <a:moveTo>
                        <a:pt x="174625" y="174625"/>
                      </a:moveTo>
                      <a:lnTo>
                        <a:pt x="127000" y="127000"/>
                      </a:lnTo>
                      <a:lnTo>
                        <a:pt x="15875" y="127000"/>
                      </a:lnTo>
                      <a:cubicBezTo>
                        <a:pt x="7107" y="127000"/>
                        <a:pt x="0" y="119893"/>
                        <a:pt x="0" y="111125"/>
                      </a:cubicBezTo>
                      <a:lnTo>
                        <a:pt x="0" y="15875"/>
                      </a:ln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158750" y="0"/>
                      </a:lnTo>
                      <a:cubicBezTo>
                        <a:pt x="167518" y="0"/>
                        <a:pt x="174625" y="7107"/>
                        <a:pt x="174625" y="15875"/>
                      </a:cubicBezTo>
                      <a:lnTo>
                        <a:pt x="174625" y="174625"/>
                      </a:ln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3819525" y="2654300"/>
                  <a:ext cx="174625" cy="174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25" h="174625">
                      <a:moveTo>
                        <a:pt x="174625" y="79375"/>
                      </a:moveTo>
                      <a:lnTo>
                        <a:pt x="174625" y="111125"/>
                      </a:lnTo>
                      <a:cubicBezTo>
                        <a:pt x="174625" y="119893"/>
                        <a:pt x="167518" y="127000"/>
                        <a:pt x="158750" y="127000"/>
                      </a:cubicBezTo>
                      <a:lnTo>
                        <a:pt x="47625" y="127000"/>
                      </a:lnTo>
                      <a:lnTo>
                        <a:pt x="0" y="174625"/>
                      </a:lnTo>
                      <a:lnTo>
                        <a:pt x="0" y="15875"/>
                      </a:lnTo>
                      <a:cubicBezTo>
                        <a:pt x="0" y="7107"/>
                        <a:pt x="7107" y="0"/>
                        <a:pt x="15875" y="0"/>
                      </a:cubicBezTo>
                      <a:lnTo>
                        <a:pt x="47625" y="0"/>
                      </a:ln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3762756" y="3006090"/>
                <a:ext cx="98608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LANE 02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761232" y="3316605"/>
                <a:ext cx="15055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反馈驱动线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3771900" y="3733800"/>
                <a:ext cx="2019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19300" h="9525">
                    <a:moveTo>
                      <a:pt x="0" y="0"/>
                    </a:moveTo>
                    <a:lnTo>
                      <a:pt x="2019300" y="0"/>
                    </a:lnTo>
                  </a:path>
                </a:pathLst>
              </a:custGeom>
              <a:noFill/>
              <a:ln w="9525">
                <a:solidFill>
                  <a:schemeClr val="accent3">
                    <a:alpha val="40000"/>
                  </a:schemeClr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3764280" y="3933825"/>
                <a:ext cx="18830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同事 7/3 要经验查询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764280" y="4238625"/>
                <a:ext cx="232288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胡总 7/6 追问标准 Agent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764280" y="4543425"/>
                <a:ext cx="179222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老板 7/20 要部门库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764280" y="4848225"/>
                <a:ext cx="24048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王哥 8/5 PCB 公式权威化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6248400" y="2190750"/>
              <a:ext cx="2761107" cy="3352800"/>
              <a:chOff x="6248400" y="2190750"/>
              <a:chExt cx="2761107" cy="33528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6248400" y="2190750"/>
                <a:ext cx="2552700" cy="3352800"/>
              </a:xfrm>
              <a:prstGeom prst="roundRect">
                <a:avLst>
                  <a:gd name="adj" fmla="val 7463"/>
                </a:avLst>
              </a:prstGeom>
              <a:solidFill>
                <a:schemeClr val="lt1">
                  <a:alpha val="74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grpSp>
            <p:nvGrpSpPr>
              <p:cNvPr id="39" name="Group 39"/>
              <p:cNvGrpSpPr/>
              <p:nvPr/>
            </p:nvGrpSpPr>
            <p:grpSpPr>
              <a:xfrm>
                <a:off x="6562725" y="2565278"/>
                <a:ext cx="295276" cy="231897"/>
                <a:chOff x="6562725" y="2565278"/>
                <a:chExt cx="295276" cy="231897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6562725" y="2771653"/>
                  <a:ext cx="285751" cy="255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25522">
                      <a:moveTo>
                        <a:pt x="0" y="25522"/>
                      </a:moveTo>
                      <a:cubicBezTo>
                        <a:pt x="44206" y="0"/>
                        <a:pt x="98670" y="0"/>
                        <a:pt x="142875" y="25522"/>
                      </a:cubicBezTo>
                      <a:cubicBezTo>
                        <a:pt x="187081" y="0"/>
                        <a:pt x="241545" y="0"/>
                        <a:pt x="285751" y="25522"/>
                      </a:cubicBez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6562725" y="2565278"/>
                  <a:ext cx="285751" cy="255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25522">
                      <a:moveTo>
                        <a:pt x="0" y="25522"/>
                      </a:moveTo>
                      <a:cubicBezTo>
                        <a:pt x="44206" y="0"/>
                        <a:pt x="98670" y="0"/>
                        <a:pt x="142875" y="25522"/>
                      </a:cubicBezTo>
                      <a:cubicBezTo>
                        <a:pt x="187081" y="0"/>
                        <a:pt x="241545" y="0"/>
                        <a:pt x="285751" y="25522"/>
                      </a:cubicBez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6562725" y="2590800"/>
                  <a:ext cx="9525" cy="20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75">
                      <a:moveTo>
                        <a:pt x="0" y="0"/>
                      </a:moveTo>
                      <a:lnTo>
                        <a:pt x="0" y="206375"/>
                      </a:ln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6705600" y="2590800"/>
                  <a:ext cx="9525" cy="20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75">
                      <a:moveTo>
                        <a:pt x="0" y="0"/>
                      </a:moveTo>
                      <a:lnTo>
                        <a:pt x="0" y="206375"/>
                      </a:ln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6848476" y="2590800"/>
                  <a:ext cx="9525" cy="20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06375">
                      <a:moveTo>
                        <a:pt x="0" y="0"/>
                      </a:moveTo>
                      <a:lnTo>
                        <a:pt x="0" y="206375"/>
                      </a:ln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</p:grpSp>
          <p:sp>
            <p:nvSpPr>
              <p:cNvPr id="40" name="TextBox 40"/>
              <p:cNvSpPr txBox="1"/>
              <p:nvPr/>
            </p:nvSpPr>
            <p:spPr>
              <a:xfrm>
                <a:off x="6505956" y="3006090"/>
                <a:ext cx="98608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LANE 03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504432" y="3316605"/>
                <a:ext cx="180235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跨项目学习线</a:t>
                </a:r>
              </a:p>
            </p:txBody>
          </p:sp>
          <p:sp>
            <p:nvSpPr>
              <p:cNvPr id="42" name="Line 42"/>
              <p:cNvSpPr/>
              <p:nvPr/>
            </p:nvSpPr>
            <p:spPr>
              <a:xfrm>
                <a:off x="6515100" y="3733800"/>
                <a:ext cx="2019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19300" h="9525">
                    <a:moveTo>
                      <a:pt x="0" y="0"/>
                    </a:moveTo>
                    <a:lnTo>
                      <a:pt x="2019300" y="0"/>
                    </a:lnTo>
                  </a:path>
                </a:pathLst>
              </a:custGeom>
              <a:noFill/>
              <a:ln w="9525">
                <a:solidFill>
                  <a:schemeClr val="accent3">
                    <a:alpha val="40000"/>
                  </a:schemeClr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6507480" y="3933825"/>
                <a:ext cx="217017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RAG 三件套 → 混合检索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507480" y="4238625"/>
                <a:ext cx="18830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hello-agents → 并发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507480" y="4543425"/>
                <a:ext cx="250202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ai-agent-book → KV Cache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507480" y="4848225"/>
                <a:ext cx="183276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Codex · 会议工作流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8991600" y="2190750"/>
              <a:ext cx="2438400" cy="3352800"/>
              <a:chOff x="8991600" y="2190750"/>
              <a:chExt cx="2438400" cy="335280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8991600" y="2190750"/>
                <a:ext cx="2438400" cy="3352800"/>
              </a:xfrm>
              <a:prstGeom prst="roundRect">
                <a:avLst>
                  <a:gd name="adj" fmla="val 7812"/>
                </a:avLst>
              </a:prstGeom>
              <a:solidFill>
                <a:schemeClr val="lt1">
                  <a:alpha val="74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grpSp>
            <p:nvGrpSpPr>
              <p:cNvPr id="52" name="Group 52"/>
              <p:cNvGrpSpPr/>
              <p:nvPr/>
            </p:nvGrpSpPr>
            <p:grpSpPr>
              <a:xfrm>
                <a:off x="9305925" y="2543175"/>
                <a:ext cx="285751" cy="285751"/>
                <a:chOff x="9305925" y="2543175"/>
                <a:chExt cx="285751" cy="285751"/>
              </a:xfrm>
            </p:grpSpPr>
            <p:sp>
              <p:nvSpPr>
                <p:cNvPr id="49" name="Freeform 49"/>
                <p:cNvSpPr/>
                <p:nvPr/>
              </p:nvSpPr>
              <p:spPr>
                <a:xfrm>
                  <a:off x="9432925" y="2670175"/>
                  <a:ext cx="31750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31750">
                      <a:moveTo>
                        <a:pt x="0" y="15875"/>
                      </a:moveTo>
                      <a:cubicBezTo>
                        <a:pt x="0" y="24643"/>
                        <a:pt x="7107" y="31750"/>
                        <a:pt x="15875" y="31750"/>
                      </a:cubicBezTo>
                      <a:cubicBezTo>
                        <a:pt x="24643" y="31750"/>
                        <a:pt x="31750" y="24643"/>
                        <a:pt x="31750" y="15875"/>
                      </a:cubicBezTo>
                      <a:cubicBezTo>
                        <a:pt x="31750" y="7107"/>
                        <a:pt x="24643" y="0"/>
                        <a:pt x="15875" y="0"/>
                      </a:cubicBezTo>
                      <a:cubicBezTo>
                        <a:pt x="7107" y="0"/>
                        <a:pt x="0" y="7107"/>
                        <a:pt x="0" y="15875"/>
                      </a:cubicBez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9369425" y="2606675"/>
                  <a:ext cx="158750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0" h="158750">
                      <a:moveTo>
                        <a:pt x="0" y="79375"/>
                      </a:moveTo>
                      <a:cubicBezTo>
                        <a:pt x="0" y="123213"/>
                        <a:pt x="35537" y="158750"/>
                        <a:pt x="79375" y="158750"/>
                      </a:cubicBezTo>
                      <a:cubicBezTo>
                        <a:pt x="123213" y="158750"/>
                        <a:pt x="158750" y="123213"/>
                        <a:pt x="158750" y="79375"/>
                      </a:cubicBezTo>
                      <a:cubicBezTo>
                        <a:pt x="158750" y="35537"/>
                        <a:pt x="123213" y="0"/>
                        <a:pt x="79375" y="0"/>
                      </a:cubicBezTo>
                      <a:cubicBezTo>
                        <a:pt x="35537" y="0"/>
                        <a:pt x="0" y="35537"/>
                        <a:pt x="0" y="79375"/>
                      </a:cubicBez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9305925" y="2543175"/>
                  <a:ext cx="285751" cy="285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285751">
                      <a:moveTo>
                        <a:pt x="0" y="142875"/>
                      </a:moveTo>
                      <a:cubicBezTo>
                        <a:pt x="0" y="221783"/>
                        <a:pt x="63967" y="285751"/>
                        <a:pt x="142875" y="285751"/>
                      </a:cubicBezTo>
                      <a:cubicBezTo>
                        <a:pt x="221783" y="285751"/>
                        <a:pt x="285751" y="221783"/>
                        <a:pt x="285751" y="142875"/>
                      </a:cubicBezTo>
                      <a:cubicBezTo>
                        <a:pt x="285751" y="63967"/>
                        <a:pt x="221783" y="0"/>
                        <a:pt x="142875" y="0"/>
                      </a:cubicBezTo>
                      <a:cubicBezTo>
                        <a:pt x="63967" y="0"/>
                        <a:pt x="0" y="63967"/>
                        <a:pt x="0" y="142875"/>
                      </a:cubicBez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</p:grpSp>
          <p:sp>
            <p:nvSpPr>
              <p:cNvPr id="53" name="TextBox 53"/>
              <p:cNvSpPr txBox="1"/>
              <p:nvPr/>
            </p:nvSpPr>
            <p:spPr>
              <a:xfrm>
                <a:off x="9249156" y="3006090"/>
                <a:ext cx="98608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LANE 04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247632" y="3316605"/>
                <a:ext cx="150552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决策原因线</a:t>
                </a:r>
              </a:p>
            </p:txBody>
          </p:sp>
          <p:sp>
            <p:nvSpPr>
              <p:cNvPr id="55" name="Line 55"/>
              <p:cNvSpPr/>
              <p:nvPr/>
            </p:nvSpPr>
            <p:spPr>
              <a:xfrm>
                <a:off x="9258300" y="3733800"/>
                <a:ext cx="1905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0" h="9525">
                    <a:moveTo>
                      <a:pt x="0" y="0"/>
                    </a:moveTo>
                    <a:lnTo>
                      <a:pt x="1905000" y="0"/>
                    </a:lnTo>
                  </a:path>
                </a:pathLst>
              </a:custGeom>
              <a:noFill/>
              <a:ln w="9525">
                <a:solidFill>
                  <a:schemeClr val="accent3">
                    <a:alpha val="40000"/>
                  </a:schemeClr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9250680" y="393382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痛点驱动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9250680" y="423862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成本认知驱动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9250680" y="4543425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数据说话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9250680" y="4848225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偏好小步交付</a:t>
                </a: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755142" y="6362700"/>
            <a:ext cx="10674858" cy="365951"/>
            <a:chOff x="755142" y="6362700"/>
            <a:chExt cx="10674858" cy="365951"/>
          </a:xfrm>
        </p:grpSpPr>
        <p:sp>
          <p:nvSpPr>
            <p:cNvPr id="62" name="Line 62"/>
            <p:cNvSpPr/>
            <p:nvPr/>
          </p:nvSpPr>
          <p:spPr>
            <a:xfrm>
              <a:off x="762000" y="63627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55142" y="64646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恩特小助手 · 版本演进时间线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CE6F5"/>
            </a:gs>
            <a:gs pos="55000">
              <a:srgbClr val="EEF3FA"/>
            </a:gs>
            <a:gs pos="100000">
              <a:schemeClr val="lt1"/>
            </a:gs>
          </a:gsLst>
          <a:path path="circle">
            <a:fillToRect l="50000" t="40000" r="50000" b="6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5998" y="673418"/>
            <a:ext cx="10632929" cy="783717"/>
            <a:chOff x="745998" y="673418"/>
            <a:chExt cx="10632929" cy="783717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673418"/>
              <a:ext cx="19627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ORIGIN · 为什么做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998" y="841058"/>
              <a:ext cx="455134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起点 · 一个真实的痛点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56392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20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676400"/>
            <a:ext cx="5334000" cy="2095500"/>
            <a:chOff x="762000" y="1676400"/>
            <a:chExt cx="5334000" cy="2095500"/>
          </a:xfrm>
        </p:grpSpPr>
        <p:sp>
          <p:nvSpPr>
            <p:cNvPr id="6" name="Rectangle 6"/>
            <p:cNvSpPr/>
            <p:nvPr/>
          </p:nvSpPr>
          <p:spPr>
            <a:xfrm>
              <a:off x="762000" y="1676400"/>
              <a:ext cx="5334000" cy="2095500"/>
            </a:xfrm>
            <a:prstGeom prst="roundRect">
              <a:avLst>
                <a:gd name="adj" fmla="val 9091"/>
              </a:avLst>
            </a:prstGeom>
            <a:solidFill>
              <a:schemeClr val="lt1">
                <a:alpha val="74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10" name="Group 10"/>
            <p:cNvGrpSpPr/>
            <p:nvPr/>
          </p:nvGrpSpPr>
          <p:grpSpPr>
            <a:xfrm>
              <a:off x="1059099" y="1985451"/>
              <a:ext cx="320191" cy="275086"/>
              <a:chOff x="1059099" y="1985451"/>
              <a:chExt cx="320191" cy="27508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219200" y="208597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59099" y="1985451"/>
                <a:ext cx="320191" cy="275086"/>
              </a:xfrm>
              <a:custGeom>
                <a:avLst/>
                <a:gdLst/>
                <a:ahLst/>
                <a:cxnLst/>
                <a:rect l="l" t="t" r="r" b="b"/>
                <a:pathLst>
                  <a:path w="320191" h="275086">
                    <a:moveTo>
                      <a:pt x="134114" y="14656"/>
                    </a:moveTo>
                    <a:lnTo>
                      <a:pt x="5431" y="229509"/>
                    </a:lnTo>
                    <a:cubicBezTo>
                      <a:pt x="33" y="238857"/>
                      <a:pt x="0" y="250368"/>
                      <a:pt x="5345" y="259747"/>
                    </a:cubicBezTo>
                    <a:cubicBezTo>
                      <a:pt x="10689" y="269126"/>
                      <a:pt x="20608" y="274965"/>
                      <a:pt x="31403" y="275086"/>
                    </a:cubicBezTo>
                    <a:lnTo>
                      <a:pt x="288800" y="275086"/>
                    </a:lnTo>
                    <a:cubicBezTo>
                      <a:pt x="299590" y="274962"/>
                      <a:pt x="309504" y="269125"/>
                      <a:pt x="314847" y="259751"/>
                    </a:cubicBezTo>
                    <a:cubicBezTo>
                      <a:pt x="320191" y="250377"/>
                      <a:pt x="320162" y="238872"/>
                      <a:pt x="314772" y="229525"/>
                    </a:cubicBezTo>
                    <a:lnTo>
                      <a:pt x="186089" y="14640"/>
                    </a:lnTo>
                    <a:cubicBezTo>
                      <a:pt x="180583" y="5552"/>
                      <a:pt x="170728" y="0"/>
                      <a:pt x="160102" y="0"/>
                    </a:cubicBezTo>
                    <a:cubicBezTo>
                      <a:pt x="149475" y="0"/>
                      <a:pt x="139620" y="5552"/>
                      <a:pt x="134114" y="1464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19200" y="219710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018794" y="2456498"/>
              <a:ext cx="27761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工程师检测遇报错代码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0318" y="2850832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需要秒级查询错误类型、原因、解决方案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0318" y="3193732"/>
              <a:ext cx="45463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数据源：PCS 参数表 133 条故障 + 标准 PDF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1080" y="3476625"/>
              <a:ext cx="30236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恩特能源 · PCS 储能变流器企业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62700" y="1676400"/>
            <a:ext cx="5067300" cy="2106739"/>
            <a:chOff x="6362700" y="1676400"/>
            <a:chExt cx="5067300" cy="2106739"/>
          </a:xfrm>
        </p:grpSpPr>
        <p:sp>
          <p:nvSpPr>
            <p:cNvPr id="16" name="Rectangle 16"/>
            <p:cNvSpPr/>
            <p:nvPr/>
          </p:nvSpPr>
          <p:spPr>
            <a:xfrm>
              <a:off x="6362700" y="1676400"/>
              <a:ext cx="5067300" cy="2095500"/>
            </a:xfrm>
            <a:prstGeom prst="roundRect">
              <a:avLst>
                <a:gd name="adj" fmla="val 9091"/>
              </a:avLst>
            </a:prstGeom>
            <a:solidFill>
              <a:schemeClr val="lt1">
                <a:alpha val="74000"/>
              </a:schemeClr>
            </a:solidFill>
            <a:ln w="15240">
              <a:solidFill>
                <a:schemeClr val="accent2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20" name="Group 20"/>
            <p:cNvGrpSpPr/>
            <p:nvPr/>
          </p:nvGrpSpPr>
          <p:grpSpPr>
            <a:xfrm>
              <a:off x="6677025" y="1990725"/>
              <a:ext cx="285751" cy="285751"/>
              <a:chOff x="6677025" y="1990725"/>
              <a:chExt cx="285751" cy="285751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804025" y="21177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740525" y="2054225"/>
                <a:ext cx="158750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158750">
                    <a:moveTo>
                      <a:pt x="0" y="79375"/>
                    </a:moveTo>
                    <a:cubicBezTo>
                      <a:pt x="0" y="123213"/>
                      <a:pt x="35537" y="158750"/>
                      <a:pt x="79375" y="158750"/>
                    </a:cubicBezTo>
                    <a:cubicBezTo>
                      <a:pt x="123213" y="158750"/>
                      <a:pt x="158750" y="123213"/>
                      <a:pt x="158750" y="79375"/>
                    </a:cubicBezTo>
                    <a:cubicBezTo>
                      <a:pt x="158750" y="35537"/>
                      <a:pt x="123213" y="0"/>
                      <a:pt x="79375" y="0"/>
                    </a:cubicBezTo>
                    <a:cubicBezTo>
                      <a:pt x="35537" y="0"/>
                      <a:pt x="0" y="35537"/>
                      <a:pt x="0" y="79375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677025" y="19907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6619494" y="2456498"/>
              <a:ext cx="46918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三步走计划 · 2026-07-01 与胡总敲定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21018" y="2850832"/>
              <a:ext cx="45258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第一步　智能快速查询 + 标准检索 + 通用聊天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21018" y="3193732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第二步　项目经验全流程沉淀与复用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21018" y="3460432"/>
              <a:ext cx="26336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第三步　AI 辅助研发探索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4000500"/>
            <a:ext cx="10668000" cy="1769745"/>
            <a:chOff x="762000" y="4000500"/>
            <a:chExt cx="10668000" cy="1769745"/>
          </a:xfrm>
        </p:grpSpPr>
        <p:sp>
          <p:nvSpPr>
            <p:cNvPr id="26" name="Rectangle 26"/>
            <p:cNvSpPr/>
            <p:nvPr/>
          </p:nvSpPr>
          <p:spPr>
            <a:xfrm>
              <a:off x="762000" y="4000500"/>
              <a:ext cx="10668000" cy="1714500"/>
            </a:xfrm>
            <a:prstGeom prst="roundRect">
              <a:avLst>
                <a:gd name="adj" fmla="val 11111"/>
              </a:avLst>
            </a:prstGeom>
            <a:solidFill>
              <a:schemeClr val="lt1">
                <a:alpha val="70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sp>
          <p:nvSpPr>
            <p:cNvPr id="27" name="Freeform 27"/>
            <p:cNvSpPr/>
            <p:nvPr/>
          </p:nvSpPr>
          <p:spPr>
            <a:xfrm>
              <a:off x="1108075" y="4314825"/>
              <a:ext cx="222250" cy="285751"/>
            </a:xfrm>
            <a:custGeom>
              <a:avLst/>
              <a:gdLst/>
              <a:ahLst/>
              <a:cxnLst/>
              <a:rect l="l" t="t" r="r" b="b"/>
              <a:pathLst>
                <a:path w="222250" h="285751">
                  <a:moveTo>
                    <a:pt x="127000" y="0"/>
                  </a:moveTo>
                  <a:lnTo>
                    <a:pt x="127000" y="111125"/>
                  </a:lnTo>
                  <a:lnTo>
                    <a:pt x="222250" y="111125"/>
                  </a:lnTo>
                  <a:lnTo>
                    <a:pt x="95250" y="285751"/>
                  </a:lnTo>
                  <a:lnTo>
                    <a:pt x="95250" y="174625"/>
                  </a:lnTo>
                  <a:lnTo>
                    <a:pt x="0" y="174625"/>
                  </a:lnTo>
                  <a:lnTo>
                    <a:pt x="127000" y="0"/>
                  </a:lnTo>
                </a:path>
              </a:pathLst>
            </a:custGeom>
            <a:noFill/>
            <a:ln w="31750">
              <a:solidFill>
                <a:schemeClr val="accent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18032" y="47644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为什么值得做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9556" y="5196840"/>
              <a:ext cx="75543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把工程师从「翻手册查代码」里解放出来——</a:t>
              </a:r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一个内部工具，服务全公司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1080" y="547687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 个月窗口 · 面向中小企业 · 量力而行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55142" y="6172200"/>
            <a:ext cx="10674858" cy="365951"/>
            <a:chOff x="755142" y="6172200"/>
            <a:chExt cx="10674858" cy="365951"/>
          </a:xfrm>
        </p:grpSpPr>
        <p:sp>
          <p:nvSpPr>
            <p:cNvPr id="32" name="Line 32"/>
            <p:cNvSpPr/>
            <p:nvPr/>
          </p:nvSpPr>
          <p:spPr>
            <a:xfrm>
              <a:off x="762000" y="6172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5142" y="62741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恩特小助手 · 版本演进时间线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CE6F5"/>
            </a:gs>
            <a:gs pos="55000">
              <a:srgbClr val="EEF3FA"/>
            </a:gs>
            <a:gs pos="100000">
              <a:schemeClr val="lt1"/>
            </a:gs>
          </a:gsLst>
          <a:path path="circle">
            <a:fillToRect l="50000" t="40000" r="50000" b="6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5998" y="673418"/>
            <a:ext cx="10632929" cy="783717"/>
            <a:chOff x="745998" y="673418"/>
            <a:chExt cx="10632929" cy="783717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673418"/>
              <a:ext cx="18850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STAGE 01 · v1.0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998" y="841058"/>
              <a:ext cx="321558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诞生 · 故障查询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56392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 / 20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52856" y="1501140"/>
            <a:ext cx="3325901" cy="352044"/>
            <a:chOff x="752856" y="1501140"/>
            <a:chExt cx="3325901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752856" y="1501140"/>
              <a:ext cx="33259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2026-07-09 · 第一版正式上线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962150"/>
            <a:ext cx="5334000" cy="2857500"/>
            <a:chOff x="762000" y="1962150"/>
            <a:chExt cx="5334000" cy="2857500"/>
          </a:xfrm>
        </p:grpSpPr>
        <p:sp>
          <p:nvSpPr>
            <p:cNvPr id="8" name="Rectangle 8"/>
            <p:cNvSpPr/>
            <p:nvPr/>
          </p:nvSpPr>
          <p:spPr>
            <a:xfrm>
              <a:off x="762000" y="1962150"/>
              <a:ext cx="5334000" cy="2857500"/>
            </a:xfrm>
            <a:prstGeom prst="roundRect">
              <a:avLst>
                <a:gd name="adj" fmla="val 6667"/>
              </a:avLst>
            </a:prstGeom>
            <a:solidFill>
              <a:schemeClr val="lt1">
                <a:alpha val="74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12" name="Group 12"/>
            <p:cNvGrpSpPr/>
            <p:nvPr/>
          </p:nvGrpSpPr>
          <p:grpSpPr>
            <a:xfrm>
              <a:off x="1087186" y="2292350"/>
              <a:ext cx="259015" cy="259014"/>
              <a:chOff x="1087186" y="2292350"/>
              <a:chExt cx="259015" cy="25901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92200" y="2292350"/>
                <a:ext cx="254001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254001">
                    <a:moveTo>
                      <a:pt x="0" y="142875"/>
                    </a:moveTo>
                    <a:cubicBezTo>
                      <a:pt x="58264" y="149800"/>
                      <a:pt x="104201" y="195736"/>
                      <a:pt x="111125" y="254001"/>
                    </a:cubicBezTo>
                    <a:cubicBezTo>
                      <a:pt x="139654" y="237553"/>
                      <a:pt x="157663" y="207537"/>
                      <a:pt x="158750" y="174625"/>
                    </a:cubicBezTo>
                    <a:cubicBezTo>
                      <a:pt x="213262" y="155449"/>
                      <a:pt x="250854" y="105325"/>
                      <a:pt x="254001" y="47625"/>
                    </a:cubicBezTo>
                    <a:cubicBezTo>
                      <a:pt x="254001" y="21322"/>
                      <a:pt x="232678" y="0"/>
                      <a:pt x="206375" y="0"/>
                    </a:cubicBezTo>
                    <a:cubicBezTo>
                      <a:pt x="148675" y="3146"/>
                      <a:pt x="98551" y="40739"/>
                      <a:pt x="79375" y="95250"/>
                    </a:cubicBezTo>
                    <a:cubicBezTo>
                      <a:pt x="46463" y="96337"/>
                      <a:pt x="16447" y="11434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7186" y="2451100"/>
                <a:ext cx="100264" cy="100264"/>
              </a:xfrm>
              <a:custGeom>
                <a:avLst/>
                <a:gdLst/>
                <a:ahLst/>
                <a:cxnLst/>
                <a:rect l="l" t="t" r="r" b="b"/>
                <a:pathLst>
                  <a:path w="100264" h="100264">
                    <a:moveTo>
                      <a:pt x="52639" y="0"/>
                    </a:moveTo>
                    <a:cubicBezTo>
                      <a:pt x="18840" y="19081"/>
                      <a:pt x="0" y="56762"/>
                      <a:pt x="5014" y="95250"/>
                    </a:cubicBezTo>
                    <a:cubicBezTo>
                      <a:pt x="43502" y="100264"/>
                      <a:pt x="81183" y="81424"/>
                      <a:pt x="100264" y="47625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250950" y="2355850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018794" y="272319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做了什么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0318" y="3174682"/>
              <a:ext cx="43351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PCS 故障代码精确匹配（不调 LLM 秒回）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0318" y="3498532"/>
              <a:ext cx="36055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Chroma 语义搜索（bge-small-zh）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0318" y="3822382"/>
              <a:ext cx="37054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钉钉 Stream 模式机器人 + Web 页面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0318" y="4146232"/>
              <a:ext cx="30487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通用聊天托底 + 云服务器 7×24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362700" y="1962150"/>
            <a:ext cx="5067300" cy="2857500"/>
            <a:chOff x="6362700" y="1962150"/>
            <a:chExt cx="5067300" cy="2857500"/>
          </a:xfrm>
        </p:grpSpPr>
        <p:sp>
          <p:nvSpPr>
            <p:cNvPr id="19" name="Rectangle 19"/>
            <p:cNvSpPr/>
            <p:nvPr/>
          </p:nvSpPr>
          <p:spPr>
            <a:xfrm>
              <a:off x="6362700" y="1962150"/>
              <a:ext cx="5067300" cy="2857500"/>
            </a:xfrm>
            <a:prstGeom prst="roundRect">
              <a:avLst>
                <a:gd name="adj" fmla="val 6667"/>
              </a:avLst>
            </a:prstGeom>
            <a:solidFill>
              <a:schemeClr val="lt1">
                <a:alpha val="74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26" name="Group 26"/>
            <p:cNvGrpSpPr/>
            <p:nvPr/>
          </p:nvGrpSpPr>
          <p:grpSpPr>
            <a:xfrm>
              <a:off x="6677025" y="2276475"/>
              <a:ext cx="285751" cy="285750"/>
              <a:chOff x="6677025" y="2276475"/>
              <a:chExt cx="285751" cy="28575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819900" y="2435225"/>
                <a:ext cx="1111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27000">
                    <a:moveTo>
                      <a:pt x="55563" y="0"/>
                    </a:moveTo>
                    <a:cubicBezTo>
                      <a:pt x="24876" y="0"/>
                      <a:pt x="0" y="24876"/>
                      <a:pt x="0" y="55563"/>
                    </a:cubicBezTo>
                    <a:lnTo>
                      <a:pt x="0" y="71438"/>
                    </a:lnTo>
                    <a:cubicBezTo>
                      <a:pt x="0" y="102124"/>
                      <a:pt x="24876" y="127000"/>
                      <a:pt x="55563" y="127000"/>
                    </a:cubicBezTo>
                    <a:cubicBezTo>
                      <a:pt x="86249" y="127000"/>
                      <a:pt x="111125" y="102124"/>
                      <a:pt x="111125" y="71438"/>
                    </a:cubicBezTo>
                    <a:lnTo>
                      <a:pt x="111125" y="42863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708775" y="2435225"/>
                <a:ext cx="1111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27000">
                    <a:moveTo>
                      <a:pt x="55563" y="0"/>
                    </a:moveTo>
                    <a:cubicBezTo>
                      <a:pt x="86249" y="0"/>
                      <a:pt x="111125" y="24876"/>
                      <a:pt x="111125" y="55563"/>
                    </a:cubicBezTo>
                    <a:lnTo>
                      <a:pt x="111125" y="71438"/>
                    </a:lnTo>
                    <a:cubicBezTo>
                      <a:pt x="111125" y="102124"/>
                      <a:pt x="86249" y="127000"/>
                      <a:pt x="55563" y="127000"/>
                    </a:cubicBezTo>
                    <a:cubicBezTo>
                      <a:pt x="24876" y="127000"/>
                      <a:pt x="0" y="102124"/>
                      <a:pt x="0" y="71438"/>
                    </a:cubicBezTo>
                    <a:lnTo>
                      <a:pt x="0" y="42863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899276" y="2371725"/>
                <a:ext cx="6350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11125">
                    <a:moveTo>
                      <a:pt x="7938" y="111125"/>
                    </a:moveTo>
                    <a:cubicBezTo>
                      <a:pt x="38624" y="111125"/>
                      <a:pt x="63500" y="86249"/>
                      <a:pt x="63500" y="55563"/>
                    </a:cubicBezTo>
                    <a:cubicBezTo>
                      <a:pt x="63500" y="24876"/>
                      <a:pt x="38624" y="0"/>
                      <a:pt x="7938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819900" y="2276475"/>
                <a:ext cx="1111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00013">
                    <a:moveTo>
                      <a:pt x="111125" y="100013"/>
                    </a:moveTo>
                    <a:lnTo>
                      <a:pt x="111125" y="55563"/>
                    </a:lnTo>
                    <a:cubicBezTo>
                      <a:pt x="111125" y="24876"/>
                      <a:pt x="86249" y="0"/>
                      <a:pt x="55563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677025" y="2371725"/>
                <a:ext cx="6350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11125">
                    <a:moveTo>
                      <a:pt x="55563" y="111125"/>
                    </a:moveTo>
                    <a:cubicBezTo>
                      <a:pt x="24876" y="111125"/>
                      <a:pt x="0" y="86249"/>
                      <a:pt x="0" y="55563"/>
                    </a:cubicBezTo>
                    <a:cubicBezTo>
                      <a:pt x="0" y="24876"/>
                      <a:pt x="24876" y="0"/>
                      <a:pt x="55563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708775" y="2276475"/>
                <a:ext cx="111125" cy="214313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214313">
                    <a:moveTo>
                      <a:pt x="0" y="100013"/>
                    </a:moveTo>
                    <a:lnTo>
                      <a:pt x="0" y="55563"/>
                    </a:lnTo>
                    <a:cubicBezTo>
                      <a:pt x="0" y="24876"/>
                      <a:pt x="24876" y="0"/>
                      <a:pt x="55563" y="0"/>
                    </a:cubicBezTo>
                    <a:cubicBezTo>
                      <a:pt x="86249" y="0"/>
                      <a:pt x="111125" y="24876"/>
                      <a:pt x="111125" y="55563"/>
                    </a:cubicBezTo>
                    <a:lnTo>
                      <a:pt x="111125" y="214313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619494" y="27231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学到的新知识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21018" y="3174682"/>
              <a:ext cx="44994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RAG 两级查询：精确码不调 LLM，语义兜底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21018" y="3498532"/>
              <a:ext cx="4041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Stream 模式 = 主动连钉钉，零部署成本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21018" y="382238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技能注册中心 @register，避免硬编码路由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21780" y="4162425"/>
              <a:ext cx="3482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不需要公网 IP / 防火墙 / SSL / 域名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2000" y="5010150"/>
            <a:ext cx="10668000" cy="868489"/>
            <a:chOff x="762000" y="5010150"/>
            <a:chExt cx="10668000" cy="868489"/>
          </a:xfrm>
        </p:grpSpPr>
        <p:sp>
          <p:nvSpPr>
            <p:cNvPr id="33" name="Rectangle 33"/>
            <p:cNvSpPr/>
            <p:nvPr/>
          </p:nvSpPr>
          <p:spPr>
            <a:xfrm>
              <a:off x="762000" y="5010150"/>
              <a:ext cx="10668000" cy="800100"/>
            </a:xfrm>
            <a:prstGeom prst="roundRect">
              <a:avLst>
                <a:gd name="adj" fmla="val 21429"/>
              </a:avLst>
            </a:prstGeom>
            <a:solidFill>
              <a:schemeClr val="lt1">
                <a:alpha val="78000"/>
              </a:schemeClr>
            </a:solidFill>
            <a:ln w="17145">
              <a:solidFill>
                <a:schemeClr val="accent2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36" name="Group 36"/>
            <p:cNvGrpSpPr/>
            <p:nvPr/>
          </p:nvGrpSpPr>
          <p:grpSpPr>
            <a:xfrm>
              <a:off x="1071562" y="5262562"/>
              <a:ext cx="257175" cy="257175"/>
              <a:chOff x="1071562" y="5262562"/>
              <a:chExt cx="257175" cy="25717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1171575" y="5262562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157162" y="157162"/>
                    </a:moveTo>
                    <a:lnTo>
                      <a:pt x="114300" y="114300"/>
                    </a:lnTo>
                    <a:lnTo>
                      <a:pt x="14288" y="114300"/>
                    </a:lnTo>
                    <a:cubicBezTo>
                      <a:pt x="6397" y="114300"/>
                      <a:pt x="0" y="107903"/>
                      <a:pt x="0" y="100012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142875" y="0"/>
                    </a:lnTo>
                    <a:cubicBezTo>
                      <a:pt x="150766" y="0"/>
                      <a:pt x="157162" y="6397"/>
                      <a:pt x="157162" y="14288"/>
                    </a:cubicBezTo>
                    <a:lnTo>
                      <a:pt x="157162" y="157162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71562" y="5362575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157162" y="71438"/>
                    </a:moveTo>
                    <a:lnTo>
                      <a:pt x="157162" y="100012"/>
                    </a:lnTo>
                    <a:cubicBezTo>
                      <a:pt x="157162" y="107903"/>
                      <a:pt x="150766" y="114300"/>
                      <a:pt x="142875" y="114300"/>
                    </a:cubicBezTo>
                    <a:lnTo>
                      <a:pt x="42862" y="114300"/>
                    </a:lnTo>
                    <a:lnTo>
                      <a:pt x="0" y="157162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42862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552956" y="5292090"/>
              <a:ext cx="2574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💬 同事 7/3 实测反馈：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53718" y="5555932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「只查故障码太单一」→ 想要经验查询 + 集成钉钉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54380" y="6124575"/>
            <a:ext cx="6768084" cy="293370"/>
            <a:chOff x="754380" y="6124575"/>
            <a:chExt cx="6768084" cy="293370"/>
          </a:xfrm>
        </p:grpSpPr>
        <p:sp>
          <p:nvSpPr>
            <p:cNvPr id="40" name="TextBox 40"/>
            <p:cNvSpPr txBox="1"/>
            <p:nvPr/>
          </p:nvSpPr>
          <p:spPr>
            <a:xfrm>
              <a:off x="754380" y="6124575"/>
              <a:ext cx="6768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⭐ 核心认知：能本地匹配就不调 API——省时间省钱，贯穿了后续所有版本</a:t>
              </a:r>
            </a:p>
          </p:txBody>
        </p:sp>
      </p:grpSp>
      <p:sp>
        <p:nvSpPr>
          <p:cNvPr id="42" name="Line 42"/>
          <p:cNvSpPr/>
          <p:nvPr/>
        </p:nvSpPr>
        <p:spPr>
          <a:xfrm>
            <a:off x="762000" y="64389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3">
                <a:alpha val="30000"/>
              </a:schemeClr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CE6F5"/>
            </a:gs>
            <a:gs pos="55000">
              <a:srgbClr val="EEF3FA"/>
            </a:gs>
            <a:gs pos="100000">
              <a:schemeClr val="lt1"/>
            </a:gs>
          </a:gsLst>
          <a:path path="circle">
            <a:fillToRect l="50000" t="40000" r="50000" b="6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5998" y="673418"/>
            <a:ext cx="10632929" cy="783717"/>
            <a:chOff x="745998" y="673418"/>
            <a:chExt cx="10632929" cy="783717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673418"/>
              <a:ext cx="18850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STAGE 02 · v1.1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998" y="841058"/>
              <a:ext cx="506843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从规则路由到 RAG Agent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56392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 / 20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52856" y="1501140"/>
            <a:ext cx="3865717" cy="352044"/>
            <a:chOff x="752856" y="1501140"/>
            <a:chExt cx="3865717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752856" y="1501140"/>
              <a:ext cx="38657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2026-07-09 · 从查询工具到 Agent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962150"/>
            <a:ext cx="5334000" cy="2781300"/>
            <a:chOff x="762000" y="1962150"/>
            <a:chExt cx="5334000" cy="2781300"/>
          </a:xfrm>
        </p:grpSpPr>
        <p:sp>
          <p:nvSpPr>
            <p:cNvPr id="8" name="Rectangle 8"/>
            <p:cNvSpPr/>
            <p:nvPr/>
          </p:nvSpPr>
          <p:spPr>
            <a:xfrm>
              <a:off x="762000" y="1962150"/>
              <a:ext cx="5334000" cy="2781300"/>
            </a:xfrm>
            <a:prstGeom prst="roundRect">
              <a:avLst>
                <a:gd name="adj" fmla="val 6849"/>
              </a:avLst>
            </a:prstGeom>
            <a:solidFill>
              <a:schemeClr val="lt1">
                <a:alpha val="72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sp>
          <p:nvSpPr>
            <p:cNvPr id="9" name="TextBox 9"/>
            <p:cNvSpPr txBox="1"/>
            <p:nvPr/>
          </p:nvSpPr>
          <p:spPr>
            <a:xfrm>
              <a:off x="1018794" y="2170748"/>
              <a:ext cx="226623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改造前 · 规则路由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0318" y="2641282"/>
              <a:ext cx="27599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22 个关键词 if-else 硬路由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0318" y="2965132"/>
              <a:ext cx="42764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不知道知识库存在，两条路互不知晓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0318" y="32889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无记忆、无循环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62700" y="1962150"/>
            <a:ext cx="5067300" cy="2781300"/>
            <a:chOff x="6362700" y="1962150"/>
            <a:chExt cx="5067300" cy="2781300"/>
          </a:xfrm>
        </p:grpSpPr>
        <p:sp>
          <p:nvSpPr>
            <p:cNvPr id="14" name="Rectangle 14"/>
            <p:cNvSpPr/>
            <p:nvPr/>
          </p:nvSpPr>
          <p:spPr>
            <a:xfrm>
              <a:off x="6362700" y="1962150"/>
              <a:ext cx="5067300" cy="2781300"/>
            </a:xfrm>
            <a:prstGeom prst="roundRect">
              <a:avLst>
                <a:gd name="adj" fmla="val 6849"/>
              </a:avLst>
            </a:prstGeom>
            <a:solidFill>
              <a:schemeClr val="lt1">
                <a:alpha val="76000"/>
              </a:schemeClr>
            </a:solidFill>
            <a:ln w="15240">
              <a:solidFill>
                <a:schemeClr val="accent2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6619494" y="2170748"/>
              <a:ext cx="252821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改造后 · RAG Agent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21018" y="2641282"/>
              <a:ext cx="37290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DeepSeek Function Calling 自主决策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21018" y="2965132"/>
              <a:ext cx="45816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精确故障码保留快速通道（不调 LLM 秒回）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21018" y="3288982"/>
              <a:ext cx="40714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聊天托底合并进 Agent（本质是一回事）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4933950"/>
            <a:ext cx="10668000" cy="855345"/>
            <a:chOff x="762000" y="4933950"/>
            <a:chExt cx="10668000" cy="855345"/>
          </a:xfrm>
        </p:grpSpPr>
        <p:sp>
          <p:nvSpPr>
            <p:cNvPr id="20" name="Rectangle 20"/>
            <p:cNvSpPr/>
            <p:nvPr/>
          </p:nvSpPr>
          <p:spPr>
            <a:xfrm>
              <a:off x="762000" y="4933950"/>
              <a:ext cx="10668000" cy="838200"/>
            </a:xfrm>
            <a:prstGeom prst="roundRect">
              <a:avLst>
                <a:gd name="adj" fmla="val 20455"/>
              </a:avLst>
            </a:prstGeom>
            <a:solidFill>
              <a:schemeClr val="lt1">
                <a:alpha val="78000"/>
              </a:schemeClr>
            </a:solidFill>
            <a:ln w="17145">
              <a:solidFill>
                <a:schemeClr val="accent2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23" name="Group 23"/>
            <p:cNvGrpSpPr/>
            <p:nvPr/>
          </p:nvGrpSpPr>
          <p:grpSpPr>
            <a:xfrm>
              <a:off x="1071562" y="5186362"/>
              <a:ext cx="257175" cy="257175"/>
              <a:chOff x="1071562" y="5186362"/>
              <a:chExt cx="257175" cy="25717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1171575" y="5186362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157162" y="157162"/>
                    </a:moveTo>
                    <a:lnTo>
                      <a:pt x="114300" y="114300"/>
                    </a:lnTo>
                    <a:lnTo>
                      <a:pt x="14288" y="114300"/>
                    </a:lnTo>
                    <a:cubicBezTo>
                      <a:pt x="6397" y="114300"/>
                      <a:pt x="0" y="107903"/>
                      <a:pt x="0" y="100012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142875" y="0"/>
                    </a:lnTo>
                    <a:cubicBezTo>
                      <a:pt x="150766" y="0"/>
                      <a:pt x="157162" y="6397"/>
                      <a:pt x="157162" y="14288"/>
                    </a:cubicBezTo>
                    <a:lnTo>
                      <a:pt x="157162" y="157162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071562" y="5286375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157162" y="71438"/>
                    </a:moveTo>
                    <a:lnTo>
                      <a:pt x="157162" y="100012"/>
                    </a:lnTo>
                    <a:cubicBezTo>
                      <a:pt x="157162" y="107903"/>
                      <a:pt x="150766" y="114300"/>
                      <a:pt x="142875" y="114300"/>
                    </a:cubicBezTo>
                    <a:lnTo>
                      <a:pt x="42862" y="114300"/>
                    </a:lnTo>
                    <a:lnTo>
                      <a:pt x="0" y="157162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42862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552956" y="5196840"/>
              <a:ext cx="43313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💬 胡总 7/6 追问「是不是标准 Agent」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54480" y="5495925"/>
              <a:ext cx="90403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对比四要素（LLM + 工具 + 记忆 + 循环）→ 规则路由 + 快速通道更适合；技能数 ≥ 3 再值得升级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54380" y="6029325"/>
            <a:ext cx="7813548" cy="293370"/>
            <a:chOff x="754380" y="6029325"/>
            <a:chExt cx="7813548" cy="293370"/>
          </a:xfrm>
        </p:grpSpPr>
        <p:sp>
          <p:nvSpPr>
            <p:cNvPr id="27" name="TextBox 27"/>
            <p:cNvSpPr txBox="1"/>
            <p:nvPr/>
          </p:nvSpPr>
          <p:spPr>
            <a:xfrm>
              <a:off x="754380" y="6029325"/>
              <a:ext cx="7813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统一路由骨架确立：精确走快速通道，模糊由 LLM 决策——后续所有工具能力的基石</a:t>
              </a:r>
            </a:p>
          </p:txBody>
        </p:sp>
      </p:grpSp>
      <p:sp>
        <p:nvSpPr>
          <p:cNvPr id="29" name="Line 29"/>
          <p:cNvSpPr/>
          <p:nvPr/>
        </p:nvSpPr>
        <p:spPr>
          <a:xfrm>
            <a:off x="762000" y="64389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chemeClr val="accent3">
                <a:alpha val="30000"/>
              </a:schemeClr>
            </a:solidFill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CE6F5"/>
            </a:gs>
            <a:gs pos="55000">
              <a:srgbClr val="EEF3FA"/>
            </a:gs>
            <a:gs pos="100000">
              <a:schemeClr val="lt1"/>
            </a:gs>
          </a:gsLst>
          <a:path path="circle">
            <a:fillToRect l="50000" t="40000" r="50000" b="6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5998" y="673418"/>
            <a:ext cx="10632929" cy="783717"/>
            <a:chOff x="745998" y="673418"/>
            <a:chExt cx="10632929" cy="783717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673418"/>
              <a:ext cx="43886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MEMORY EVOLUTION · 记忆系统三次升级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998" y="841058"/>
              <a:ext cx="42841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记忆 1.0 → 2.0 → 3.0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56392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06 / 20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1619250"/>
            <a:ext cx="10477500" cy="2819400"/>
            <a:chOff x="762000" y="1619250"/>
            <a:chExt cx="10477500" cy="2819400"/>
          </a:xfrm>
        </p:grpSpPr>
        <p:grpSp>
          <p:nvGrpSpPr>
            <p:cNvPr id="13" name="Group 13"/>
            <p:cNvGrpSpPr/>
            <p:nvPr/>
          </p:nvGrpSpPr>
          <p:grpSpPr>
            <a:xfrm>
              <a:off x="762000" y="1619250"/>
              <a:ext cx="3390900" cy="2819400"/>
              <a:chOff x="762000" y="1619250"/>
              <a:chExt cx="3390900" cy="28194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762000" y="1619250"/>
                <a:ext cx="3390900" cy="2819400"/>
              </a:xfrm>
              <a:prstGeom prst="roundRect">
                <a:avLst>
                  <a:gd name="adj" fmla="val 6757"/>
                </a:avLst>
              </a:prstGeom>
              <a:solidFill>
                <a:schemeClr val="lt1">
                  <a:alpha val="72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18032" y="1811655"/>
                <a:ext cx="26483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1.0 · v1.1/v1.2.4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19556" y="220599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会话记忆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21080" y="2619375"/>
                <a:ext cx="213554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JSON → SQLite 持久化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21080" y="2924175"/>
                <a:ext cx="164077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记忆去重省 token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021080" y="3228975"/>
                <a:ext cx="19354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WAL + 线程独立连接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21080" y="3533775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用户名绑定记忆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05300" y="1619250"/>
              <a:ext cx="3390900" cy="2819400"/>
              <a:chOff x="4305300" y="1619250"/>
              <a:chExt cx="3390900" cy="28194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305300" y="1619250"/>
                <a:ext cx="3390900" cy="2819400"/>
              </a:xfrm>
              <a:prstGeom prst="roundRect">
                <a:avLst>
                  <a:gd name="adj" fmla="val 6757"/>
                </a:avLst>
              </a:prstGeom>
              <a:solidFill>
                <a:schemeClr val="lt1">
                  <a:alpha val="72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561332" y="1811655"/>
                <a:ext cx="183204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2.0 · v1.5.3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562856" y="2205990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双层记忆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564380" y="2619375"/>
                <a:ext cx="12571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短期窗口 8 轮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564380" y="2924175"/>
                <a:ext cx="29382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LLM 异步压缩成「事实+摘要」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564380" y="3228975"/>
                <a:ext cx="24585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跨会话记得项目/型号/偏好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564380" y="3533775"/>
                <a:ext cx="24384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后台线程压缩、按用户隔离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7848600" y="1619250"/>
              <a:ext cx="3390900" cy="2819400"/>
              <a:chOff x="7848600" y="1619250"/>
              <a:chExt cx="3390900" cy="28194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7848600" y="1619250"/>
                <a:ext cx="3390900" cy="2819400"/>
              </a:xfrm>
              <a:prstGeom prst="roundRect">
                <a:avLst>
                  <a:gd name="adj" fmla="val 6757"/>
                </a:avLst>
              </a:prstGeom>
              <a:solidFill>
                <a:schemeClr val="lt1">
                  <a:alpha val="76000"/>
                </a:schemeClr>
              </a:solidFill>
              <a:ln w="15240">
                <a:solidFill>
                  <a:schemeClr val="accent2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104632" y="1811655"/>
                <a:ext cx="1832042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3.0 · v1.6.2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106156" y="2205990"/>
                <a:ext cx="1699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KV Cache 友好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107680" y="2619375"/>
                <a:ext cx="285235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静态 system + 窗口20批量滚动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107680" y="2924175"/>
                <a:ext cx="16609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命中率 ≈0% → 78%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107680" y="3228975"/>
                <a:ext cx="199415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真实日志稳定 85-98%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07680" y="3533775"/>
                <a:ext cx="18326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动态内容放消息末尾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762000" y="4667250"/>
            <a:ext cx="11180369" cy="912495"/>
            <a:chOff x="762000" y="4667250"/>
            <a:chExt cx="11180369" cy="912495"/>
          </a:xfrm>
        </p:grpSpPr>
        <p:sp>
          <p:nvSpPr>
            <p:cNvPr id="31" name="Rectangle 31"/>
            <p:cNvSpPr/>
            <p:nvPr/>
          </p:nvSpPr>
          <p:spPr>
            <a:xfrm>
              <a:off x="762000" y="4667250"/>
              <a:ext cx="10668000" cy="876300"/>
            </a:xfrm>
            <a:prstGeom prst="roundRect">
              <a:avLst>
                <a:gd name="adj" fmla="val 19565"/>
              </a:avLst>
            </a:prstGeom>
            <a:solidFill>
              <a:schemeClr val="lt1">
                <a:alpha val="78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37" name="Group 37"/>
            <p:cNvGrpSpPr/>
            <p:nvPr/>
          </p:nvGrpSpPr>
          <p:grpSpPr>
            <a:xfrm>
              <a:off x="1071562" y="4920505"/>
              <a:ext cx="266701" cy="208708"/>
              <a:chOff x="1071562" y="4920505"/>
              <a:chExt cx="266701" cy="20870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1071562" y="5106243"/>
                <a:ext cx="257175" cy="2297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970">
                    <a:moveTo>
                      <a:pt x="0" y="22970"/>
                    </a:moveTo>
                    <a:cubicBezTo>
                      <a:pt x="39785" y="0"/>
                      <a:pt x="88802" y="0"/>
                      <a:pt x="128588" y="22970"/>
                    </a:cubicBezTo>
                    <a:cubicBezTo>
                      <a:pt x="168373" y="0"/>
                      <a:pt x="217390" y="0"/>
                      <a:pt x="257175" y="22970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71562" y="4920505"/>
                <a:ext cx="257175" cy="2297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970">
                    <a:moveTo>
                      <a:pt x="0" y="22970"/>
                    </a:moveTo>
                    <a:cubicBezTo>
                      <a:pt x="39785" y="0"/>
                      <a:pt x="88802" y="0"/>
                      <a:pt x="128588" y="22970"/>
                    </a:cubicBezTo>
                    <a:cubicBezTo>
                      <a:pt x="168373" y="0"/>
                      <a:pt x="217390" y="0"/>
                      <a:pt x="257175" y="22970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71562" y="4943475"/>
                <a:ext cx="952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5738">
                    <a:moveTo>
                      <a:pt x="0" y="0"/>
                    </a:moveTo>
                    <a:lnTo>
                      <a:pt x="0" y="185738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200150" y="4943475"/>
                <a:ext cx="952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5738">
                    <a:moveTo>
                      <a:pt x="0" y="0"/>
                    </a:moveTo>
                    <a:lnTo>
                      <a:pt x="0" y="185738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328738" y="4943475"/>
                <a:ext cx="952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5738">
                    <a:moveTo>
                      <a:pt x="0" y="0"/>
                    </a:moveTo>
                    <a:lnTo>
                      <a:pt x="0" y="185738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552956" y="4949190"/>
              <a:ext cx="103894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📚 跨项目学习直接落地：hello-agents ch9 + ai-agent-book ch2 → 上下文工程 5 大差距第 1 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54480" y="5286375"/>
              <a:ext cx="78602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84 组成本模拟支撑「窗口20 + 释放1/2 + 静态 system」决策（比纯成本最优仅差 5%）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54380" y="5838825"/>
            <a:ext cx="8576219" cy="293370"/>
            <a:chOff x="754380" y="5838825"/>
            <a:chExt cx="8576219" cy="293370"/>
          </a:xfrm>
        </p:grpSpPr>
        <p:sp>
          <p:nvSpPr>
            <p:cNvPr id="41" name="TextBox 41"/>
            <p:cNvSpPr txBox="1"/>
            <p:nvPr/>
          </p:nvSpPr>
          <p:spPr>
            <a:xfrm>
              <a:off x="754380" y="5838825"/>
              <a:ext cx="85762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⭐ 根本原因修复：V4 思考型模型压缩挤空 content → 压缩关 thinking + max_tokens 600→1000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55142" y="6324600"/>
            <a:ext cx="10674858" cy="365951"/>
            <a:chOff x="755142" y="6324600"/>
            <a:chExt cx="10674858" cy="365951"/>
          </a:xfrm>
        </p:grpSpPr>
        <p:sp>
          <p:nvSpPr>
            <p:cNvPr id="43" name="Line 43"/>
            <p:cNvSpPr/>
            <p:nvPr/>
          </p:nvSpPr>
          <p:spPr>
            <a:xfrm>
              <a:off x="762000" y="63246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5142" y="64265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恩特小助手 · 版本演进时间线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CE6F5"/>
            </a:gs>
            <a:gs pos="55000">
              <a:srgbClr val="EEF3FA"/>
            </a:gs>
            <a:gs pos="100000">
              <a:schemeClr val="lt1"/>
            </a:gs>
          </a:gsLst>
          <a:path path="circle">
            <a:fillToRect l="50000" t="40000" r="50000" b="6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5998" y="673418"/>
            <a:ext cx="10632929" cy="783717"/>
            <a:chOff x="745998" y="673418"/>
            <a:chExt cx="10632929" cy="783717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673418"/>
              <a:ext cx="2157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STAGE 05 · v1.3.0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998" y="841058"/>
              <a:ext cx="41060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检索升级 · 混合检索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56392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07 / 20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52856" y="1501140"/>
            <a:ext cx="3846881" cy="352044"/>
            <a:chOff x="752856" y="1501140"/>
            <a:chExt cx="3846881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752856" y="1501140"/>
              <a:ext cx="38468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2026-08-03 · 混合检索 + 重排框架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962150"/>
            <a:ext cx="5334000" cy="2781300"/>
            <a:chOff x="762000" y="1962150"/>
            <a:chExt cx="5334000" cy="2781300"/>
          </a:xfrm>
        </p:grpSpPr>
        <p:sp>
          <p:nvSpPr>
            <p:cNvPr id="8" name="Rectangle 8"/>
            <p:cNvSpPr/>
            <p:nvPr/>
          </p:nvSpPr>
          <p:spPr>
            <a:xfrm>
              <a:off x="762000" y="1962150"/>
              <a:ext cx="5334000" cy="2781300"/>
            </a:xfrm>
            <a:prstGeom prst="roundRect">
              <a:avLst>
                <a:gd name="adj" fmla="val 6849"/>
              </a:avLst>
            </a:prstGeom>
            <a:solidFill>
              <a:schemeClr val="lt1">
                <a:alpha val="72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12" name="Group 12"/>
            <p:cNvGrpSpPr/>
            <p:nvPr/>
          </p:nvGrpSpPr>
          <p:grpSpPr>
            <a:xfrm>
              <a:off x="1059099" y="2271201"/>
              <a:ext cx="320191" cy="275086"/>
              <a:chOff x="1059099" y="2271201"/>
              <a:chExt cx="320191" cy="27508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219200" y="237172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59099" y="2271201"/>
                <a:ext cx="320191" cy="275086"/>
              </a:xfrm>
              <a:custGeom>
                <a:avLst/>
                <a:gdLst/>
                <a:ahLst/>
                <a:cxnLst/>
                <a:rect l="l" t="t" r="r" b="b"/>
                <a:pathLst>
                  <a:path w="320191" h="275086">
                    <a:moveTo>
                      <a:pt x="134114" y="14656"/>
                    </a:moveTo>
                    <a:lnTo>
                      <a:pt x="5431" y="229509"/>
                    </a:lnTo>
                    <a:cubicBezTo>
                      <a:pt x="33" y="238857"/>
                      <a:pt x="0" y="250368"/>
                      <a:pt x="5345" y="259747"/>
                    </a:cubicBezTo>
                    <a:cubicBezTo>
                      <a:pt x="10689" y="269126"/>
                      <a:pt x="20608" y="274965"/>
                      <a:pt x="31403" y="275086"/>
                    </a:cubicBezTo>
                    <a:lnTo>
                      <a:pt x="288800" y="275086"/>
                    </a:lnTo>
                    <a:cubicBezTo>
                      <a:pt x="299590" y="274962"/>
                      <a:pt x="309504" y="269125"/>
                      <a:pt x="314847" y="259751"/>
                    </a:cubicBezTo>
                    <a:cubicBezTo>
                      <a:pt x="320191" y="250377"/>
                      <a:pt x="320162" y="238872"/>
                      <a:pt x="314772" y="229525"/>
                    </a:cubicBezTo>
                    <a:lnTo>
                      <a:pt x="186089" y="14640"/>
                    </a:lnTo>
                    <a:cubicBezTo>
                      <a:pt x="180583" y="5552"/>
                      <a:pt x="170728" y="0"/>
                      <a:pt x="160102" y="0"/>
                    </a:cubicBezTo>
                    <a:cubicBezTo>
                      <a:pt x="149475" y="0"/>
                      <a:pt x="139620" y="5552"/>
                      <a:pt x="134114" y="1464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219200" y="24828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018794" y="2723198"/>
              <a:ext cx="571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痛点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0318" y="31746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短关键词检索差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0318" y="3498532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「过压」「硬件」这类两字关键词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0318" y="38223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纯向量检索有噪声，命中不理想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1080" y="43148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用户最痛的点，优先升级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362700" y="1962150"/>
            <a:ext cx="5067300" cy="2781300"/>
            <a:chOff x="6362700" y="1962150"/>
            <a:chExt cx="5067300" cy="2781300"/>
          </a:xfrm>
        </p:grpSpPr>
        <p:sp>
          <p:nvSpPr>
            <p:cNvPr id="19" name="Rectangle 19"/>
            <p:cNvSpPr/>
            <p:nvPr/>
          </p:nvSpPr>
          <p:spPr>
            <a:xfrm>
              <a:off x="6362700" y="1962150"/>
              <a:ext cx="5067300" cy="2781300"/>
            </a:xfrm>
            <a:prstGeom prst="roundRect">
              <a:avLst>
                <a:gd name="adj" fmla="val 6849"/>
              </a:avLst>
            </a:prstGeom>
            <a:solidFill>
              <a:schemeClr val="lt1">
                <a:alpha val="76000"/>
              </a:schemeClr>
            </a:solidFill>
            <a:ln w="15240">
              <a:solidFill>
                <a:schemeClr val="accent2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23" name="Group 23"/>
            <p:cNvGrpSpPr/>
            <p:nvPr/>
          </p:nvGrpSpPr>
          <p:grpSpPr>
            <a:xfrm>
              <a:off x="6692900" y="2276475"/>
              <a:ext cx="254001" cy="285750"/>
              <a:chOff x="6692900" y="2276475"/>
              <a:chExt cx="254001" cy="28575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692900" y="2276475"/>
                <a:ext cx="254001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95250">
                    <a:moveTo>
                      <a:pt x="0" y="47625"/>
                    </a:moveTo>
                    <a:cubicBezTo>
                      <a:pt x="0" y="73928"/>
                      <a:pt x="56860" y="95250"/>
                      <a:pt x="127000" y="95250"/>
                    </a:cubicBezTo>
                    <a:cubicBezTo>
                      <a:pt x="197141" y="95250"/>
                      <a:pt x="254001" y="73928"/>
                      <a:pt x="254001" y="47625"/>
                    </a:cubicBezTo>
                    <a:cubicBezTo>
                      <a:pt x="254001" y="21322"/>
                      <a:pt x="197141" y="0"/>
                      <a:pt x="127000" y="0"/>
                    </a:cubicBezTo>
                    <a:cubicBezTo>
                      <a:pt x="56860" y="0"/>
                      <a:pt x="0" y="21322"/>
                      <a:pt x="0" y="47625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692900" y="2324100"/>
                <a:ext cx="25400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1" y="142875"/>
                      <a:pt x="254001" y="121553"/>
                      <a:pt x="254001" y="95250"/>
                    </a:cubicBez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692900" y="2419350"/>
                <a:ext cx="25400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1" y="142875"/>
                      <a:pt x="254001" y="121553"/>
                      <a:pt x="254001" y="95250"/>
                    </a:cubicBez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6619494" y="2723198"/>
              <a:ext cx="571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21018" y="3174682"/>
              <a:ext cx="23285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向量 + BM25 双路召回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21018" y="3498532"/>
              <a:ext cx="33819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jieba 分词 + rank_bm25 精确字面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21018" y="3822382"/>
              <a:ext cx="3613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RRF 融合排名 + bge-reranker 重排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21780" y="431482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降级链：依赖缺失自动回退，绝不崩溃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2000" y="4933950"/>
            <a:ext cx="10668000" cy="855345"/>
            <a:chOff x="762000" y="4933950"/>
            <a:chExt cx="10668000" cy="855345"/>
          </a:xfrm>
        </p:grpSpPr>
        <p:sp>
          <p:nvSpPr>
            <p:cNvPr id="30" name="Rectangle 30"/>
            <p:cNvSpPr/>
            <p:nvPr/>
          </p:nvSpPr>
          <p:spPr>
            <a:xfrm>
              <a:off x="762000" y="4933950"/>
              <a:ext cx="10668000" cy="838200"/>
            </a:xfrm>
            <a:prstGeom prst="roundRect">
              <a:avLst>
                <a:gd name="adj" fmla="val 20455"/>
              </a:avLst>
            </a:prstGeom>
            <a:solidFill>
              <a:schemeClr val="lt1">
                <a:alpha val="78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36" name="Group 36"/>
            <p:cNvGrpSpPr/>
            <p:nvPr/>
          </p:nvGrpSpPr>
          <p:grpSpPr>
            <a:xfrm>
              <a:off x="1071562" y="5206255"/>
              <a:ext cx="266701" cy="208708"/>
              <a:chOff x="1071562" y="5206255"/>
              <a:chExt cx="266701" cy="208708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1071562" y="5391993"/>
                <a:ext cx="257175" cy="2297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970">
                    <a:moveTo>
                      <a:pt x="0" y="22970"/>
                    </a:moveTo>
                    <a:cubicBezTo>
                      <a:pt x="39785" y="0"/>
                      <a:pt x="88802" y="0"/>
                      <a:pt x="128588" y="22970"/>
                    </a:cubicBezTo>
                    <a:cubicBezTo>
                      <a:pt x="168373" y="0"/>
                      <a:pt x="217390" y="0"/>
                      <a:pt x="257175" y="22970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071562" y="5206255"/>
                <a:ext cx="257175" cy="2297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970">
                    <a:moveTo>
                      <a:pt x="0" y="22970"/>
                    </a:moveTo>
                    <a:cubicBezTo>
                      <a:pt x="39785" y="0"/>
                      <a:pt x="88802" y="0"/>
                      <a:pt x="128588" y="22970"/>
                    </a:cubicBezTo>
                    <a:cubicBezTo>
                      <a:pt x="168373" y="0"/>
                      <a:pt x="217390" y="0"/>
                      <a:pt x="257175" y="22970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71562" y="5229225"/>
                <a:ext cx="952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5738">
                    <a:moveTo>
                      <a:pt x="0" y="0"/>
                    </a:moveTo>
                    <a:lnTo>
                      <a:pt x="0" y="185738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200150" y="5229225"/>
                <a:ext cx="952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5738">
                    <a:moveTo>
                      <a:pt x="0" y="0"/>
                    </a:moveTo>
                    <a:lnTo>
                      <a:pt x="0" y="185738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328738" y="5229225"/>
                <a:ext cx="952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5738">
                    <a:moveTo>
                      <a:pt x="0" y="0"/>
                    </a:moveTo>
                    <a:lnTo>
                      <a:pt x="0" y="185738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552956" y="5196840"/>
              <a:ext cx="91735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📚 从 RAG 开源项目学到：研读 RAG-STARTER / industrial-general-rag / ragflow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54480" y="5495925"/>
              <a:ext cx="6149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不再闭门造车 → 混合检索是第一步，RAGAS 评估/引用溯源列后续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54380" y="6029325"/>
            <a:ext cx="9256014" cy="293370"/>
            <a:chOff x="754380" y="6029325"/>
            <a:chExt cx="9256014" cy="293370"/>
          </a:xfrm>
        </p:grpSpPr>
        <p:sp>
          <p:nvSpPr>
            <p:cNvPr id="40" name="TextBox 40"/>
            <p:cNvSpPr txBox="1"/>
            <p:nvPr/>
          </p:nvSpPr>
          <p:spPr>
            <a:xfrm>
              <a:off x="754380" y="6029325"/>
              <a:ext cx="92560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⭐ 教训：代码就绪 ≠ 功能生效——rerank 模型 1.1GB 下载慢，v1.3.0 仅框架就绪，v1.4.0 才真正启用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55142" y="6324600"/>
            <a:ext cx="10674858" cy="365951"/>
            <a:chOff x="755142" y="6324600"/>
            <a:chExt cx="10674858" cy="365951"/>
          </a:xfrm>
        </p:grpSpPr>
        <p:sp>
          <p:nvSpPr>
            <p:cNvPr id="42" name="Line 42"/>
            <p:cNvSpPr/>
            <p:nvPr/>
          </p:nvSpPr>
          <p:spPr>
            <a:xfrm>
              <a:off x="762000" y="63246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55142" y="64265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恩特小助手 · 版本演进时间线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CE6F5"/>
            </a:gs>
            <a:gs pos="55000">
              <a:srgbClr val="EEF3FA"/>
            </a:gs>
            <a:gs pos="100000">
              <a:schemeClr val="lt1"/>
            </a:gs>
          </a:gsLst>
          <a:path path="circle">
            <a:fillToRect l="50000" t="40000" r="50000" b="6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5998" y="673418"/>
            <a:ext cx="10632929" cy="783717"/>
            <a:chOff x="745998" y="673418"/>
            <a:chExt cx="10632929" cy="783717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673418"/>
              <a:ext cx="2157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STAGE 07 · v1.5.2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998" y="841058"/>
              <a:ext cx="455134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检索的教训 · 数据说话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56392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08 / 20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2000" y="1619250"/>
            <a:ext cx="5334000" cy="2857500"/>
            <a:chOff x="762000" y="1619250"/>
            <a:chExt cx="5334000" cy="2857500"/>
          </a:xfrm>
        </p:grpSpPr>
        <p:sp>
          <p:nvSpPr>
            <p:cNvPr id="6" name="Rectangle 6"/>
            <p:cNvSpPr/>
            <p:nvPr/>
          </p:nvSpPr>
          <p:spPr>
            <a:xfrm>
              <a:off x="762000" y="1619250"/>
              <a:ext cx="5334000" cy="2857500"/>
            </a:xfrm>
            <a:prstGeom prst="roundRect">
              <a:avLst>
                <a:gd name="adj" fmla="val 6667"/>
              </a:avLst>
            </a:prstGeom>
            <a:solidFill>
              <a:schemeClr val="lt1">
                <a:alpha val="72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10" name="Group 10"/>
            <p:cNvGrpSpPr/>
            <p:nvPr/>
          </p:nvGrpSpPr>
          <p:grpSpPr>
            <a:xfrm>
              <a:off x="1059099" y="1928301"/>
              <a:ext cx="320191" cy="275086"/>
              <a:chOff x="1059099" y="1928301"/>
              <a:chExt cx="320191" cy="27508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219200" y="202882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59099" y="1928301"/>
                <a:ext cx="320191" cy="275086"/>
              </a:xfrm>
              <a:custGeom>
                <a:avLst/>
                <a:gdLst/>
                <a:ahLst/>
                <a:cxnLst/>
                <a:rect l="l" t="t" r="r" b="b"/>
                <a:pathLst>
                  <a:path w="320191" h="275086">
                    <a:moveTo>
                      <a:pt x="134114" y="14656"/>
                    </a:moveTo>
                    <a:lnTo>
                      <a:pt x="5431" y="229509"/>
                    </a:lnTo>
                    <a:cubicBezTo>
                      <a:pt x="33" y="238857"/>
                      <a:pt x="0" y="250368"/>
                      <a:pt x="5345" y="259747"/>
                    </a:cubicBezTo>
                    <a:cubicBezTo>
                      <a:pt x="10689" y="269126"/>
                      <a:pt x="20608" y="274965"/>
                      <a:pt x="31403" y="275086"/>
                    </a:cubicBezTo>
                    <a:lnTo>
                      <a:pt x="288800" y="275086"/>
                    </a:lnTo>
                    <a:cubicBezTo>
                      <a:pt x="299590" y="274962"/>
                      <a:pt x="309504" y="269125"/>
                      <a:pt x="314847" y="259751"/>
                    </a:cubicBezTo>
                    <a:cubicBezTo>
                      <a:pt x="320191" y="250377"/>
                      <a:pt x="320162" y="238872"/>
                      <a:pt x="314772" y="229525"/>
                    </a:cubicBezTo>
                    <a:lnTo>
                      <a:pt x="186089" y="14640"/>
                    </a:lnTo>
                    <a:cubicBezTo>
                      <a:pt x="180583" y="5552"/>
                      <a:pt x="170728" y="0"/>
                      <a:pt x="160102" y="0"/>
                    </a:cubicBezTo>
                    <a:cubicBezTo>
                      <a:pt x="149475" y="0"/>
                      <a:pt x="139620" y="5552"/>
                      <a:pt x="134114" y="1464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19200" y="21399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018794" y="2380298"/>
              <a:ext cx="299666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⭐ 降级保护可能掩盖 bug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0318" y="2831782"/>
              <a:ext cx="37706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bge-reranker 静默失效半年没人发现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0318" y="3155632"/>
              <a:ext cx="41809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BM25 候选混入向量池外的 id → KeyError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0318" y="3479482"/>
              <a:ext cx="36040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异常被降级保护吞掉 → 重排从未生效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0318" y="3803332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修复：重排前过滤不在 candidates 的 id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362700" y="1619250"/>
            <a:ext cx="5067300" cy="2857500"/>
            <a:chOff x="6362700" y="1619250"/>
            <a:chExt cx="5067300" cy="2857500"/>
          </a:xfrm>
        </p:grpSpPr>
        <p:sp>
          <p:nvSpPr>
            <p:cNvPr id="17" name="Rectangle 17"/>
            <p:cNvSpPr/>
            <p:nvPr/>
          </p:nvSpPr>
          <p:spPr>
            <a:xfrm>
              <a:off x="6362700" y="1619250"/>
              <a:ext cx="5067300" cy="2857500"/>
            </a:xfrm>
            <a:prstGeom prst="roundRect">
              <a:avLst>
                <a:gd name="adj" fmla="val 6667"/>
              </a:avLst>
            </a:prstGeom>
            <a:solidFill>
              <a:schemeClr val="lt1">
                <a:alpha val="76000"/>
              </a:schemeClr>
            </a:solidFill>
            <a:ln w="15240">
              <a:solidFill>
                <a:schemeClr val="accent2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20" name="Group 20"/>
            <p:cNvGrpSpPr/>
            <p:nvPr/>
          </p:nvGrpSpPr>
          <p:grpSpPr>
            <a:xfrm>
              <a:off x="6677025" y="1997075"/>
              <a:ext cx="285751" cy="158750"/>
              <a:chOff x="6677025" y="1997075"/>
              <a:chExt cx="285751" cy="15875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677025" y="1997075"/>
                <a:ext cx="285751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58750">
                    <a:moveTo>
                      <a:pt x="0" y="158750"/>
                    </a:moveTo>
                    <a:lnTo>
                      <a:pt x="95250" y="63500"/>
                    </a:lnTo>
                    <a:lnTo>
                      <a:pt x="158750" y="127000"/>
                    </a:lnTo>
                    <a:lnTo>
                      <a:pt x="285751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851650" y="1997075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0"/>
                    </a:moveTo>
                    <a:lnTo>
                      <a:pt x="111125" y="0"/>
                    </a:lnTo>
                    <a:lnTo>
                      <a:pt x="111125" y="111125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6619494" y="2380298"/>
              <a:ext cx="29277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29 条评估集 · 先测后改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21018" y="2831782"/>
              <a:ext cx="25489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故障代码 5 + 故障症状 12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21018" y="3155632"/>
              <a:ext cx="24267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标准编号 4 + 标准条款 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21018" y="3479482"/>
              <a:ext cx="4429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结论：rerank 收益微乎其微（MRR +0.02）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21018" y="3803332"/>
              <a:ext cx="46685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 1.1GB rerank 当前库上不值 → 落地配置开关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4667250"/>
            <a:ext cx="10668000" cy="1179195"/>
            <a:chOff x="762000" y="4667250"/>
            <a:chExt cx="10668000" cy="1179195"/>
          </a:xfrm>
        </p:grpSpPr>
        <p:sp>
          <p:nvSpPr>
            <p:cNvPr id="27" name="Rectangle 27"/>
            <p:cNvSpPr/>
            <p:nvPr/>
          </p:nvSpPr>
          <p:spPr>
            <a:xfrm>
              <a:off x="762000" y="4667250"/>
              <a:ext cx="10668000" cy="1143000"/>
            </a:xfrm>
            <a:prstGeom prst="roundRect">
              <a:avLst>
                <a:gd name="adj" fmla="val 15000"/>
              </a:avLst>
            </a:prstGeom>
            <a:solidFill>
              <a:schemeClr val="lt1">
                <a:alpha val="78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1019556" y="4853940"/>
              <a:ext cx="2817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两条教训合成一条方法论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0318" y="521303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用数据说话，而不是靠感觉做技术决策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0318" y="5517832"/>
              <a:ext cx="96627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评估集揭示了「LLM + 快速通道联手掩盖了检索缺陷」——测试不只看通过，更要看测到了什么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21080" y="555307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真实缺口：中文查英文标准失效（跨语言检索）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55142" y="6096000"/>
            <a:ext cx="10674858" cy="365951"/>
            <a:chOff x="755142" y="6096000"/>
            <a:chExt cx="10674858" cy="365951"/>
          </a:xfrm>
        </p:grpSpPr>
        <p:sp>
          <p:nvSpPr>
            <p:cNvPr id="33" name="Line 33"/>
            <p:cNvSpPr/>
            <p:nvPr/>
          </p:nvSpPr>
          <p:spPr>
            <a:xfrm>
              <a:off x="762000" y="6096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5142" y="61979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恩特小助手 · 版本演进时间线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CE6F5"/>
            </a:gs>
            <a:gs pos="55000">
              <a:srgbClr val="EEF3FA"/>
            </a:gs>
            <a:gs pos="100000">
              <a:schemeClr val="lt1"/>
            </a:gs>
          </a:gsLst>
          <a:path path="circle">
            <a:fillToRect l="50000" t="40000" r="50000" b="6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5998" y="673418"/>
            <a:ext cx="10632929" cy="783717"/>
            <a:chOff x="745998" y="673418"/>
            <a:chExt cx="10632929" cy="783717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673418"/>
              <a:ext cx="2430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STAGE 03 · v1.2.1-6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998" y="841058"/>
              <a:ext cx="31487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文档管理子系统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56392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09 / 20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52856" y="1501140"/>
            <a:ext cx="6088304" cy="352044"/>
            <a:chOff x="752856" y="1501140"/>
            <a:chExt cx="6088304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752856" y="1501140"/>
              <a:ext cx="60883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2026-07-13 ~ 07-21 · 六连版本 · doc_mgr 全生命周期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962150"/>
            <a:ext cx="5425486" cy="2857500"/>
            <a:chOff x="762000" y="1962150"/>
            <a:chExt cx="5425486" cy="2857500"/>
          </a:xfrm>
        </p:grpSpPr>
        <p:sp>
          <p:nvSpPr>
            <p:cNvPr id="8" name="Rectangle 8"/>
            <p:cNvSpPr/>
            <p:nvPr/>
          </p:nvSpPr>
          <p:spPr>
            <a:xfrm>
              <a:off x="762000" y="1962150"/>
              <a:ext cx="5334000" cy="2857500"/>
            </a:xfrm>
            <a:prstGeom prst="roundRect">
              <a:avLst>
                <a:gd name="adj" fmla="val 6667"/>
              </a:avLst>
            </a:prstGeom>
            <a:solidFill>
              <a:schemeClr val="lt1">
                <a:alpha val="74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12" name="Group 12"/>
            <p:cNvGrpSpPr/>
            <p:nvPr/>
          </p:nvGrpSpPr>
          <p:grpSpPr>
            <a:xfrm>
              <a:off x="1092200" y="2276475"/>
              <a:ext cx="254001" cy="285750"/>
              <a:chOff x="1092200" y="2276475"/>
              <a:chExt cx="254001" cy="2857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092200" y="2276475"/>
                <a:ext cx="254001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95250">
                    <a:moveTo>
                      <a:pt x="0" y="47625"/>
                    </a:moveTo>
                    <a:cubicBezTo>
                      <a:pt x="0" y="73928"/>
                      <a:pt x="56860" y="95250"/>
                      <a:pt x="127000" y="95250"/>
                    </a:cubicBezTo>
                    <a:cubicBezTo>
                      <a:pt x="197141" y="95250"/>
                      <a:pt x="254001" y="73928"/>
                      <a:pt x="254001" y="47625"/>
                    </a:cubicBezTo>
                    <a:cubicBezTo>
                      <a:pt x="254001" y="21322"/>
                      <a:pt x="197141" y="0"/>
                      <a:pt x="127000" y="0"/>
                    </a:cubicBezTo>
                    <a:cubicBezTo>
                      <a:pt x="56860" y="0"/>
                      <a:pt x="0" y="21322"/>
                      <a:pt x="0" y="47625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92200" y="2324100"/>
                <a:ext cx="25400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1" y="142875"/>
                      <a:pt x="254001" y="121553"/>
                      <a:pt x="254001" y="95250"/>
                    </a:cubicBez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92200" y="2419350"/>
                <a:ext cx="25400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42875">
                    <a:moveTo>
                      <a:pt x="0" y="0"/>
                    </a:moveTo>
                    <a:lnTo>
                      <a:pt x="0" y="95250"/>
                    </a:lnTo>
                    <a:cubicBezTo>
                      <a:pt x="0" y="121553"/>
                      <a:pt x="56860" y="142875"/>
                      <a:pt x="127000" y="142875"/>
                    </a:cubicBezTo>
                    <a:cubicBezTo>
                      <a:pt x="197141" y="142875"/>
                      <a:pt x="254001" y="121553"/>
                      <a:pt x="254001" y="95250"/>
                    </a:cubicBezTo>
                    <a:lnTo>
                      <a:pt x="254001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018794" y="272319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做了什么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0318" y="3174682"/>
              <a:ext cx="43370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doc_mgr 子系统：上传→切块→入库统一管道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0318" y="3498532"/>
              <a:ext cx="46859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SHA-256 指纹 + staging/active 安全版本替换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0318" y="3822382"/>
              <a:ext cx="25741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崩溃恢复 + Web 同步管理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0318" y="4146232"/>
              <a:ext cx="51671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存储抽象层（VectorStore ABC，一行切 Qdrant）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362700" y="1962150"/>
            <a:ext cx="5067300" cy="2857500"/>
            <a:chOff x="6362700" y="1962150"/>
            <a:chExt cx="5067300" cy="2857500"/>
          </a:xfrm>
        </p:grpSpPr>
        <p:sp>
          <p:nvSpPr>
            <p:cNvPr id="19" name="Rectangle 19"/>
            <p:cNvSpPr/>
            <p:nvPr/>
          </p:nvSpPr>
          <p:spPr>
            <a:xfrm>
              <a:off x="6362700" y="1962150"/>
              <a:ext cx="5067300" cy="2857500"/>
            </a:xfrm>
            <a:prstGeom prst="roundRect">
              <a:avLst>
                <a:gd name="adj" fmla="val 6667"/>
              </a:avLst>
            </a:prstGeom>
            <a:solidFill>
              <a:schemeClr val="lt1">
                <a:alpha val="74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sp>
          <p:nvSpPr>
            <p:cNvPr id="20" name="Freeform 20"/>
            <p:cNvSpPr/>
            <p:nvPr/>
          </p:nvSpPr>
          <p:spPr>
            <a:xfrm>
              <a:off x="6667567" y="2267017"/>
              <a:ext cx="300423" cy="300423"/>
            </a:xfrm>
            <a:custGeom>
              <a:avLst/>
              <a:gdLst/>
              <a:ahLst/>
              <a:cxnLst/>
              <a:rect l="l" t="t" r="r" b="b"/>
              <a:pathLst>
                <a:path w="300423" h="300423">
                  <a:moveTo>
                    <a:pt x="72959" y="120584"/>
                  </a:moveTo>
                  <a:lnTo>
                    <a:pt x="120584" y="120584"/>
                  </a:lnTo>
                  <a:lnTo>
                    <a:pt x="120584" y="72959"/>
                  </a:lnTo>
                  <a:lnTo>
                    <a:pt x="65021" y="17396"/>
                  </a:lnTo>
                  <a:cubicBezTo>
                    <a:pt x="101446" y="0"/>
                    <a:pt x="144880" y="7452"/>
                    <a:pt x="173423" y="35995"/>
                  </a:cubicBezTo>
                  <a:cubicBezTo>
                    <a:pt x="201965" y="64537"/>
                    <a:pt x="209417" y="107972"/>
                    <a:pt x="192021" y="144396"/>
                  </a:cubicBezTo>
                  <a:lnTo>
                    <a:pt x="287272" y="239646"/>
                  </a:lnTo>
                  <a:cubicBezTo>
                    <a:pt x="300423" y="252798"/>
                    <a:pt x="300423" y="274120"/>
                    <a:pt x="287272" y="287272"/>
                  </a:cubicBezTo>
                  <a:cubicBezTo>
                    <a:pt x="274120" y="300423"/>
                    <a:pt x="252798" y="300423"/>
                    <a:pt x="239646" y="287272"/>
                  </a:cubicBezTo>
                  <a:lnTo>
                    <a:pt x="144396" y="192021"/>
                  </a:lnTo>
                  <a:cubicBezTo>
                    <a:pt x="107972" y="209417"/>
                    <a:pt x="64537" y="201965"/>
                    <a:pt x="35995" y="173423"/>
                  </a:cubicBezTo>
                  <a:cubicBezTo>
                    <a:pt x="7452" y="144880"/>
                    <a:pt x="0" y="101446"/>
                    <a:pt x="17396" y="65021"/>
                  </a:cubicBezTo>
                  <a:lnTo>
                    <a:pt x="72959" y="120584"/>
                  </a:lnTo>
                </a:path>
              </a:pathLst>
            </a:custGeom>
            <a:noFill/>
            <a:ln w="31750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19494" y="27231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学到的新知识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21018" y="317468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版本替换「宁可旧，不可错」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21018" y="3498532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新版本校验成功才切换，失败保留旧版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21018" y="3822382"/>
              <a:ext cx="33597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查询层自动隐藏 staging/retired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21018" y="4146232"/>
              <a:ext cx="3601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SQLite 并发：WAL + 线程独立连接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62000" y="5010150"/>
            <a:ext cx="10668000" cy="855345"/>
            <a:chOff x="762000" y="5010150"/>
            <a:chExt cx="10668000" cy="855345"/>
          </a:xfrm>
        </p:grpSpPr>
        <p:sp>
          <p:nvSpPr>
            <p:cNvPr id="27" name="Rectangle 27"/>
            <p:cNvSpPr/>
            <p:nvPr/>
          </p:nvSpPr>
          <p:spPr>
            <a:xfrm>
              <a:off x="762000" y="5010150"/>
              <a:ext cx="10668000" cy="800100"/>
            </a:xfrm>
            <a:prstGeom prst="roundRect">
              <a:avLst>
                <a:gd name="adj" fmla="val 21429"/>
              </a:avLst>
            </a:prstGeom>
            <a:solidFill>
              <a:schemeClr val="lt1">
                <a:alpha val="78000"/>
              </a:schemeClr>
            </a:solidFill>
            <a:ln w="17145">
              <a:solidFill>
                <a:schemeClr val="accent2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30" name="Group 30"/>
            <p:cNvGrpSpPr/>
            <p:nvPr/>
          </p:nvGrpSpPr>
          <p:grpSpPr>
            <a:xfrm>
              <a:off x="1071562" y="5262562"/>
              <a:ext cx="257175" cy="257175"/>
              <a:chOff x="1071562" y="5262562"/>
              <a:chExt cx="257175" cy="25717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071562" y="52625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57288" y="5362575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552956" y="5273040"/>
              <a:ext cx="17337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📋 P0 验收清单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54480" y="5572125"/>
              <a:ext cx="68405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真实环境端到端：Excel/PDF/MinerU 各走一遍入库→查询→修改→重学→删除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5142" y="6096000"/>
            <a:ext cx="10674858" cy="365951"/>
            <a:chOff x="755142" y="6096000"/>
            <a:chExt cx="10674858" cy="365951"/>
          </a:xfrm>
        </p:grpSpPr>
        <p:sp>
          <p:nvSpPr>
            <p:cNvPr id="34" name="Line 34"/>
            <p:cNvSpPr/>
            <p:nvPr/>
          </p:nvSpPr>
          <p:spPr>
            <a:xfrm>
              <a:off x="762000" y="6096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5142" y="61979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恩特小助手 · 版本演进时间线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CE6F5"/>
            </a:gs>
            <a:gs pos="55000">
              <a:srgbClr val="EEF3FA"/>
            </a:gs>
            <a:gs pos="100000">
              <a:schemeClr val="lt1"/>
            </a:gs>
          </a:gsLst>
          <a:path path="circle">
            <a:fillToRect l="50000" t="40000" r="50000" b="6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5998" y="673418"/>
            <a:ext cx="10632929" cy="783717"/>
            <a:chOff x="745998" y="673418"/>
            <a:chExt cx="10632929" cy="783717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673418"/>
              <a:ext cx="2157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STAGE 03 · v1.2.2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998" y="841058"/>
              <a:ext cx="33957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OCR 路线大切换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56392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 / 20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52856" y="1501140"/>
            <a:ext cx="4358030" cy="352044"/>
            <a:chOff x="752856" y="1501140"/>
            <a:chExt cx="4358030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752856" y="1501140"/>
              <a:ext cx="43580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2026-07-14 · 传统 OCR → 大模型视觉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962150"/>
            <a:ext cx="5334000" cy="2781300"/>
            <a:chOff x="762000" y="1962150"/>
            <a:chExt cx="5334000" cy="2781300"/>
          </a:xfrm>
        </p:grpSpPr>
        <p:sp>
          <p:nvSpPr>
            <p:cNvPr id="8" name="Rectangle 8"/>
            <p:cNvSpPr/>
            <p:nvPr/>
          </p:nvSpPr>
          <p:spPr>
            <a:xfrm>
              <a:off x="762000" y="1962150"/>
              <a:ext cx="5334000" cy="2781300"/>
            </a:xfrm>
            <a:prstGeom prst="roundRect">
              <a:avLst>
                <a:gd name="adj" fmla="val 6849"/>
              </a:avLst>
            </a:prstGeom>
            <a:solidFill>
              <a:schemeClr val="lt1">
                <a:alpha val="72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sp>
          <p:nvSpPr>
            <p:cNvPr id="9" name="TextBox 9"/>
            <p:cNvSpPr txBox="1"/>
            <p:nvPr/>
          </p:nvSpPr>
          <p:spPr>
            <a:xfrm>
              <a:off x="1018794" y="2170748"/>
              <a:ext cx="379210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旧路线 · PaddleOCR 传统识别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0318" y="2641282"/>
              <a:ext cx="23903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本地部署 Windows 坑多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0318" y="2965132"/>
              <a:ext cx="28755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PaddlePaddle 仅 3.2.2 兼容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0318" y="3288982"/>
              <a:ext cx="31598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单页 ~22s，329 页全量 ~2 小时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62700" y="1962150"/>
            <a:ext cx="5067300" cy="2781300"/>
            <a:chOff x="6362700" y="1962150"/>
            <a:chExt cx="5067300" cy="2781300"/>
          </a:xfrm>
        </p:grpSpPr>
        <p:sp>
          <p:nvSpPr>
            <p:cNvPr id="14" name="Rectangle 14"/>
            <p:cNvSpPr/>
            <p:nvPr/>
          </p:nvSpPr>
          <p:spPr>
            <a:xfrm>
              <a:off x="6362700" y="1962150"/>
              <a:ext cx="5067300" cy="2781300"/>
            </a:xfrm>
            <a:prstGeom prst="roundRect">
              <a:avLst>
                <a:gd name="adj" fmla="val 6849"/>
              </a:avLst>
            </a:prstGeom>
            <a:solidFill>
              <a:schemeClr val="lt1">
                <a:alpha val="76000"/>
              </a:schemeClr>
            </a:solidFill>
            <a:ln w="15240">
              <a:solidFill>
                <a:schemeClr val="accent2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6619494" y="2170748"/>
              <a:ext cx="358641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新路线 · MinerU 大模型视觉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21018" y="2641282"/>
              <a:ext cx="29974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API 零部署、直接理解上下文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21018" y="2965132"/>
              <a:ext cx="35846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 Markdown 保留标题/表格结构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21018" y="3288982"/>
              <a:ext cx="358636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MarkdownChunker 按标题层级切块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52094" y="5047298"/>
            <a:ext cx="1859282" cy="381381"/>
            <a:chOff x="752094" y="5047298"/>
            <a:chExt cx="1859282" cy="381381"/>
          </a:xfrm>
        </p:grpSpPr>
        <p:sp>
          <p:nvSpPr>
            <p:cNvPr id="20" name="TextBox 20"/>
            <p:cNvSpPr txBox="1"/>
            <p:nvPr/>
          </p:nvSpPr>
          <p:spPr>
            <a:xfrm>
              <a:off x="752094" y="5047298"/>
              <a:ext cx="185928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MinerU 三个坑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2000" y="5391150"/>
            <a:ext cx="10668000" cy="723900"/>
            <a:chOff x="762000" y="5391150"/>
            <a:chExt cx="10668000" cy="723900"/>
          </a:xfrm>
        </p:grpSpPr>
        <p:grpSp>
          <p:nvGrpSpPr>
            <p:cNvPr id="25" name="Group 25"/>
            <p:cNvGrpSpPr/>
            <p:nvPr/>
          </p:nvGrpSpPr>
          <p:grpSpPr>
            <a:xfrm>
              <a:off x="762000" y="5391150"/>
              <a:ext cx="3922333" cy="723900"/>
              <a:chOff x="762000" y="5391150"/>
              <a:chExt cx="3922333" cy="7239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762000" y="5391150"/>
                <a:ext cx="3390900" cy="723900"/>
              </a:xfrm>
              <a:prstGeom prst="roundRect">
                <a:avLst>
                  <a:gd name="adj" fmla="val 21053"/>
                </a:avLst>
              </a:prstGeom>
              <a:solidFill>
                <a:schemeClr val="lt1">
                  <a:alpha val="74000"/>
                </a:schemeClr>
              </a:solidFill>
              <a:ln w="10478">
                <a:solidFill>
                  <a:schemeClr val="accent3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82980" y="5514975"/>
                <a:ext cx="210521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轮询状态永远 unknown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83742" y="5816918"/>
                <a:ext cx="37005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API 返回是 data.extract_result[0].state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4305300" y="5391150"/>
              <a:ext cx="4703861" cy="723900"/>
              <a:chOff x="4305300" y="5391150"/>
              <a:chExt cx="4703861" cy="7239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305300" y="5391150"/>
                <a:ext cx="3390900" cy="723900"/>
              </a:xfrm>
              <a:prstGeom prst="roundRect">
                <a:avLst>
                  <a:gd name="adj" fmla="val 21053"/>
                </a:avLst>
              </a:prstGeom>
              <a:solidFill>
                <a:schemeClr val="lt1">
                  <a:alpha val="74000"/>
                </a:schemeClr>
              </a:solidFill>
              <a:ln w="10478">
                <a:solidFill>
                  <a:schemeClr val="accent3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526280" y="5514975"/>
                <a:ext cx="131673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上传 OSS 403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527042" y="5816918"/>
                <a:ext cx="44821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预签名 URL 不支持自定义 Content-Type，去掉即 200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7848600" y="5391150"/>
              <a:ext cx="3581400" cy="723900"/>
              <a:chOff x="7848600" y="5391150"/>
              <a:chExt cx="3581400" cy="7239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7848600" y="5391150"/>
                <a:ext cx="3581400" cy="723900"/>
              </a:xfrm>
              <a:prstGeom prst="roundRect">
                <a:avLst>
                  <a:gd name="adj" fmla="val 21053"/>
                </a:avLst>
              </a:prstGeom>
              <a:solidFill>
                <a:schemeClr val="lt1">
                  <a:alpha val="74000"/>
                </a:schemeClr>
              </a:solidFill>
              <a:ln w="10478">
                <a:solidFill>
                  <a:schemeClr val="accent3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069580" y="5514975"/>
                <a:ext cx="19781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大 PDF 200 页硬限制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070342" y="5816918"/>
                <a:ext cx="197647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自动拆分 ≤200 页逐份送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755142" y="6324600"/>
            <a:ext cx="10674858" cy="365951"/>
            <a:chOff x="755142" y="6324600"/>
            <a:chExt cx="10674858" cy="365951"/>
          </a:xfrm>
        </p:grpSpPr>
        <p:sp>
          <p:nvSpPr>
            <p:cNvPr id="35" name="Line 35"/>
            <p:cNvSpPr/>
            <p:nvPr/>
          </p:nvSpPr>
          <p:spPr>
            <a:xfrm>
              <a:off x="762000" y="63246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5142" y="64265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恩特小助手 · 版本演进时间线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CE6F5"/>
            </a:gs>
            <a:gs pos="55000">
              <a:srgbClr val="EEF3FA"/>
            </a:gs>
            <a:gs pos="100000">
              <a:schemeClr val="lt1"/>
            </a:gs>
          </a:gsLst>
          <a:path path="circle">
            <a:fillToRect l="50000" t="40000" r="50000" b="6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5998" y="673418"/>
            <a:ext cx="10632929" cy="783717"/>
            <a:chOff x="745998" y="673418"/>
            <a:chExt cx="10632929" cy="783717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673418"/>
              <a:ext cx="30604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MULTI-CENTER · 多部门进化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998" y="841058"/>
              <a:ext cx="760135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权限从「没有」到「数据链路层强制」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56392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11 / 20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1447800"/>
            <a:ext cx="10668000" cy="628650"/>
            <a:chOff x="762000" y="1447800"/>
            <a:chExt cx="10668000" cy="628650"/>
          </a:xfrm>
        </p:grpSpPr>
        <p:sp>
          <p:nvSpPr>
            <p:cNvPr id="6" name="Rectangle 6"/>
            <p:cNvSpPr/>
            <p:nvPr/>
          </p:nvSpPr>
          <p:spPr>
            <a:xfrm>
              <a:off x="762000" y="1447800"/>
              <a:ext cx="10668000" cy="628650"/>
            </a:xfrm>
            <a:prstGeom prst="roundRect">
              <a:avLst>
                <a:gd name="adj" fmla="val 24242"/>
              </a:avLst>
            </a:prstGeom>
            <a:solidFill>
              <a:schemeClr val="lt1">
                <a:alpha val="78000"/>
              </a:schemeClr>
            </a:solidFill>
            <a:ln w="17145">
              <a:solidFill>
                <a:schemeClr val="accent2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9" name="Group 9"/>
            <p:cNvGrpSpPr/>
            <p:nvPr/>
          </p:nvGrpSpPr>
          <p:grpSpPr>
            <a:xfrm>
              <a:off x="1066800" y="1638300"/>
              <a:ext cx="228600" cy="228600"/>
              <a:chOff x="1066800" y="1638300"/>
              <a:chExt cx="228600" cy="2286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155700" y="1638300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>
                    <a:moveTo>
                      <a:pt x="139700" y="139700"/>
                    </a:moveTo>
                    <a:lnTo>
                      <a:pt x="101600" y="101600"/>
                    </a:ln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lnTo>
                      <a:pt x="127000" y="0"/>
                    </a:lnTo>
                    <a:cubicBezTo>
                      <a:pt x="134014" y="0"/>
                      <a:pt x="139700" y="5686"/>
                      <a:pt x="139700" y="12700"/>
                    </a:cubicBezTo>
                    <a:lnTo>
                      <a:pt x="139700" y="13970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66800" y="1727200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>
                    <a:moveTo>
                      <a:pt x="139700" y="63500"/>
                    </a:moveTo>
                    <a:lnTo>
                      <a:pt x="139700" y="88900"/>
                    </a:lnTo>
                    <a:cubicBezTo>
                      <a:pt x="139700" y="95914"/>
                      <a:pt x="134014" y="101600"/>
                      <a:pt x="127000" y="101600"/>
                    </a:cubicBezTo>
                    <a:lnTo>
                      <a:pt x="38100" y="101600"/>
                    </a:lnTo>
                    <a:lnTo>
                      <a:pt x="0" y="1397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lnTo>
                      <a:pt x="38100" y="0"/>
                    </a:lnTo>
                  </a:path>
                </a:pathLst>
              </a:custGeom>
              <a:noFill/>
              <a:ln w="25400">
                <a:solidFill>
                  <a:schemeClr val="accent2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515618" y="1650682"/>
              <a:ext cx="85796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💬 老板 7/20 需求：各部门独立知识库 + 权限系统（部门上传 / 部门查询 / 公共资料）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62000" y="2247900"/>
            <a:ext cx="10668000" cy="2781300"/>
            <a:chOff x="762000" y="2247900"/>
            <a:chExt cx="10668000" cy="2781300"/>
          </a:xfrm>
        </p:grpSpPr>
        <p:grpSp>
          <p:nvGrpSpPr>
            <p:cNvPr id="18" name="Group 18"/>
            <p:cNvGrpSpPr/>
            <p:nvPr/>
          </p:nvGrpSpPr>
          <p:grpSpPr>
            <a:xfrm>
              <a:off x="762000" y="2247900"/>
              <a:ext cx="4285488" cy="2781300"/>
              <a:chOff x="762000" y="2247900"/>
              <a:chExt cx="4285488" cy="27813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762000" y="2247900"/>
                <a:ext cx="3390900" cy="2781300"/>
              </a:xfrm>
              <a:prstGeom prst="roundRect">
                <a:avLst>
                  <a:gd name="adj" fmla="val 6849"/>
                </a:avLst>
              </a:prstGeom>
              <a:solidFill>
                <a:schemeClr val="lt1">
                  <a:alpha val="72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18794" y="2456498"/>
                <a:ext cx="194925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阶段1 · v1.2.8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20318" y="2812732"/>
                <a:ext cx="15716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五中心组织架构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21080" y="3190875"/>
                <a:ext cx="40264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PMO / 研发 / 制造 / 商业 / 运营 + 公共区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21080" y="3514725"/>
                <a:ext cx="303409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chunk 带 department metadata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21080" y="3838575"/>
                <a:ext cx="24686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用户中心 + 公共区 $in 过滤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305300" y="2247900"/>
              <a:ext cx="3390900" cy="2781300"/>
              <a:chOff x="4305300" y="2247900"/>
              <a:chExt cx="3390900" cy="27813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305300" y="2247900"/>
                <a:ext cx="3390900" cy="2781300"/>
              </a:xfrm>
              <a:prstGeom prst="roundRect">
                <a:avLst>
                  <a:gd name="adj" fmla="val 6849"/>
                </a:avLst>
              </a:prstGeom>
              <a:solidFill>
                <a:schemeClr val="lt1">
                  <a:alpha val="72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562094" y="2456498"/>
                <a:ext cx="194925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阶段2 · v1.2.9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563618" y="281273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隔离修复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564380" y="3190875"/>
                <a:ext cx="266052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同步路径把中心覆盖成 public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564380" y="3514725"/>
                <a:ext cx="281197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修复：upsert_file 空值不覆盖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564380" y="3838575"/>
                <a:ext cx="18326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审核按真实部门入库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7848600" y="2247900"/>
              <a:ext cx="3581400" cy="2781300"/>
              <a:chOff x="7848600" y="2247900"/>
              <a:chExt cx="3581400" cy="27813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848600" y="2247900"/>
                <a:ext cx="3581400" cy="2781300"/>
              </a:xfrm>
              <a:prstGeom prst="roundRect">
                <a:avLst>
                  <a:gd name="adj" fmla="val 6849"/>
                </a:avLst>
              </a:prstGeom>
              <a:solidFill>
                <a:schemeClr val="lt1">
                  <a:alpha val="76000"/>
                </a:schemeClr>
              </a:solidFill>
              <a:ln w="15240">
                <a:solidFill>
                  <a:schemeClr val="accent2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105394" y="2456498"/>
                <a:ext cx="194925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阶段3 · v1.5.2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06918" y="281273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归属可改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07680" y="3190875"/>
                <a:ext cx="18326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后台下拉改归属中心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107680" y="3514725"/>
                <a:ext cx="299561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强制重学重写 Chroma metadata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107680" y="3838575"/>
                <a:ext cx="1630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版本替换机制复用</a:t>
                </a: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762000" y="5219700"/>
            <a:ext cx="10668000" cy="952500"/>
            <a:chOff x="762000" y="5219700"/>
            <a:chExt cx="10668000" cy="952500"/>
          </a:xfrm>
        </p:grpSpPr>
        <p:sp>
          <p:nvSpPr>
            <p:cNvPr id="34" name="Rectangle 34"/>
            <p:cNvSpPr/>
            <p:nvPr/>
          </p:nvSpPr>
          <p:spPr>
            <a:xfrm>
              <a:off x="762000" y="5219700"/>
              <a:ext cx="10668000" cy="952500"/>
            </a:xfrm>
            <a:prstGeom prst="roundRect">
              <a:avLst>
                <a:gd name="adj" fmla="val 18000"/>
              </a:avLst>
            </a:prstGeom>
            <a:solidFill>
              <a:schemeClr val="lt1">
                <a:alpha val="76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sp>
          <p:nvSpPr>
            <p:cNvPr id="35" name="TextBox 35"/>
            <p:cNvSpPr txBox="1"/>
            <p:nvPr/>
          </p:nvSpPr>
          <p:spPr>
            <a:xfrm>
              <a:off x="1020318" y="5384482"/>
              <a:ext cx="58474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多级回退策略（centers → center → public）杜绝权限黑洞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0318" y="5689282"/>
              <a:ext cx="67284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权限演进：没有 → 五中心隔离 → 数据链路层强制 → </a:t>
              </a:r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v2.0 部门级 ACL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55142" y="6324600"/>
            <a:ext cx="10674858" cy="365951"/>
            <a:chOff x="755142" y="6324600"/>
            <a:chExt cx="10674858" cy="365951"/>
          </a:xfrm>
        </p:grpSpPr>
        <p:sp>
          <p:nvSpPr>
            <p:cNvPr id="38" name="Line 38"/>
            <p:cNvSpPr/>
            <p:nvPr/>
          </p:nvSpPr>
          <p:spPr>
            <a:xfrm>
              <a:off x="762000" y="63246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5142" y="64265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恩特小助手 · 版本演进时间线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CE6F5"/>
            </a:gs>
            <a:gs pos="55000">
              <a:srgbClr val="EEF3FA"/>
            </a:gs>
            <a:gs pos="100000">
              <a:schemeClr val="lt1"/>
            </a:gs>
          </a:gsLst>
          <a:path path="circle">
            <a:fillToRect l="50000" t="40000" r="50000" b="6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5998" y="673418"/>
            <a:ext cx="10632929" cy="783717"/>
            <a:chOff x="745998" y="673418"/>
            <a:chExt cx="10632929" cy="783717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673418"/>
              <a:ext cx="2430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STAGE 06 · v1.4.0-2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998" y="841058"/>
              <a:ext cx="377215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PCB 计算技能成长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56392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12 / 20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52856" y="1501140"/>
            <a:ext cx="5276545" cy="352044"/>
            <a:chOff x="752856" y="1501140"/>
            <a:chExt cx="5276545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752856" y="1501140"/>
              <a:ext cx="52765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2026-08-03 ~ 08-04 · 本地公式秒回 + 安全收尾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962150"/>
            <a:ext cx="5334000" cy="2857500"/>
            <a:chOff x="762000" y="1962150"/>
            <a:chExt cx="5334000" cy="2857500"/>
          </a:xfrm>
        </p:grpSpPr>
        <p:sp>
          <p:nvSpPr>
            <p:cNvPr id="8" name="Rectangle 8"/>
            <p:cNvSpPr/>
            <p:nvPr/>
          </p:nvSpPr>
          <p:spPr>
            <a:xfrm>
              <a:off x="762000" y="1962150"/>
              <a:ext cx="5334000" cy="2857500"/>
            </a:xfrm>
            <a:prstGeom prst="roundRect">
              <a:avLst>
                <a:gd name="adj" fmla="val 6667"/>
              </a:avLst>
            </a:prstGeom>
            <a:solidFill>
              <a:schemeClr val="lt1">
                <a:alpha val="74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sp>
          <p:nvSpPr>
            <p:cNvPr id="9" name="Freeform 9"/>
            <p:cNvSpPr/>
            <p:nvPr/>
          </p:nvSpPr>
          <p:spPr>
            <a:xfrm>
              <a:off x="1066867" y="2267017"/>
              <a:ext cx="300423" cy="300423"/>
            </a:xfrm>
            <a:custGeom>
              <a:avLst/>
              <a:gdLst/>
              <a:ahLst/>
              <a:cxnLst/>
              <a:rect l="l" t="t" r="r" b="b"/>
              <a:pathLst>
                <a:path w="300423" h="300423">
                  <a:moveTo>
                    <a:pt x="72959" y="120584"/>
                  </a:moveTo>
                  <a:lnTo>
                    <a:pt x="120584" y="120584"/>
                  </a:lnTo>
                  <a:lnTo>
                    <a:pt x="120584" y="72959"/>
                  </a:lnTo>
                  <a:lnTo>
                    <a:pt x="65021" y="17396"/>
                  </a:lnTo>
                  <a:cubicBezTo>
                    <a:pt x="101446" y="0"/>
                    <a:pt x="144880" y="7452"/>
                    <a:pt x="173423" y="35995"/>
                  </a:cubicBezTo>
                  <a:cubicBezTo>
                    <a:pt x="201965" y="64537"/>
                    <a:pt x="209417" y="107972"/>
                    <a:pt x="192021" y="144396"/>
                  </a:cubicBezTo>
                  <a:lnTo>
                    <a:pt x="287272" y="239646"/>
                  </a:lnTo>
                  <a:cubicBezTo>
                    <a:pt x="300423" y="252798"/>
                    <a:pt x="300423" y="274120"/>
                    <a:pt x="287272" y="287272"/>
                  </a:cubicBezTo>
                  <a:cubicBezTo>
                    <a:pt x="274120" y="300423"/>
                    <a:pt x="252798" y="300423"/>
                    <a:pt x="239646" y="287272"/>
                  </a:cubicBezTo>
                  <a:lnTo>
                    <a:pt x="144396" y="192021"/>
                  </a:lnTo>
                  <a:cubicBezTo>
                    <a:pt x="107972" y="209417"/>
                    <a:pt x="64537" y="201965"/>
                    <a:pt x="35995" y="173423"/>
                  </a:cubicBezTo>
                  <a:cubicBezTo>
                    <a:pt x="7452" y="144880"/>
                    <a:pt x="0" y="101446"/>
                    <a:pt x="17396" y="65021"/>
                  </a:cubicBezTo>
                  <a:lnTo>
                    <a:pt x="72959" y="120584"/>
                  </a:lnTo>
                </a:path>
              </a:pathLst>
            </a:custGeom>
            <a:noFill/>
            <a:ln w="31750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8794" y="272319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做了什么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0318" y="3174682"/>
              <a:ext cx="45480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v1.4.0 起步 9 类（走线/阻抗/过孔/趋肤等）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0318" y="3498532"/>
              <a:ext cx="46147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v1.4.2 布局综合校验（走线+安规+空间冲突）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0318" y="3822382"/>
              <a:ext cx="2271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冲突时给 5 级设计建议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0318" y="4146232"/>
              <a:ext cx="34818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开槽 → 板材 → 三防漆 → 加厚 → 布局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62700" y="1962150"/>
            <a:ext cx="5067300" cy="2857500"/>
            <a:chOff x="6362700" y="1962150"/>
            <a:chExt cx="5067300" cy="2857500"/>
          </a:xfrm>
        </p:grpSpPr>
        <p:sp>
          <p:nvSpPr>
            <p:cNvPr id="16" name="Rectangle 16"/>
            <p:cNvSpPr/>
            <p:nvPr/>
          </p:nvSpPr>
          <p:spPr>
            <a:xfrm>
              <a:off x="6362700" y="1962150"/>
              <a:ext cx="5067300" cy="2857500"/>
            </a:xfrm>
            <a:prstGeom prst="roundRect">
              <a:avLst>
                <a:gd name="adj" fmla="val 6667"/>
              </a:avLst>
            </a:prstGeom>
            <a:solidFill>
              <a:schemeClr val="lt1">
                <a:alpha val="74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sp>
          <p:nvSpPr>
            <p:cNvPr id="17" name="Freeform 17"/>
            <p:cNvSpPr/>
            <p:nvPr/>
          </p:nvSpPr>
          <p:spPr>
            <a:xfrm>
              <a:off x="6708775" y="2276475"/>
              <a:ext cx="222250" cy="285751"/>
            </a:xfrm>
            <a:custGeom>
              <a:avLst/>
              <a:gdLst/>
              <a:ahLst/>
              <a:cxnLst/>
              <a:rect l="l" t="t" r="r" b="b"/>
              <a:pathLst>
                <a:path w="222250" h="285751">
                  <a:moveTo>
                    <a:pt x="127000" y="0"/>
                  </a:moveTo>
                  <a:lnTo>
                    <a:pt x="127000" y="111125"/>
                  </a:lnTo>
                  <a:lnTo>
                    <a:pt x="222250" y="111125"/>
                  </a:lnTo>
                  <a:lnTo>
                    <a:pt x="95250" y="285751"/>
                  </a:lnTo>
                  <a:lnTo>
                    <a:pt x="95250" y="174625"/>
                  </a:lnTo>
                  <a:lnTo>
                    <a:pt x="0" y="174625"/>
                  </a:lnTo>
                  <a:lnTo>
                    <a:pt x="127000" y="0"/>
                  </a:lnTo>
                </a:path>
              </a:pathLst>
            </a:custGeom>
            <a:noFill/>
            <a:ln w="31750">
              <a:solidFill>
                <a:schemeClr val="accent2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19494" y="27231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学到的新知识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21018" y="3174682"/>
              <a:ext cx="45111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「LLM 只用在刀刃上」极致版：公式本地算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21018" y="3498532"/>
              <a:ext cx="3877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口语复杂表达才由 LLM 识别后调工具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21018" y="3822382"/>
              <a:ext cx="34152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安规查表 + 线性插值 + 超范围警示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21018" y="4146232"/>
              <a:ext cx="27155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钉钉即时反馈 + 错误码体系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5010150"/>
            <a:ext cx="10668000" cy="855345"/>
            <a:chOff x="762000" y="5010150"/>
            <a:chExt cx="10668000" cy="855345"/>
          </a:xfrm>
        </p:grpSpPr>
        <p:sp>
          <p:nvSpPr>
            <p:cNvPr id="24" name="Rectangle 24"/>
            <p:cNvSpPr/>
            <p:nvPr/>
          </p:nvSpPr>
          <p:spPr>
            <a:xfrm>
              <a:off x="762000" y="5010150"/>
              <a:ext cx="10668000" cy="800100"/>
            </a:xfrm>
            <a:prstGeom prst="roundRect">
              <a:avLst>
                <a:gd name="adj" fmla="val 21429"/>
              </a:avLst>
            </a:prstGeom>
            <a:solidFill>
              <a:schemeClr val="lt1">
                <a:alpha val="78000"/>
              </a:schemeClr>
            </a:solidFill>
            <a:ln w="17145">
              <a:solidFill>
                <a:schemeClr val="accent2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27" name="Group 27"/>
            <p:cNvGrpSpPr/>
            <p:nvPr/>
          </p:nvGrpSpPr>
          <p:grpSpPr>
            <a:xfrm>
              <a:off x="1071562" y="5319712"/>
              <a:ext cx="257175" cy="142875"/>
              <a:chOff x="1071562" y="5319712"/>
              <a:chExt cx="257175" cy="14287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1071562" y="5319712"/>
                <a:ext cx="2571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42875">
                    <a:moveTo>
                      <a:pt x="0" y="142875"/>
                    </a:moveTo>
                    <a:lnTo>
                      <a:pt x="85725" y="57150"/>
                    </a:lnTo>
                    <a:lnTo>
                      <a:pt x="142875" y="114300"/>
                    </a:lnTo>
                    <a:lnTo>
                      <a:pt x="257175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228725" y="5319712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0"/>
                    </a:moveTo>
                    <a:lnTo>
                      <a:pt x="100012" y="0"/>
                    </a:lnTo>
                    <a:lnTo>
                      <a:pt x="100012" y="100012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552956" y="5273040"/>
              <a:ext cx="27685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成长数字：9 → 12 → 13 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54480" y="5572125"/>
              <a:ext cx="93842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全本地公式秒回，参数正则提取不调 LLM · 踩坑：已编译正则传 flags 抛 ValueError（Python 3.7+）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55142" y="6096000"/>
            <a:ext cx="10674858" cy="365951"/>
            <a:chOff x="755142" y="6096000"/>
            <a:chExt cx="10674858" cy="365951"/>
          </a:xfrm>
        </p:grpSpPr>
        <p:sp>
          <p:nvSpPr>
            <p:cNvPr id="31" name="Line 31"/>
            <p:cNvSpPr/>
            <p:nvPr/>
          </p:nvSpPr>
          <p:spPr>
            <a:xfrm>
              <a:off x="762000" y="6096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5142" y="61979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恩特小助手 · 版本演进时间线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CE6F5"/>
            </a:gs>
            <a:gs pos="55000">
              <a:srgbClr val="EEF3FA"/>
            </a:gs>
            <a:gs pos="100000">
              <a:schemeClr val="lt1"/>
            </a:gs>
          </a:gsLst>
          <a:path path="circle">
            <a:fillToRect l="50000" t="40000" r="50000" b="6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5998" y="673418"/>
            <a:ext cx="10632929" cy="783717"/>
            <a:chOff x="745998" y="673418"/>
            <a:chExt cx="10632929" cy="783717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673418"/>
              <a:ext cx="2430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STAGE 08 · v1.5.4-6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998" y="841058"/>
              <a:ext cx="384272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PCB 权威化 + 打磨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56392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13 / 20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428750"/>
            <a:ext cx="10668000" cy="876300"/>
            <a:chOff x="762000" y="1428750"/>
            <a:chExt cx="10668000" cy="876300"/>
          </a:xfrm>
        </p:grpSpPr>
        <p:sp>
          <p:nvSpPr>
            <p:cNvPr id="6" name="Rectangle 6"/>
            <p:cNvSpPr/>
            <p:nvPr/>
          </p:nvSpPr>
          <p:spPr>
            <a:xfrm>
              <a:off x="762000" y="1428750"/>
              <a:ext cx="10668000" cy="876300"/>
            </a:xfrm>
            <a:prstGeom prst="roundRect">
              <a:avLst>
                <a:gd name="adj" fmla="val 19565"/>
              </a:avLst>
            </a:prstGeom>
            <a:solidFill>
              <a:schemeClr val="lt1">
                <a:alpha val="78000"/>
              </a:schemeClr>
            </a:solidFill>
            <a:ln w="17145">
              <a:solidFill>
                <a:schemeClr val="accent2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9" name="Group 9"/>
            <p:cNvGrpSpPr/>
            <p:nvPr/>
          </p:nvGrpSpPr>
          <p:grpSpPr>
            <a:xfrm>
              <a:off x="1071562" y="1624012"/>
              <a:ext cx="257175" cy="257175"/>
              <a:chOff x="1071562" y="1624012"/>
              <a:chExt cx="257175" cy="25717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171575" y="1624012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157162" y="157162"/>
                    </a:moveTo>
                    <a:lnTo>
                      <a:pt x="114300" y="114300"/>
                    </a:lnTo>
                    <a:lnTo>
                      <a:pt x="14288" y="114300"/>
                    </a:lnTo>
                    <a:cubicBezTo>
                      <a:pt x="6397" y="114300"/>
                      <a:pt x="0" y="107903"/>
                      <a:pt x="0" y="100012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142875" y="0"/>
                    </a:lnTo>
                    <a:cubicBezTo>
                      <a:pt x="150766" y="0"/>
                      <a:pt x="157162" y="6397"/>
                      <a:pt x="157162" y="14288"/>
                    </a:cubicBezTo>
                    <a:lnTo>
                      <a:pt x="157162" y="157162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71562" y="1724025"/>
                <a:ext cx="157162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57162">
                    <a:moveTo>
                      <a:pt x="157162" y="71438"/>
                    </a:moveTo>
                    <a:lnTo>
                      <a:pt x="157162" y="100012"/>
                    </a:lnTo>
                    <a:cubicBezTo>
                      <a:pt x="157162" y="107903"/>
                      <a:pt x="150766" y="114300"/>
                      <a:pt x="142875" y="114300"/>
                    </a:cubicBezTo>
                    <a:lnTo>
                      <a:pt x="42862" y="114300"/>
                    </a:lnTo>
                    <a:lnTo>
                      <a:pt x="0" y="157162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42862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553718" y="1688782"/>
              <a:ext cx="40535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💬 王哥（PCB 部门主管）8/5 实测反馈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54480" y="1971675"/>
              <a:ext cx="70928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「公式权威来源应是主管给的 pcb-tools.cn」· 温升误识别 · 直流峰值误乘 √2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2495550"/>
            <a:ext cx="5583822" cy="2781300"/>
            <a:chOff x="762000" y="2495550"/>
            <a:chExt cx="5583822" cy="2781300"/>
          </a:xfrm>
        </p:grpSpPr>
        <p:sp>
          <p:nvSpPr>
            <p:cNvPr id="13" name="Rectangle 13"/>
            <p:cNvSpPr/>
            <p:nvPr/>
          </p:nvSpPr>
          <p:spPr>
            <a:xfrm>
              <a:off x="762000" y="2495550"/>
              <a:ext cx="5334000" cy="2781300"/>
            </a:xfrm>
            <a:prstGeom prst="roundRect">
              <a:avLst>
                <a:gd name="adj" fmla="val 6849"/>
              </a:avLst>
            </a:prstGeom>
            <a:solidFill>
              <a:schemeClr val="lt1">
                <a:alpha val="74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17" name="Group 17"/>
            <p:cNvGrpSpPr/>
            <p:nvPr/>
          </p:nvGrpSpPr>
          <p:grpSpPr>
            <a:xfrm>
              <a:off x="1076325" y="2809875"/>
              <a:ext cx="285751" cy="285751"/>
              <a:chOff x="1076325" y="2809875"/>
              <a:chExt cx="285751" cy="28575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203325" y="293687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39825" y="2873375"/>
                <a:ext cx="158750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158750">
                    <a:moveTo>
                      <a:pt x="0" y="79375"/>
                    </a:moveTo>
                    <a:cubicBezTo>
                      <a:pt x="0" y="123213"/>
                      <a:pt x="35537" y="158750"/>
                      <a:pt x="79375" y="158750"/>
                    </a:cubicBezTo>
                    <a:cubicBezTo>
                      <a:pt x="123213" y="158750"/>
                      <a:pt x="158750" y="123213"/>
                      <a:pt x="158750" y="79375"/>
                    </a:cubicBezTo>
                    <a:cubicBezTo>
                      <a:pt x="158750" y="35537"/>
                      <a:pt x="123213" y="0"/>
                      <a:pt x="79375" y="0"/>
                    </a:cubicBezTo>
                    <a:cubicBezTo>
                      <a:pt x="35537" y="0"/>
                      <a:pt x="0" y="35537"/>
                      <a:pt x="0" y="79375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76325" y="28098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018794" y="3256598"/>
              <a:ext cx="211463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v1.5.4 权威基准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20318" y="3708082"/>
              <a:ext cx="10496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13 → 54 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0318" y="4031932"/>
              <a:ext cx="53255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公式全集 51 分类存 pcb_calculation_formulas.json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0318" y="4355782"/>
              <a:ext cx="28710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 张查表独立文件随 git 管理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0318" y="4679632"/>
              <a:ext cx="36595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修正：差分带状线系数 0.37 → 0.347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362700" y="2495550"/>
            <a:ext cx="5067300" cy="2781300"/>
            <a:chOff x="6362700" y="2495550"/>
            <a:chExt cx="5067300" cy="2781300"/>
          </a:xfrm>
        </p:grpSpPr>
        <p:sp>
          <p:nvSpPr>
            <p:cNvPr id="24" name="Rectangle 24"/>
            <p:cNvSpPr/>
            <p:nvPr/>
          </p:nvSpPr>
          <p:spPr>
            <a:xfrm>
              <a:off x="6362700" y="2495550"/>
              <a:ext cx="5067300" cy="2781300"/>
            </a:xfrm>
            <a:prstGeom prst="roundRect">
              <a:avLst>
                <a:gd name="adj" fmla="val 6849"/>
              </a:avLst>
            </a:prstGeom>
            <a:solidFill>
              <a:schemeClr val="lt1">
                <a:alpha val="76000"/>
              </a:schemeClr>
            </a:solidFill>
            <a:ln w="15240">
              <a:solidFill>
                <a:schemeClr val="accent2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27" name="Group 27"/>
            <p:cNvGrpSpPr/>
            <p:nvPr/>
          </p:nvGrpSpPr>
          <p:grpSpPr>
            <a:xfrm>
              <a:off x="6677025" y="2809875"/>
              <a:ext cx="285751" cy="285751"/>
              <a:chOff x="6677025" y="2809875"/>
              <a:chExt cx="285751" cy="28575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677025" y="28098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772275" y="2921000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619494" y="3256598"/>
              <a:ext cx="186656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v1.5.5/6 打磨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21018" y="3708082"/>
              <a:ext cx="39372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40 题社区回归：7 对 26 败 → 36 对 0 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21018" y="4031932"/>
              <a:ext cx="2504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⭐ \b 汉字边界系统性 bug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21018" y="4355782"/>
              <a:ext cx="36040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声明式参数补足层 + 多组合表格输出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21780" y="4695825"/>
              <a:ext cx="2836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Unicode 下汉字也是 word 字符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5467350"/>
            <a:ext cx="10668000" cy="685800"/>
            <a:chOff x="762000" y="5467350"/>
            <a:chExt cx="10668000" cy="685800"/>
          </a:xfrm>
        </p:grpSpPr>
        <p:sp>
          <p:nvSpPr>
            <p:cNvPr id="34" name="Rectangle 34"/>
            <p:cNvSpPr/>
            <p:nvPr/>
          </p:nvSpPr>
          <p:spPr>
            <a:xfrm>
              <a:off x="762000" y="5467350"/>
              <a:ext cx="10668000" cy="685800"/>
            </a:xfrm>
            <a:prstGeom prst="roundRect">
              <a:avLst>
                <a:gd name="adj" fmla="val 25000"/>
              </a:avLst>
            </a:prstGeom>
            <a:solidFill>
              <a:schemeClr val="lt1">
                <a:alpha val="78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sp>
          <p:nvSpPr>
            <p:cNvPr id="35" name="TextBox 35"/>
            <p:cNvSpPr txBox="1"/>
            <p:nvPr/>
          </p:nvSpPr>
          <p:spPr>
            <a:xfrm>
              <a:off x="1020318" y="5651182"/>
              <a:ext cx="80981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⭐ 核心认知：公式权威来源 &gt; 个人经验——对客户/主管的交付可信度是第一位的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55142" y="6324600"/>
            <a:ext cx="10674858" cy="365951"/>
            <a:chOff x="755142" y="6324600"/>
            <a:chExt cx="10674858" cy="365951"/>
          </a:xfrm>
        </p:grpSpPr>
        <p:sp>
          <p:nvSpPr>
            <p:cNvPr id="37" name="Line 37"/>
            <p:cNvSpPr/>
            <p:nvPr/>
          </p:nvSpPr>
          <p:spPr>
            <a:xfrm>
              <a:off x="762000" y="63246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5142" y="64265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恩特小助手 · 版本演进时间线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CE6F5"/>
            </a:gs>
            <a:gs pos="55000">
              <a:srgbClr val="EEF3FA"/>
            </a:gs>
            <a:gs pos="100000">
              <a:schemeClr val="lt1"/>
            </a:gs>
          </a:gsLst>
          <a:path path="circle">
            <a:fillToRect l="50000" t="40000" r="50000" b="6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5998" y="673418"/>
            <a:ext cx="10632929" cy="783717"/>
            <a:chOff x="745998" y="673418"/>
            <a:chExt cx="10632929" cy="783717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673418"/>
              <a:ext cx="2157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STAGE 09 · v1.6.0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998" y="841058"/>
              <a:ext cx="270353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多人并发处理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56392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14 / 20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52856" y="1501140"/>
            <a:ext cx="4052849" cy="352044"/>
            <a:chOff x="752856" y="1501140"/>
            <a:chExt cx="4052849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752856" y="1501140"/>
              <a:ext cx="40528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2026-08-05 · 多人同时交流互不阻塞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962150"/>
            <a:ext cx="5334000" cy="2781300"/>
            <a:chOff x="762000" y="1962150"/>
            <a:chExt cx="5334000" cy="2781300"/>
          </a:xfrm>
        </p:grpSpPr>
        <p:sp>
          <p:nvSpPr>
            <p:cNvPr id="8" name="Rectangle 8"/>
            <p:cNvSpPr/>
            <p:nvPr/>
          </p:nvSpPr>
          <p:spPr>
            <a:xfrm>
              <a:off x="762000" y="1962150"/>
              <a:ext cx="5334000" cy="2781300"/>
            </a:xfrm>
            <a:prstGeom prst="roundRect">
              <a:avLst>
                <a:gd name="adj" fmla="val 6849"/>
              </a:avLst>
            </a:prstGeom>
            <a:solidFill>
              <a:schemeClr val="lt1">
                <a:alpha val="72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12" name="Group 12"/>
            <p:cNvGrpSpPr/>
            <p:nvPr/>
          </p:nvGrpSpPr>
          <p:grpSpPr>
            <a:xfrm>
              <a:off x="1059099" y="2271201"/>
              <a:ext cx="320191" cy="275086"/>
              <a:chOff x="1059099" y="2271201"/>
              <a:chExt cx="320191" cy="27508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219200" y="237172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59099" y="2271201"/>
                <a:ext cx="320191" cy="275086"/>
              </a:xfrm>
              <a:custGeom>
                <a:avLst/>
                <a:gdLst/>
                <a:ahLst/>
                <a:cxnLst/>
                <a:rect l="l" t="t" r="r" b="b"/>
                <a:pathLst>
                  <a:path w="320191" h="275086">
                    <a:moveTo>
                      <a:pt x="134114" y="14656"/>
                    </a:moveTo>
                    <a:lnTo>
                      <a:pt x="5431" y="229509"/>
                    </a:lnTo>
                    <a:cubicBezTo>
                      <a:pt x="33" y="238857"/>
                      <a:pt x="0" y="250368"/>
                      <a:pt x="5345" y="259747"/>
                    </a:cubicBezTo>
                    <a:cubicBezTo>
                      <a:pt x="10689" y="269126"/>
                      <a:pt x="20608" y="274965"/>
                      <a:pt x="31403" y="275086"/>
                    </a:cubicBezTo>
                    <a:lnTo>
                      <a:pt x="288800" y="275086"/>
                    </a:lnTo>
                    <a:cubicBezTo>
                      <a:pt x="299590" y="274962"/>
                      <a:pt x="309504" y="269125"/>
                      <a:pt x="314847" y="259751"/>
                    </a:cubicBezTo>
                    <a:cubicBezTo>
                      <a:pt x="320191" y="250377"/>
                      <a:pt x="320162" y="238872"/>
                      <a:pt x="314772" y="229525"/>
                    </a:cubicBezTo>
                    <a:lnTo>
                      <a:pt x="186089" y="14640"/>
                    </a:lnTo>
                    <a:cubicBezTo>
                      <a:pt x="180583" y="5552"/>
                      <a:pt x="170728" y="0"/>
                      <a:pt x="160102" y="0"/>
                    </a:cubicBezTo>
                    <a:cubicBezTo>
                      <a:pt x="149475" y="0"/>
                      <a:pt x="139620" y="5552"/>
                      <a:pt x="134114" y="1464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219200" y="24828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018794" y="2723198"/>
              <a:ext cx="571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痛点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0318" y="3174682"/>
              <a:ext cx="31030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一人问 LLM，其他人全部排队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0318" y="3498532"/>
              <a:ext cx="43481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同步调用无 await 点占死 asyncio 事件循环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0318" y="3822382"/>
              <a:ext cx="35367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DeepSeek 60s 超时 × 3 重试 × 5 轮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62700" y="1962150"/>
            <a:ext cx="5067300" cy="2781300"/>
            <a:chOff x="6362700" y="1962150"/>
            <a:chExt cx="5067300" cy="2781300"/>
          </a:xfrm>
        </p:grpSpPr>
        <p:sp>
          <p:nvSpPr>
            <p:cNvPr id="18" name="Rectangle 18"/>
            <p:cNvSpPr/>
            <p:nvPr/>
          </p:nvSpPr>
          <p:spPr>
            <a:xfrm>
              <a:off x="6362700" y="1962150"/>
              <a:ext cx="5067300" cy="2781300"/>
            </a:xfrm>
            <a:prstGeom prst="roundRect">
              <a:avLst>
                <a:gd name="adj" fmla="val 6849"/>
              </a:avLst>
            </a:prstGeom>
            <a:solidFill>
              <a:schemeClr val="lt1">
                <a:alpha val="76000"/>
              </a:schemeClr>
            </a:solidFill>
            <a:ln w="15240">
              <a:solidFill>
                <a:schemeClr val="accent2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sp>
          <p:nvSpPr>
            <p:cNvPr id="19" name="Freeform 19"/>
            <p:cNvSpPr/>
            <p:nvPr/>
          </p:nvSpPr>
          <p:spPr>
            <a:xfrm>
              <a:off x="6708775" y="2276475"/>
              <a:ext cx="222250" cy="285751"/>
            </a:xfrm>
            <a:custGeom>
              <a:avLst/>
              <a:gdLst/>
              <a:ahLst/>
              <a:cxnLst/>
              <a:rect l="l" t="t" r="r" b="b"/>
              <a:pathLst>
                <a:path w="222250" h="285751">
                  <a:moveTo>
                    <a:pt x="127000" y="0"/>
                  </a:moveTo>
                  <a:lnTo>
                    <a:pt x="127000" y="111125"/>
                  </a:lnTo>
                  <a:lnTo>
                    <a:pt x="222250" y="111125"/>
                  </a:lnTo>
                  <a:lnTo>
                    <a:pt x="95250" y="285751"/>
                  </a:lnTo>
                  <a:lnTo>
                    <a:pt x="95250" y="174625"/>
                  </a:lnTo>
                  <a:lnTo>
                    <a:pt x="0" y="174625"/>
                  </a:lnTo>
                  <a:lnTo>
                    <a:pt x="127000" y="0"/>
                  </a:lnTo>
                </a:path>
              </a:pathLst>
            </a:custGeom>
            <a:noFill/>
            <a:ln w="31750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19494" y="2723198"/>
              <a:ext cx="571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21018" y="3174682"/>
              <a:ext cx="32153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asyncio.to_thread 放行慢操作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21018" y="3498532"/>
              <a:ext cx="44235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BoundedSemaphore 限流 20（防费用失控）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21018" y="38223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每用户锁：同人串行、异人并行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21780" y="4314825"/>
              <a:ext cx="39225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contextvars 自动透传，权限隔离不受影响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2000" y="4933950"/>
            <a:ext cx="10668000" cy="855345"/>
            <a:chOff x="762000" y="4933950"/>
            <a:chExt cx="10668000" cy="855345"/>
          </a:xfrm>
        </p:grpSpPr>
        <p:sp>
          <p:nvSpPr>
            <p:cNvPr id="26" name="Rectangle 26"/>
            <p:cNvSpPr/>
            <p:nvPr/>
          </p:nvSpPr>
          <p:spPr>
            <a:xfrm>
              <a:off x="762000" y="4933950"/>
              <a:ext cx="10668000" cy="838200"/>
            </a:xfrm>
            <a:prstGeom prst="roundRect">
              <a:avLst>
                <a:gd name="adj" fmla="val 20455"/>
              </a:avLst>
            </a:prstGeom>
            <a:solidFill>
              <a:schemeClr val="lt1">
                <a:alpha val="78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32" name="Group 32"/>
            <p:cNvGrpSpPr/>
            <p:nvPr/>
          </p:nvGrpSpPr>
          <p:grpSpPr>
            <a:xfrm>
              <a:off x="1071562" y="5206255"/>
              <a:ext cx="266701" cy="208708"/>
              <a:chOff x="1071562" y="5206255"/>
              <a:chExt cx="266701" cy="20870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071562" y="5391993"/>
                <a:ext cx="257175" cy="2297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970">
                    <a:moveTo>
                      <a:pt x="0" y="22970"/>
                    </a:moveTo>
                    <a:cubicBezTo>
                      <a:pt x="39785" y="0"/>
                      <a:pt x="88802" y="0"/>
                      <a:pt x="128588" y="22970"/>
                    </a:cubicBezTo>
                    <a:cubicBezTo>
                      <a:pt x="168373" y="0"/>
                      <a:pt x="217390" y="0"/>
                      <a:pt x="257175" y="22970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71562" y="5206255"/>
                <a:ext cx="257175" cy="2297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970">
                    <a:moveTo>
                      <a:pt x="0" y="22970"/>
                    </a:moveTo>
                    <a:cubicBezTo>
                      <a:pt x="39785" y="0"/>
                      <a:pt x="88802" y="0"/>
                      <a:pt x="128588" y="22970"/>
                    </a:cubicBezTo>
                    <a:cubicBezTo>
                      <a:pt x="168373" y="0"/>
                      <a:pt x="217390" y="0"/>
                      <a:pt x="257175" y="22970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071562" y="5229225"/>
                <a:ext cx="952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5738">
                    <a:moveTo>
                      <a:pt x="0" y="0"/>
                    </a:moveTo>
                    <a:lnTo>
                      <a:pt x="0" y="185738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200150" y="5229225"/>
                <a:ext cx="952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5738">
                    <a:moveTo>
                      <a:pt x="0" y="0"/>
                    </a:moveTo>
                    <a:lnTo>
                      <a:pt x="0" y="185738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328738" y="5229225"/>
                <a:ext cx="952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5738">
                    <a:moveTo>
                      <a:pt x="0" y="0"/>
                    </a:moveTo>
                    <a:lnTo>
                      <a:pt x="0" y="185738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552956" y="5196840"/>
              <a:ext cx="62932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📚 借鉴异步模型：hello-agents ch7 AsyncToolExecutor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54480" y="5495925"/>
              <a:ext cx="58528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ai-agent-book 4-5 Flux：「异步 LLM 客户端是真正并发地基」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54380" y="6029325"/>
            <a:ext cx="5093780" cy="293370"/>
            <a:chOff x="754380" y="6029325"/>
            <a:chExt cx="5093780" cy="293370"/>
          </a:xfrm>
        </p:grpSpPr>
        <p:sp>
          <p:nvSpPr>
            <p:cNvPr id="36" name="TextBox 36"/>
            <p:cNvSpPr txBox="1"/>
            <p:nvPr/>
          </p:nvSpPr>
          <p:spPr>
            <a:xfrm>
              <a:off x="754380" y="6029325"/>
              <a:ext cx="50937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⭐ 验证：205 项回归全绿，快消息 0.32s 立即返回不排队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55142" y="6324600"/>
            <a:ext cx="10674858" cy="365951"/>
            <a:chOff x="755142" y="6324600"/>
            <a:chExt cx="10674858" cy="365951"/>
          </a:xfrm>
        </p:grpSpPr>
        <p:sp>
          <p:nvSpPr>
            <p:cNvPr id="38" name="Line 38"/>
            <p:cNvSpPr/>
            <p:nvPr/>
          </p:nvSpPr>
          <p:spPr>
            <a:xfrm>
              <a:off x="762000" y="63246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5142" y="64265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恩特小助手 · 版本演进时间线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CE6F5"/>
            </a:gs>
            <a:gs pos="55000">
              <a:srgbClr val="EEF3FA"/>
            </a:gs>
            <a:gs pos="100000">
              <a:schemeClr val="lt1"/>
            </a:gs>
          </a:gsLst>
          <a:path path="circle">
            <a:fillToRect l="50000" t="40000" r="50000" b="6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5998" y="673418"/>
            <a:ext cx="10632929" cy="783717"/>
            <a:chOff x="745998" y="673418"/>
            <a:chExt cx="10632929" cy="783717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673418"/>
              <a:ext cx="24306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STAGE 09 · v1.6.1-2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998" y="841058"/>
              <a:ext cx="50633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并发修复 · 韧性 · 稳定性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56392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15 / 20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619250"/>
            <a:ext cx="5334000" cy="2857500"/>
            <a:chOff x="762000" y="1619250"/>
            <a:chExt cx="5334000" cy="2857500"/>
          </a:xfrm>
        </p:grpSpPr>
        <p:sp>
          <p:nvSpPr>
            <p:cNvPr id="6" name="Rectangle 6"/>
            <p:cNvSpPr/>
            <p:nvPr/>
          </p:nvSpPr>
          <p:spPr>
            <a:xfrm>
              <a:off x="762000" y="1619250"/>
              <a:ext cx="5334000" cy="2857500"/>
            </a:xfrm>
            <a:prstGeom prst="roundRect">
              <a:avLst>
                <a:gd name="adj" fmla="val 6667"/>
              </a:avLst>
            </a:prstGeom>
            <a:solidFill>
              <a:schemeClr val="lt1">
                <a:alpha val="74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sp>
          <p:nvSpPr>
            <p:cNvPr id="7" name="Freeform 7"/>
            <p:cNvSpPr/>
            <p:nvPr/>
          </p:nvSpPr>
          <p:spPr>
            <a:xfrm>
              <a:off x="1066867" y="1924117"/>
              <a:ext cx="300423" cy="300423"/>
            </a:xfrm>
            <a:custGeom>
              <a:avLst/>
              <a:gdLst/>
              <a:ahLst/>
              <a:cxnLst/>
              <a:rect l="l" t="t" r="r" b="b"/>
              <a:pathLst>
                <a:path w="300423" h="300423">
                  <a:moveTo>
                    <a:pt x="72959" y="120584"/>
                  </a:moveTo>
                  <a:lnTo>
                    <a:pt x="120584" y="120584"/>
                  </a:lnTo>
                  <a:lnTo>
                    <a:pt x="120584" y="72959"/>
                  </a:lnTo>
                  <a:lnTo>
                    <a:pt x="65021" y="17396"/>
                  </a:lnTo>
                  <a:cubicBezTo>
                    <a:pt x="101446" y="0"/>
                    <a:pt x="144880" y="7452"/>
                    <a:pt x="173423" y="35995"/>
                  </a:cubicBezTo>
                  <a:cubicBezTo>
                    <a:pt x="201965" y="64537"/>
                    <a:pt x="209417" y="107972"/>
                    <a:pt x="192021" y="144396"/>
                  </a:cubicBezTo>
                  <a:lnTo>
                    <a:pt x="287272" y="239646"/>
                  </a:lnTo>
                  <a:cubicBezTo>
                    <a:pt x="300423" y="252798"/>
                    <a:pt x="300423" y="274120"/>
                    <a:pt x="287272" y="287272"/>
                  </a:cubicBezTo>
                  <a:cubicBezTo>
                    <a:pt x="274120" y="300423"/>
                    <a:pt x="252798" y="300423"/>
                    <a:pt x="239646" y="287272"/>
                  </a:cubicBezTo>
                  <a:lnTo>
                    <a:pt x="144396" y="192021"/>
                  </a:lnTo>
                  <a:cubicBezTo>
                    <a:pt x="107972" y="209417"/>
                    <a:pt x="64537" y="201965"/>
                    <a:pt x="35995" y="173423"/>
                  </a:cubicBezTo>
                  <a:cubicBezTo>
                    <a:pt x="7452" y="144880"/>
                    <a:pt x="0" y="101446"/>
                    <a:pt x="17396" y="65021"/>
                  </a:cubicBezTo>
                  <a:lnTo>
                    <a:pt x="72959" y="120584"/>
                  </a:lnTo>
                </a:path>
              </a:pathLst>
            </a:custGeom>
            <a:noFill/>
            <a:ln w="3175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18794" y="238029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并发修复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20318" y="2831782"/>
              <a:ext cx="45937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⭐ asyncio.Lock 绑定事件循环，钉钉重连必炸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0318" y="3155632"/>
              <a:ext cx="41149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修复：锁按 (loop, lock) 结构随循环重建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20318" y="3479482"/>
              <a:ext cx="3820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懒加载单例加 threading.Lock 双检锁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0318" y="3803332"/>
              <a:ext cx="23601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回复/记忆写入放线程池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62700" y="1619250"/>
            <a:ext cx="5067300" cy="2857500"/>
            <a:chOff x="6362700" y="1619250"/>
            <a:chExt cx="5067300" cy="2857500"/>
          </a:xfrm>
        </p:grpSpPr>
        <p:sp>
          <p:nvSpPr>
            <p:cNvPr id="14" name="Rectangle 14"/>
            <p:cNvSpPr/>
            <p:nvPr/>
          </p:nvSpPr>
          <p:spPr>
            <a:xfrm>
              <a:off x="6362700" y="1619250"/>
              <a:ext cx="5067300" cy="2857500"/>
            </a:xfrm>
            <a:prstGeom prst="roundRect">
              <a:avLst>
                <a:gd name="adj" fmla="val 6667"/>
              </a:avLst>
            </a:prstGeom>
            <a:solidFill>
              <a:schemeClr val="lt1">
                <a:alpha val="74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17" name="Group 17"/>
            <p:cNvGrpSpPr/>
            <p:nvPr/>
          </p:nvGrpSpPr>
          <p:grpSpPr>
            <a:xfrm>
              <a:off x="6677025" y="1933575"/>
              <a:ext cx="285751" cy="285751"/>
              <a:chOff x="6677025" y="1933575"/>
              <a:chExt cx="285751" cy="28575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6677025" y="19335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772275" y="2044700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6619494" y="2380298"/>
              <a:ext cx="84671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稳定性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21018" y="2831782"/>
              <a:ext cx="44533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DeepSeek 瞬断自动重试（指数退避 1s→2s）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21018" y="3155632"/>
              <a:ext cx="39150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10061/429/5xx 重试 3 次，4xx 不重试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21018" y="3479482"/>
              <a:ext cx="42482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崩溃恢复：启动清理遗留 staging/retired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4667250"/>
            <a:ext cx="11072492" cy="1217295"/>
            <a:chOff x="762000" y="4667250"/>
            <a:chExt cx="11072492" cy="1217295"/>
          </a:xfrm>
        </p:grpSpPr>
        <p:sp>
          <p:nvSpPr>
            <p:cNvPr id="23" name="Rectangle 23"/>
            <p:cNvSpPr/>
            <p:nvPr/>
          </p:nvSpPr>
          <p:spPr>
            <a:xfrm>
              <a:off x="762000" y="4667250"/>
              <a:ext cx="10668000" cy="1143000"/>
            </a:xfrm>
            <a:prstGeom prst="roundRect">
              <a:avLst>
                <a:gd name="adj" fmla="val 15000"/>
              </a:avLst>
            </a:prstGeom>
            <a:solidFill>
              <a:schemeClr val="lt1">
                <a:alpha val="78000"/>
              </a:schemeClr>
            </a:solidFill>
            <a:ln w="17145">
              <a:solidFill>
                <a:schemeClr val="accent2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27" name="Group 27"/>
            <p:cNvGrpSpPr/>
            <p:nvPr/>
          </p:nvGrpSpPr>
          <p:grpSpPr>
            <a:xfrm>
              <a:off x="1056059" y="4895866"/>
              <a:ext cx="288171" cy="247577"/>
              <a:chOff x="1056059" y="4895866"/>
              <a:chExt cx="288171" cy="247577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200150" y="498633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056059" y="4895866"/>
                <a:ext cx="288171" cy="247577"/>
              </a:xfrm>
              <a:custGeom>
                <a:avLst/>
                <a:gdLst/>
                <a:ahLst/>
                <a:cxnLst/>
                <a:rect l="l" t="t" r="r" b="b"/>
                <a:pathLst>
                  <a:path w="288171" h="247577">
                    <a:moveTo>
                      <a:pt x="120702" y="13191"/>
                    </a:moveTo>
                    <a:lnTo>
                      <a:pt x="4888" y="206558"/>
                    </a:lnTo>
                    <a:cubicBezTo>
                      <a:pt x="30" y="214971"/>
                      <a:pt x="0" y="225330"/>
                      <a:pt x="4810" y="233771"/>
                    </a:cubicBezTo>
                    <a:cubicBezTo>
                      <a:pt x="9620" y="242213"/>
                      <a:pt x="18548" y="247468"/>
                      <a:pt x="28262" y="247577"/>
                    </a:cubicBezTo>
                    <a:lnTo>
                      <a:pt x="259920" y="247577"/>
                    </a:lnTo>
                    <a:cubicBezTo>
                      <a:pt x="269630" y="247465"/>
                      <a:pt x="278553" y="242212"/>
                      <a:pt x="283362" y="233775"/>
                    </a:cubicBezTo>
                    <a:cubicBezTo>
                      <a:pt x="288171" y="225339"/>
                      <a:pt x="288145" y="214984"/>
                      <a:pt x="283294" y="206572"/>
                    </a:cubicBezTo>
                    <a:lnTo>
                      <a:pt x="167480" y="13176"/>
                    </a:lnTo>
                    <a:cubicBezTo>
                      <a:pt x="162524" y="4996"/>
                      <a:pt x="153655" y="0"/>
                      <a:pt x="144091" y="0"/>
                    </a:cubicBezTo>
                    <a:cubicBezTo>
                      <a:pt x="134527" y="0"/>
                      <a:pt x="125658" y="4996"/>
                      <a:pt x="120702" y="13176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200150" y="5086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552956" y="4968240"/>
              <a:ext cx="35103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🌐 Clash 代理劫持 · 三症状同根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54480" y="5324475"/>
              <a:ext cx="102800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DeepSeek 报 10061 · 钉钉 token 报 10054 · 还有 SSL EOF——同一根病（代理劫持）在不同崩溃阶段的三种表现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54480" y="5591175"/>
              <a:ext cx="58696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修复：国内 API 全直连 trust_env=False——以后新增 API 默认加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55142" y="6096000"/>
            <a:ext cx="10674858" cy="365951"/>
            <a:chOff x="755142" y="6096000"/>
            <a:chExt cx="10674858" cy="365951"/>
          </a:xfrm>
        </p:grpSpPr>
        <p:sp>
          <p:nvSpPr>
            <p:cNvPr id="32" name="Line 32"/>
            <p:cNvSpPr/>
            <p:nvPr/>
          </p:nvSpPr>
          <p:spPr>
            <a:xfrm>
              <a:off x="762000" y="6096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5142" y="61979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恩特小助手 · 版本演进时间线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CE6F5"/>
            </a:gs>
            <a:gs pos="55000">
              <a:srgbClr val="EEF3FA"/>
            </a:gs>
            <a:gs pos="100000">
              <a:schemeClr val="lt1"/>
            </a:gs>
          </a:gsLst>
          <a:path path="circle">
            <a:fillToRect l="50000" t="40000" r="50000" b="6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5998" y="673418"/>
            <a:ext cx="10632929" cy="783717"/>
            <a:chOff x="745998" y="673418"/>
            <a:chExt cx="10632929" cy="783717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673418"/>
              <a:ext cx="21578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STAGE 10 · v1.7.0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998" y="841058"/>
              <a:ext cx="544186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组织通讯录 find_employee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56392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16 / 20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52856" y="1501140"/>
            <a:ext cx="3568217" cy="352044"/>
            <a:chOff x="752856" y="1501140"/>
            <a:chExt cx="3568217" cy="352044"/>
          </a:xfrm>
        </p:grpSpPr>
        <p:sp>
          <p:nvSpPr>
            <p:cNvPr id="6" name="TextBox 6"/>
            <p:cNvSpPr txBox="1"/>
            <p:nvPr/>
          </p:nvSpPr>
          <p:spPr>
            <a:xfrm>
              <a:off x="752856" y="1501140"/>
              <a:ext cx="35682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2026-08-06 · 找人问题一句话问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962150"/>
            <a:ext cx="5334000" cy="2857500"/>
            <a:chOff x="762000" y="1962150"/>
            <a:chExt cx="5334000" cy="2857500"/>
          </a:xfrm>
        </p:grpSpPr>
        <p:sp>
          <p:nvSpPr>
            <p:cNvPr id="8" name="Rectangle 8"/>
            <p:cNvSpPr/>
            <p:nvPr/>
          </p:nvSpPr>
          <p:spPr>
            <a:xfrm>
              <a:off x="762000" y="1962150"/>
              <a:ext cx="5334000" cy="2857500"/>
            </a:xfrm>
            <a:prstGeom prst="roundRect">
              <a:avLst>
                <a:gd name="adj" fmla="val 6667"/>
              </a:avLst>
            </a:prstGeom>
            <a:solidFill>
              <a:schemeClr val="lt1">
                <a:alpha val="74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13" name="Group 13"/>
            <p:cNvGrpSpPr/>
            <p:nvPr/>
          </p:nvGrpSpPr>
          <p:grpSpPr>
            <a:xfrm>
              <a:off x="1076325" y="2276475"/>
              <a:ext cx="285751" cy="285751"/>
              <a:chOff x="1076325" y="2276475"/>
              <a:chExt cx="285751" cy="28575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108075" y="227647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76325" y="246697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127000" y="0"/>
                    </a:lnTo>
                    <a:cubicBezTo>
                      <a:pt x="162070" y="0"/>
                      <a:pt x="190500" y="28430"/>
                      <a:pt x="190500" y="63500"/>
                    </a:cubicBezTo>
                    <a:lnTo>
                      <a:pt x="190500" y="9525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282701" y="2278539"/>
                <a:ext cx="47750" cy="123031"/>
              </a:xfrm>
              <a:custGeom>
                <a:avLst/>
                <a:gdLst/>
                <a:ahLst/>
                <a:cxnLst/>
                <a:rect l="l" t="t" r="r" b="b"/>
                <a:pathLst>
                  <a:path w="47750" h="123031">
                    <a:moveTo>
                      <a:pt x="0" y="0"/>
                    </a:moveTo>
                    <a:cubicBezTo>
                      <a:pt x="28097" y="7194"/>
                      <a:pt x="47750" y="32512"/>
                      <a:pt x="47750" y="61516"/>
                    </a:cubicBezTo>
                    <a:cubicBezTo>
                      <a:pt x="47750" y="90520"/>
                      <a:pt x="28097" y="115837"/>
                      <a:pt x="0" y="123031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314451" y="2469357"/>
                <a:ext cx="476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2869">
                    <a:moveTo>
                      <a:pt x="47625" y="92869"/>
                    </a:moveTo>
                    <a:lnTo>
                      <a:pt x="47625" y="61119"/>
                    </a:lnTo>
                    <a:cubicBezTo>
                      <a:pt x="47459" y="32299"/>
                      <a:pt x="27905" y="7205"/>
                      <a:pt x="0" y="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018794" y="272319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做了什么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0318" y="3174682"/>
              <a:ext cx="4492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find_employee 工具走注册中心，零改动接入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0318" y="3498532"/>
              <a:ext cx="30487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姓名/部门/职位/工号全员可查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0318" y="3822382"/>
              <a:ext cx="23601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手机/邮箱仅审核人可见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20318" y="4146232"/>
              <a:ext cx="26601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60s TTL 缓存防 QPS 限流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21080" y="4486275"/>
              <a:ext cx="31451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90 员工全量拉到 · 227 项回归全绿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362700" y="1962150"/>
            <a:ext cx="5067300" cy="2857500"/>
            <a:chOff x="6362700" y="1962150"/>
            <a:chExt cx="5067300" cy="2857500"/>
          </a:xfrm>
        </p:grpSpPr>
        <p:sp>
          <p:nvSpPr>
            <p:cNvPr id="21" name="Rectangle 21"/>
            <p:cNvSpPr/>
            <p:nvPr/>
          </p:nvSpPr>
          <p:spPr>
            <a:xfrm>
              <a:off x="6362700" y="1962150"/>
              <a:ext cx="5067300" cy="2857500"/>
            </a:xfrm>
            <a:prstGeom prst="roundRect">
              <a:avLst>
                <a:gd name="adj" fmla="val 6667"/>
              </a:avLst>
            </a:prstGeom>
            <a:solidFill>
              <a:schemeClr val="lt1">
                <a:alpha val="76000"/>
              </a:schemeClr>
            </a:solidFill>
            <a:ln w="15240">
              <a:solidFill>
                <a:schemeClr val="accent2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28" name="Group 28"/>
            <p:cNvGrpSpPr/>
            <p:nvPr/>
          </p:nvGrpSpPr>
          <p:grpSpPr>
            <a:xfrm>
              <a:off x="6677025" y="2276475"/>
              <a:ext cx="285751" cy="285750"/>
              <a:chOff x="6677025" y="2276475"/>
              <a:chExt cx="285751" cy="28575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819900" y="2435225"/>
                <a:ext cx="1111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27000">
                    <a:moveTo>
                      <a:pt x="55563" y="0"/>
                    </a:moveTo>
                    <a:cubicBezTo>
                      <a:pt x="24876" y="0"/>
                      <a:pt x="0" y="24876"/>
                      <a:pt x="0" y="55563"/>
                    </a:cubicBezTo>
                    <a:lnTo>
                      <a:pt x="0" y="71438"/>
                    </a:lnTo>
                    <a:cubicBezTo>
                      <a:pt x="0" y="102124"/>
                      <a:pt x="24876" y="127000"/>
                      <a:pt x="55563" y="127000"/>
                    </a:cubicBezTo>
                    <a:cubicBezTo>
                      <a:pt x="86249" y="127000"/>
                      <a:pt x="111125" y="102124"/>
                      <a:pt x="111125" y="71438"/>
                    </a:cubicBezTo>
                    <a:lnTo>
                      <a:pt x="111125" y="42863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08775" y="2435225"/>
                <a:ext cx="1111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27000">
                    <a:moveTo>
                      <a:pt x="55563" y="0"/>
                    </a:moveTo>
                    <a:cubicBezTo>
                      <a:pt x="86249" y="0"/>
                      <a:pt x="111125" y="24876"/>
                      <a:pt x="111125" y="55563"/>
                    </a:cubicBezTo>
                    <a:lnTo>
                      <a:pt x="111125" y="71438"/>
                    </a:lnTo>
                    <a:cubicBezTo>
                      <a:pt x="111125" y="102124"/>
                      <a:pt x="86249" y="127000"/>
                      <a:pt x="55563" y="127000"/>
                    </a:cubicBezTo>
                    <a:cubicBezTo>
                      <a:pt x="24876" y="127000"/>
                      <a:pt x="0" y="102124"/>
                      <a:pt x="0" y="71438"/>
                    </a:cubicBezTo>
                    <a:lnTo>
                      <a:pt x="0" y="42863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899276" y="2371725"/>
                <a:ext cx="6350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11125">
                    <a:moveTo>
                      <a:pt x="7938" y="111125"/>
                    </a:moveTo>
                    <a:cubicBezTo>
                      <a:pt x="38624" y="111125"/>
                      <a:pt x="63500" y="86249"/>
                      <a:pt x="63500" y="55563"/>
                    </a:cubicBezTo>
                    <a:cubicBezTo>
                      <a:pt x="63500" y="24876"/>
                      <a:pt x="38624" y="0"/>
                      <a:pt x="7938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819900" y="2276475"/>
                <a:ext cx="1111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00013">
                    <a:moveTo>
                      <a:pt x="111125" y="100013"/>
                    </a:moveTo>
                    <a:lnTo>
                      <a:pt x="111125" y="55563"/>
                    </a:lnTo>
                    <a:cubicBezTo>
                      <a:pt x="111125" y="24876"/>
                      <a:pt x="86249" y="0"/>
                      <a:pt x="55563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677025" y="2371725"/>
                <a:ext cx="6350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11125">
                    <a:moveTo>
                      <a:pt x="55563" y="111125"/>
                    </a:moveTo>
                    <a:cubicBezTo>
                      <a:pt x="24876" y="111125"/>
                      <a:pt x="0" y="86249"/>
                      <a:pt x="0" y="55563"/>
                    </a:cubicBezTo>
                    <a:cubicBezTo>
                      <a:pt x="0" y="24876"/>
                      <a:pt x="24876" y="0"/>
                      <a:pt x="55563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708775" y="2276475"/>
                <a:ext cx="111125" cy="214313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214313">
                    <a:moveTo>
                      <a:pt x="0" y="100013"/>
                    </a:moveTo>
                    <a:lnTo>
                      <a:pt x="0" y="55563"/>
                    </a:lnTo>
                    <a:cubicBezTo>
                      <a:pt x="0" y="24876"/>
                      <a:pt x="24876" y="0"/>
                      <a:pt x="55563" y="0"/>
                    </a:cubicBezTo>
                    <a:cubicBezTo>
                      <a:pt x="86249" y="0"/>
                      <a:pt x="111125" y="24876"/>
                      <a:pt x="111125" y="55563"/>
                    </a:cubicBezTo>
                    <a:lnTo>
                      <a:pt x="111125" y="214313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619494" y="27231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学到的新知识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21018" y="3174682"/>
              <a:ext cx="36817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⭐ 钉钉新版接口 404 → 旧版 oapi 换族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21018" y="3498532"/>
              <a:ext cx="47924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新版 api.dingtalk.com 全 404 → 旧版 oapi 可用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21018" y="3822382"/>
              <a:ext cx="41122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敏感字段服务端剥离，不依赖 LLM 自觉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21018" y="4146232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权限放数据链路层，不放在提示词层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5010150"/>
            <a:ext cx="10668000" cy="855345"/>
            <a:chOff x="762000" y="5010150"/>
            <a:chExt cx="10668000" cy="855345"/>
          </a:xfrm>
        </p:grpSpPr>
        <p:sp>
          <p:nvSpPr>
            <p:cNvPr id="35" name="Rectangle 35"/>
            <p:cNvSpPr/>
            <p:nvPr/>
          </p:nvSpPr>
          <p:spPr>
            <a:xfrm>
              <a:off x="762000" y="5010150"/>
              <a:ext cx="10668000" cy="800100"/>
            </a:xfrm>
            <a:prstGeom prst="roundRect">
              <a:avLst>
                <a:gd name="adj" fmla="val 21429"/>
              </a:avLst>
            </a:prstGeom>
            <a:solidFill>
              <a:schemeClr val="lt1">
                <a:alpha val="78000"/>
              </a:schemeClr>
            </a:solidFill>
            <a:ln w="17145">
              <a:solidFill>
                <a:schemeClr val="accent2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grpSp>
          <p:nvGrpSpPr>
            <p:cNvPr id="38" name="Group 38"/>
            <p:cNvGrpSpPr/>
            <p:nvPr/>
          </p:nvGrpSpPr>
          <p:grpSpPr>
            <a:xfrm>
              <a:off x="1071562" y="5262562"/>
              <a:ext cx="257175" cy="257175"/>
              <a:chOff x="1071562" y="5262562"/>
              <a:chExt cx="257175" cy="25717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1071562" y="52625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157288" y="5362575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552956" y="5273040"/>
              <a:ext cx="31320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⭐ 工具注册中心架构红利兑现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554480" y="557212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新能力无需改 agent.py 一行，权限天然按身份隔离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55142" y="6096000"/>
            <a:ext cx="10674858" cy="365951"/>
            <a:chOff x="755142" y="6096000"/>
            <a:chExt cx="10674858" cy="365951"/>
          </a:xfrm>
        </p:grpSpPr>
        <p:sp>
          <p:nvSpPr>
            <p:cNvPr id="42" name="Line 42"/>
            <p:cNvSpPr/>
            <p:nvPr/>
          </p:nvSpPr>
          <p:spPr>
            <a:xfrm>
              <a:off x="762000" y="6096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55142" y="61979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恩特小助手 · 版本演进时间线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CE6F5"/>
            </a:gs>
            <a:gs pos="55000">
              <a:srgbClr val="EEF3FA"/>
            </a:gs>
            <a:gs pos="100000">
              <a:schemeClr val="lt1"/>
            </a:gs>
          </a:gsLst>
          <a:path path="circle">
            <a:fillToRect l="50000" t="40000" r="50000" b="6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5998" y="673418"/>
            <a:ext cx="10632929" cy="783717"/>
            <a:chOff x="745998" y="673418"/>
            <a:chExt cx="10632929" cy="783717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673418"/>
              <a:ext cx="27372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GROWTH DATA · 半年成长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998" y="84105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数字看板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56392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17 / 20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1676400"/>
            <a:ext cx="10668000" cy="3429000"/>
            <a:chOff x="762000" y="1676400"/>
            <a:chExt cx="10668000" cy="3429000"/>
          </a:xfrm>
        </p:grpSpPr>
        <p:grpSp>
          <p:nvGrpSpPr>
            <p:cNvPr id="9" name="Group 9"/>
            <p:cNvGrpSpPr/>
            <p:nvPr/>
          </p:nvGrpSpPr>
          <p:grpSpPr>
            <a:xfrm>
              <a:off x="762000" y="1676400"/>
              <a:ext cx="3390900" cy="1619250"/>
              <a:chOff x="762000" y="1676400"/>
              <a:chExt cx="3390900" cy="16192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762000" y="1676400"/>
                <a:ext cx="3390900" cy="1619250"/>
              </a:xfrm>
              <a:prstGeom prst="roundRect">
                <a:avLst>
                  <a:gd name="adj" fmla="val 11765"/>
                </a:avLst>
              </a:prstGeom>
              <a:solidFill>
                <a:schemeClr val="lt1">
                  <a:alpha val="74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09650" y="1882140"/>
                <a:ext cx="2684191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33 → 227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20318" y="2831782"/>
                <a:ext cx="134950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自动化测试项</a:t>
                </a:r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4305300" y="1676400"/>
              <a:ext cx="3390900" cy="1619250"/>
              <a:chOff x="4305300" y="1676400"/>
              <a:chExt cx="3390900" cy="16192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4305300" y="1676400"/>
                <a:ext cx="3390900" cy="1619250"/>
              </a:xfrm>
              <a:prstGeom prst="roundRect">
                <a:avLst>
                  <a:gd name="adj" fmla="val 11765"/>
                </a:avLst>
              </a:prstGeom>
              <a:solidFill>
                <a:schemeClr val="lt1">
                  <a:alpha val="74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4552950" y="1882140"/>
                <a:ext cx="784433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24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4563618" y="2831782"/>
                <a:ext cx="21380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发布版本 · 10 大阶段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848600" y="1676400"/>
              <a:ext cx="3581400" cy="1619250"/>
              <a:chOff x="7848600" y="1676400"/>
              <a:chExt cx="3581400" cy="16192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7848600" y="1676400"/>
                <a:ext cx="3581400" cy="1619250"/>
              </a:xfrm>
              <a:prstGeom prst="roundRect">
                <a:avLst>
                  <a:gd name="adj" fmla="val 11765"/>
                </a:avLst>
              </a:prstGeom>
              <a:solidFill>
                <a:schemeClr val="lt1">
                  <a:alpha val="74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8096250" y="1882140"/>
                <a:ext cx="1666464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54 类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106918" y="2831782"/>
                <a:ext cx="16479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PCB 本地计算器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762000" y="3486150"/>
              <a:ext cx="3390900" cy="1619250"/>
              <a:chOff x="762000" y="3486150"/>
              <a:chExt cx="3390900" cy="1619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62000" y="3486150"/>
                <a:ext cx="3390900" cy="1619250"/>
              </a:xfrm>
              <a:prstGeom prst="roundRect">
                <a:avLst>
                  <a:gd name="adj" fmla="val 11765"/>
                </a:avLst>
              </a:prstGeom>
              <a:solidFill>
                <a:schemeClr val="lt1">
                  <a:alpha val="74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009650" y="3691890"/>
                <a:ext cx="1157600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133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20318" y="4641532"/>
                <a:ext cx="188259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PCS 故障记录入库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4305300" y="3486150"/>
              <a:ext cx="4199654" cy="1619250"/>
              <a:chOff x="4305300" y="3486150"/>
              <a:chExt cx="4199654" cy="16192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4305300" y="3486150"/>
                <a:ext cx="3390900" cy="1619250"/>
              </a:xfrm>
              <a:prstGeom prst="roundRect">
                <a:avLst>
                  <a:gd name="adj" fmla="val 11765"/>
                </a:avLst>
              </a:prstGeom>
              <a:solidFill>
                <a:schemeClr val="lt1">
                  <a:alpha val="74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552950" y="3691890"/>
                <a:ext cx="1666464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≈78%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563618" y="4641532"/>
                <a:ext cx="394133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KV Cache 命中率（真实日志 89-92%）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7848600" y="3486150"/>
              <a:ext cx="3581400" cy="1619250"/>
              <a:chOff x="7848600" y="3486150"/>
              <a:chExt cx="3581400" cy="16192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848600" y="3486150"/>
                <a:ext cx="3581400" cy="1619250"/>
              </a:xfrm>
              <a:prstGeom prst="roundRect">
                <a:avLst>
                  <a:gd name="adj" fmla="val 11765"/>
                </a:avLst>
              </a:prstGeom>
              <a:solidFill>
                <a:schemeClr val="lt1">
                  <a:alpha val="74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096250" y="3691890"/>
                <a:ext cx="784433" cy="933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8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90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06918" y="4641532"/>
                <a:ext cx="201587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员工通讯录全量拉到</a:t>
                </a:r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762000" y="5295900"/>
            <a:ext cx="10668000" cy="857250"/>
            <a:chOff x="762000" y="5295900"/>
            <a:chExt cx="10668000" cy="857250"/>
          </a:xfrm>
        </p:grpSpPr>
        <p:sp>
          <p:nvSpPr>
            <p:cNvPr id="31" name="Rectangle 31"/>
            <p:cNvSpPr/>
            <p:nvPr/>
          </p:nvSpPr>
          <p:spPr>
            <a:xfrm>
              <a:off x="762000" y="5295900"/>
              <a:ext cx="10668000" cy="857250"/>
            </a:xfrm>
            <a:prstGeom prst="roundRect">
              <a:avLst>
                <a:gd name="adj" fmla="val 20000"/>
              </a:avLst>
            </a:prstGeom>
            <a:solidFill>
              <a:schemeClr val="lt1">
                <a:alpha val="76000"/>
              </a:schemeClr>
            </a:solidFill>
            <a:ln w="15240">
              <a:solidFill>
                <a:schemeClr val="accent2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1020318" y="5498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成长主线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0318" y="5822632"/>
              <a:ext cx="79132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先做「能查」→ 再做「能管」→ 再做「能算」→ 最后做「能记、能并发、能认人」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55142" y="6324600"/>
            <a:ext cx="10674858" cy="365951"/>
            <a:chOff x="755142" y="6324600"/>
            <a:chExt cx="10674858" cy="365951"/>
          </a:xfrm>
        </p:grpSpPr>
        <p:sp>
          <p:nvSpPr>
            <p:cNvPr id="35" name="Line 35"/>
            <p:cNvSpPr/>
            <p:nvPr/>
          </p:nvSpPr>
          <p:spPr>
            <a:xfrm>
              <a:off x="762000" y="63246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5142" y="64265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恩特小助手 · 版本演进时间线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CE6F5"/>
            </a:gs>
            <a:gs pos="55000">
              <a:srgbClr val="EEF3FA"/>
            </a:gs>
            <a:gs pos="100000">
              <a:schemeClr val="lt1"/>
            </a:gs>
          </a:gsLst>
          <a:path path="circle">
            <a:fillToRect l="50000" t="40000" r="50000" b="6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5998" y="673418"/>
            <a:ext cx="10632929" cy="783717"/>
            <a:chOff x="745998" y="673418"/>
            <a:chExt cx="10632929" cy="783717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673418"/>
              <a:ext cx="19307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PITS WE CLIMBED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998" y="841058"/>
              <a:ext cx="41060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爬过的坑 · 横切汇总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56392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18 / 20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619250"/>
            <a:ext cx="3390900" cy="3143250"/>
            <a:chOff x="762000" y="1619250"/>
            <a:chExt cx="3390900" cy="3143250"/>
          </a:xfrm>
        </p:grpSpPr>
        <p:sp>
          <p:nvSpPr>
            <p:cNvPr id="6" name="Rectangle 6"/>
            <p:cNvSpPr/>
            <p:nvPr/>
          </p:nvSpPr>
          <p:spPr>
            <a:xfrm>
              <a:off x="762000" y="1619250"/>
              <a:ext cx="3390900" cy="3143250"/>
            </a:xfrm>
            <a:prstGeom prst="roundRect">
              <a:avLst>
                <a:gd name="adj" fmla="val 6061"/>
              </a:avLst>
            </a:prstGeom>
            <a:solidFill>
              <a:schemeClr val="lt1">
                <a:alpha val="72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1019556" y="18440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版本兼容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21461" y="2303621"/>
              <a:ext cx="2667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PaddlePaddle 只有 3.2.2 兼容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21461" y="2608421"/>
              <a:ext cx="30287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已编译正则传 flags 抛 ValueError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1461" y="2913221"/>
              <a:ext cx="29936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钉钉新版 REST 接口整个前缀 404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9556" y="3291840"/>
              <a:ext cx="13286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环境 / 网络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1461" y="3751421"/>
              <a:ext cx="22957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Clash 代理劫持三症状同根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1461" y="4056221"/>
              <a:ext cx="18305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.pyc 缓存不释放端口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21461" y="4361021"/>
              <a:ext cx="240921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Windows GBK 中文日志乱码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305300" y="1619250"/>
            <a:ext cx="3390900" cy="3143250"/>
            <a:chOff x="4305300" y="1619250"/>
            <a:chExt cx="3390900" cy="3143250"/>
          </a:xfrm>
        </p:grpSpPr>
        <p:sp>
          <p:nvSpPr>
            <p:cNvPr id="16" name="Rectangle 16"/>
            <p:cNvSpPr/>
            <p:nvPr/>
          </p:nvSpPr>
          <p:spPr>
            <a:xfrm>
              <a:off x="4305300" y="1619250"/>
              <a:ext cx="3390900" cy="3143250"/>
            </a:xfrm>
            <a:prstGeom prst="roundRect">
              <a:avLst>
                <a:gd name="adj" fmla="val 6061"/>
              </a:avLst>
            </a:prstGeom>
            <a:solidFill>
              <a:schemeClr val="lt1">
                <a:alpha val="72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sp>
          <p:nvSpPr>
            <p:cNvPr id="17" name="TextBox 17"/>
            <p:cNvSpPr txBox="1"/>
            <p:nvPr/>
          </p:nvSpPr>
          <p:spPr>
            <a:xfrm>
              <a:off x="4562856" y="18440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并发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4761" y="2303621"/>
              <a:ext cx="26372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asyncio.Lock 跨循环重连必炸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4761" y="2608421"/>
              <a:ext cx="28627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gather 内 mock.patch 竞态泄漏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64761" y="2913221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懒加载单例非线程安全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62856" y="3291840"/>
              <a:ext cx="11339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LLM 行为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64761" y="3751421"/>
              <a:ext cx="18529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V4 思考挤空 content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64761" y="4056221"/>
              <a:ext cx="30167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content=None 触发 .strip() 崩溃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64761" y="4361021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编造需「绝对不能编造」显式约束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848600" y="1619250"/>
            <a:ext cx="3581400" cy="3143250"/>
            <a:chOff x="7848600" y="1619250"/>
            <a:chExt cx="3581400" cy="3143250"/>
          </a:xfrm>
        </p:grpSpPr>
        <p:sp>
          <p:nvSpPr>
            <p:cNvPr id="26" name="Rectangle 26"/>
            <p:cNvSpPr/>
            <p:nvPr/>
          </p:nvSpPr>
          <p:spPr>
            <a:xfrm>
              <a:off x="7848600" y="1619250"/>
              <a:ext cx="3581400" cy="3143250"/>
            </a:xfrm>
            <a:prstGeom prst="roundRect">
              <a:avLst>
                <a:gd name="adj" fmla="val 6061"/>
              </a:avLst>
            </a:prstGeom>
            <a:solidFill>
              <a:schemeClr val="lt1">
                <a:alpha val="72000"/>
              </a:schemeClr>
            </a:solidFill>
            <a:ln w="11430">
              <a:solidFill>
                <a:schemeClr val="accent3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sp>
          <p:nvSpPr>
            <p:cNvPr id="27" name="TextBox 27"/>
            <p:cNvSpPr txBox="1"/>
            <p:nvPr/>
          </p:nvSpPr>
          <p:spPr>
            <a:xfrm>
              <a:off x="8106156" y="18440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08061" y="2303621"/>
              <a:ext cx="24887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字节级重复 PDF 污染知识库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08061" y="2608421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裸语义检索对代码/编号全 miss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08061" y="2913221"/>
              <a:ext cx="16775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汉字 \b 边界不成立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06156" y="32918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数据失真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08061" y="3751421"/>
              <a:ext cx="16680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尾零 rstrip 削数据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08061" y="4056221"/>
              <a:ext cx="28340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rerank 静默失效近 3 版本才发现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08061" y="4361021"/>
              <a:ext cx="20888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降级保护吞掉 KeyError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2000" y="4953000"/>
            <a:ext cx="10668000" cy="952500"/>
            <a:chOff x="762000" y="4953000"/>
            <a:chExt cx="10668000" cy="952500"/>
          </a:xfrm>
        </p:grpSpPr>
        <p:sp>
          <p:nvSpPr>
            <p:cNvPr id="36" name="Rectangle 36"/>
            <p:cNvSpPr/>
            <p:nvPr/>
          </p:nvSpPr>
          <p:spPr>
            <a:xfrm>
              <a:off x="762000" y="4953000"/>
              <a:ext cx="10668000" cy="952500"/>
            </a:xfrm>
            <a:prstGeom prst="roundRect">
              <a:avLst>
                <a:gd name="adj" fmla="val 18000"/>
              </a:avLst>
            </a:prstGeom>
            <a:solidFill>
              <a:schemeClr val="lt1">
                <a:alpha val="76000"/>
              </a:schemeClr>
            </a:solidFill>
            <a:ln w="15240">
              <a:solidFill>
                <a:schemeClr val="accent2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sp>
          <p:nvSpPr>
            <p:cNvPr id="37" name="TextBox 37"/>
            <p:cNvSpPr txBox="1"/>
            <p:nvPr/>
          </p:nvSpPr>
          <p:spPr>
            <a:xfrm>
              <a:off x="1019556" y="5158740"/>
              <a:ext cx="4089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每个坑都变成了下一版本的防坑设计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20318" y="5536882"/>
              <a:ext cx="7761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版本兼容 / 环境网络 / 并发 / LLM 行为 / 工程 / 数据失真——六类横切教训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55142" y="6134100"/>
            <a:ext cx="10674858" cy="365951"/>
            <a:chOff x="755142" y="6134100"/>
            <a:chExt cx="10674858" cy="365951"/>
          </a:xfrm>
        </p:grpSpPr>
        <p:sp>
          <p:nvSpPr>
            <p:cNvPr id="40" name="Line 40"/>
            <p:cNvSpPr/>
            <p:nvPr/>
          </p:nvSpPr>
          <p:spPr>
            <a:xfrm>
              <a:off x="762000" y="61341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5142" y="62360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恩特小助手 · 版本演进时间线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CE6F5"/>
            </a:gs>
            <a:gs pos="55000">
              <a:srgbClr val="EEF3FA"/>
            </a:gs>
            <a:gs pos="100000">
              <a:schemeClr val="lt1"/>
            </a:gs>
          </a:gsLst>
          <a:path path="circle">
            <a:fillToRect l="50000" t="40000" r="50000" b="6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5998" y="673418"/>
            <a:ext cx="10632929" cy="783717"/>
            <a:chOff x="745998" y="673418"/>
            <a:chExt cx="10632929" cy="783717"/>
          </a:xfrm>
        </p:grpSpPr>
        <p:sp>
          <p:nvSpPr>
            <p:cNvPr id="2" name="TextBox 2"/>
            <p:cNvSpPr txBox="1"/>
            <p:nvPr/>
          </p:nvSpPr>
          <p:spPr>
            <a:xfrm>
              <a:off x="755142" y="673418"/>
              <a:ext cx="31469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KEY LESSONS · 最重要的教训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45998" y="841058"/>
              <a:ext cx="225828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五条方法论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56392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19 / 20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1676400"/>
            <a:ext cx="10715404" cy="3429000"/>
            <a:chOff x="762000" y="1676400"/>
            <a:chExt cx="10715404" cy="3429000"/>
          </a:xfrm>
        </p:grpSpPr>
        <p:grpSp>
          <p:nvGrpSpPr>
            <p:cNvPr id="10" name="Group 10"/>
            <p:cNvGrpSpPr/>
            <p:nvPr/>
          </p:nvGrpSpPr>
          <p:grpSpPr>
            <a:xfrm>
              <a:off x="762000" y="1676400"/>
              <a:ext cx="3905987" cy="1619250"/>
              <a:chOff x="762000" y="1676400"/>
              <a:chExt cx="3905987" cy="16192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762000" y="1676400"/>
                <a:ext cx="3390900" cy="1619250"/>
              </a:xfrm>
              <a:prstGeom prst="roundRect">
                <a:avLst>
                  <a:gd name="adj" fmla="val 11765"/>
                </a:avLst>
              </a:prstGeom>
              <a:solidFill>
                <a:schemeClr val="lt1">
                  <a:alpha val="74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13460" y="1943100"/>
                <a:ext cx="496938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20318" y="2469832"/>
                <a:ext cx="233739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降级保护可能掩盖 bug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21461" y="2856071"/>
                <a:ext cx="364652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自动回退不崩溃是双刃剑，靠可观测性兜底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4305300" y="1676400"/>
              <a:ext cx="3445038" cy="1619250"/>
              <a:chOff x="4305300" y="1676400"/>
              <a:chExt cx="3445038" cy="16192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4305300" y="1676400"/>
                <a:ext cx="3390900" cy="1619250"/>
              </a:xfrm>
              <a:prstGeom prst="roundRect">
                <a:avLst>
                  <a:gd name="adj" fmla="val 11765"/>
                </a:avLst>
              </a:prstGeom>
              <a:solidFill>
                <a:schemeClr val="lt1">
                  <a:alpha val="74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556760" y="1943100"/>
                <a:ext cx="496938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563618" y="2469832"/>
                <a:ext cx="202517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LLM 只用在刀刃上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564761" y="2856071"/>
                <a:ext cx="31855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能本地匹配就不调 API，省时间省钱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7848600" y="1676400"/>
              <a:ext cx="3628804" cy="1619250"/>
              <a:chOff x="7848600" y="1676400"/>
              <a:chExt cx="3628804" cy="16192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7848600" y="1676400"/>
                <a:ext cx="3581400" cy="1619250"/>
              </a:xfrm>
              <a:prstGeom prst="roundRect">
                <a:avLst>
                  <a:gd name="adj" fmla="val 11765"/>
                </a:avLst>
              </a:prstGeom>
              <a:solidFill>
                <a:schemeClr val="lt1">
                  <a:alpha val="74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8100060" y="1943100"/>
                <a:ext cx="496938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106918" y="2469832"/>
                <a:ext cx="215081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代码就绪 ≠ 功能生效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108061" y="2856071"/>
                <a:ext cx="336934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模型/依赖就位前，框架就绪不等于可用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62000" y="3486150"/>
              <a:ext cx="3390900" cy="1619250"/>
              <a:chOff x="762000" y="3486150"/>
              <a:chExt cx="3390900" cy="16192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762000" y="3486150"/>
                <a:ext cx="3390900" cy="1619250"/>
              </a:xfrm>
              <a:prstGeom prst="roundRect">
                <a:avLst>
                  <a:gd name="adj" fmla="val 11765"/>
                </a:avLst>
              </a:prstGeom>
              <a:solidFill>
                <a:schemeClr val="lt1">
                  <a:alpha val="74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13460" y="3752850"/>
                <a:ext cx="496938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20318" y="4279582"/>
                <a:ext cx="261726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新接口 ≠ 可用，换族兜底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21461" y="4665821"/>
                <a:ext cx="3006138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钉钉新版 404 → 旧版 oapi 实测可用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4305300" y="3486150"/>
              <a:ext cx="3535929" cy="1619250"/>
              <a:chOff x="4305300" y="3486150"/>
              <a:chExt cx="3535929" cy="16192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305300" y="3486150"/>
                <a:ext cx="3390900" cy="1619250"/>
              </a:xfrm>
              <a:prstGeom prst="roundRect">
                <a:avLst>
                  <a:gd name="adj" fmla="val 11765"/>
                </a:avLst>
              </a:prstGeom>
              <a:solidFill>
                <a:schemeClr val="lt1">
                  <a:alpha val="74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4556760" y="3752850"/>
                <a:ext cx="496938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05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563618" y="4279582"/>
                <a:ext cx="188259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权限放数据链路层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564761" y="4665821"/>
                <a:ext cx="3276468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不依赖 LLM 自觉，键不进返回 JSON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7848600" y="3486150"/>
              <a:ext cx="3581400" cy="1619250"/>
              <a:chOff x="7848600" y="3486150"/>
              <a:chExt cx="3581400" cy="16192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7848600" y="3486150"/>
                <a:ext cx="3581400" cy="1619250"/>
              </a:xfrm>
              <a:prstGeom prst="roundRect">
                <a:avLst>
                  <a:gd name="adj" fmla="val 11765"/>
                </a:avLst>
              </a:prstGeom>
              <a:solidFill>
                <a:schemeClr val="lt1">
                  <a:alpha val="74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33350" dist="47625" dir="5400000" algn="ctr" rotWithShape="0">
                  <a:srgbClr val="1A3A6B">
                    <a:alpha val="7500"/>
                  </a:srgbClr>
                </a:outerShdw>
              </a:effectLst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100060" y="3752850"/>
                <a:ext cx="496938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06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106918" y="4279582"/>
                <a:ext cx="118291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用数据说话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108061" y="4665821"/>
                <a:ext cx="3101718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评估集 + 成本模拟，不靠感觉做决策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762000" y="5295900"/>
            <a:ext cx="10668000" cy="857250"/>
            <a:chOff x="762000" y="5295900"/>
            <a:chExt cx="10668000" cy="857250"/>
          </a:xfrm>
        </p:grpSpPr>
        <p:sp>
          <p:nvSpPr>
            <p:cNvPr id="37" name="Rectangle 37"/>
            <p:cNvSpPr/>
            <p:nvPr/>
          </p:nvSpPr>
          <p:spPr>
            <a:xfrm>
              <a:off x="762000" y="5295900"/>
              <a:ext cx="10668000" cy="857250"/>
            </a:xfrm>
            <a:prstGeom prst="roundRect">
              <a:avLst>
                <a:gd name="adj" fmla="val 20000"/>
              </a:avLst>
            </a:prstGeom>
            <a:solidFill>
              <a:schemeClr val="lt1">
                <a:alpha val="76000"/>
              </a:schemeClr>
            </a:solidFill>
            <a:ln w="15240">
              <a:solidFill>
                <a:schemeClr val="accent2"/>
              </a:solidFill>
            </a:ln>
            <a:effectLst>
              <a:outerShdw blurRad="133350" dist="47625" dir="5400000" algn="ctr" rotWithShape="0">
                <a:srgbClr val="1A3A6B">
                  <a:alpha val="7500"/>
                </a:srgbClr>
              </a:outerShdw>
            </a:effectLst>
          </p:spPr>
        </p:sp>
        <p:sp>
          <p:nvSpPr>
            <p:cNvPr id="38" name="TextBox 38"/>
            <p:cNvSpPr txBox="1"/>
            <p:nvPr/>
          </p:nvSpPr>
          <p:spPr>
            <a:xfrm>
              <a:off x="1020318" y="5498782"/>
              <a:ext cx="42148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这些不是「技术债」，是长出来的方法论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0318" y="5822632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每个坑都变成了下一版本的防坑设计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55142" y="6324600"/>
            <a:ext cx="10674858" cy="365951"/>
            <a:chOff x="755142" y="6324600"/>
            <a:chExt cx="10674858" cy="365951"/>
          </a:xfrm>
        </p:grpSpPr>
        <p:sp>
          <p:nvSpPr>
            <p:cNvPr id="41" name="Line 41"/>
            <p:cNvSpPr/>
            <p:nvPr/>
          </p:nvSpPr>
          <p:spPr>
            <a:xfrm>
              <a:off x="762000" y="63246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5142" y="6426518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恩特小助手 · 版本演进时间线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DCE6F5"/>
            </a:gs>
            <a:gs pos="52000">
              <a:srgbClr val="EEF3FA"/>
            </a:gs>
            <a:gs pos="100000">
              <a:schemeClr val="lt1"/>
            </a:gs>
          </a:gsLst>
          <a:path path="circle">
            <a:fillToRect l="50000" t="42000" r="50000" b="58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382000" y="-190500"/>
            <a:ext cx="3810000" cy="3810000"/>
          </a:xfrm>
          <a:prstGeom prst="ellipse">
            <a:avLst/>
          </a:prstGeom>
          <a:gradFill>
            <a:gsLst>
              <a:gs pos="0">
                <a:schemeClr val="accent3">
                  <a:alpha val="16000"/>
                </a:schemeClr>
              </a:gs>
              <a:gs pos="100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742950" y="1769745"/>
            <a:ext cx="7755865" cy="762000"/>
            <a:chOff x="742950" y="1769745"/>
            <a:chExt cx="7755865" cy="762000"/>
          </a:xfrm>
        </p:grpSpPr>
        <p:sp>
          <p:nvSpPr>
            <p:cNvPr id="3" name="TextBox 3"/>
            <p:cNvSpPr txBox="1"/>
            <p:nvPr/>
          </p:nvSpPr>
          <p:spPr>
            <a:xfrm>
              <a:off x="742950" y="1769745"/>
              <a:ext cx="7755865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一个查询工具，长成了知识助手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2902268"/>
            <a:ext cx="5597700" cy="802767"/>
            <a:chOff x="745998" y="2902268"/>
            <a:chExt cx="5597700" cy="802767"/>
          </a:xfrm>
        </p:grpSpPr>
        <p:sp>
          <p:nvSpPr>
            <p:cNvPr id="5" name="TextBox 5"/>
            <p:cNvSpPr txBox="1"/>
            <p:nvPr/>
          </p:nvSpPr>
          <p:spPr>
            <a:xfrm>
              <a:off x="755142" y="2902268"/>
              <a:ext cx="1210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NEXT STOP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45998" y="3088958"/>
              <a:ext cx="55977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下一站：v2.0 企业知识中枢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3733800"/>
            <a:ext cx="10668000" cy="1809750"/>
            <a:chOff x="762000" y="3733800"/>
            <a:chExt cx="10668000" cy="1809750"/>
          </a:xfrm>
        </p:grpSpPr>
        <p:grpSp>
          <p:nvGrpSpPr>
            <p:cNvPr id="16" name="Group 16"/>
            <p:cNvGrpSpPr/>
            <p:nvPr/>
          </p:nvGrpSpPr>
          <p:grpSpPr>
            <a:xfrm>
              <a:off x="762000" y="3733800"/>
              <a:ext cx="3390900" cy="1809750"/>
              <a:chOff x="762000" y="3733800"/>
              <a:chExt cx="3390900" cy="18097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762000" y="3733800"/>
                <a:ext cx="3390900" cy="1809750"/>
              </a:xfrm>
              <a:prstGeom prst="roundRect">
                <a:avLst>
                  <a:gd name="adj" fmla="val 10526"/>
                </a:avLst>
              </a:prstGeom>
              <a:solidFill>
                <a:schemeClr val="lt1">
                  <a:alpha val="74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52400" dist="57150" dir="5400000" algn="ctr" rotWithShape="0">
                  <a:srgbClr val="1A3A6B">
                    <a:alpha val="7500"/>
                  </a:srgbClr>
                </a:outerShdw>
              </a:effectLst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1076325" y="4048125"/>
                <a:ext cx="285751" cy="285751"/>
                <a:chOff x="1076325" y="4048125"/>
                <a:chExt cx="285751" cy="285751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108075" y="4048125"/>
                  <a:ext cx="127000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127000">
                      <a:moveTo>
                        <a:pt x="0" y="63500"/>
                      </a:moveTo>
                      <a:cubicBezTo>
                        <a:pt x="0" y="98570"/>
                        <a:pt x="28430" y="127000"/>
                        <a:pt x="63500" y="127000"/>
                      </a:cubicBezTo>
                      <a:cubicBezTo>
                        <a:pt x="98570" y="127000"/>
                        <a:pt x="127000" y="98570"/>
                        <a:pt x="127000" y="63500"/>
                      </a:cubicBezTo>
                      <a:cubicBezTo>
                        <a:pt x="127000" y="28430"/>
                        <a:pt x="98570" y="0"/>
                        <a:pt x="63500" y="0"/>
                      </a:cubicBezTo>
                      <a:cubicBezTo>
                        <a:pt x="28430" y="0"/>
                        <a:pt x="0" y="28430"/>
                        <a:pt x="0" y="63500"/>
                      </a:cubicBez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076325" y="4238625"/>
                  <a:ext cx="19050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95250">
                      <a:moveTo>
                        <a:pt x="0" y="95250"/>
                      </a:moveTo>
                      <a:lnTo>
                        <a:pt x="0" y="63500"/>
                      </a:lnTo>
                      <a:cubicBezTo>
                        <a:pt x="0" y="28430"/>
                        <a:pt x="28430" y="0"/>
                        <a:pt x="63500" y="0"/>
                      </a:cubicBezTo>
                      <a:lnTo>
                        <a:pt x="127000" y="0"/>
                      </a:lnTo>
                      <a:cubicBezTo>
                        <a:pt x="162070" y="0"/>
                        <a:pt x="190500" y="28430"/>
                        <a:pt x="190500" y="63500"/>
                      </a:cubicBezTo>
                      <a:lnTo>
                        <a:pt x="190500" y="95250"/>
                      </a:ln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282701" y="4050189"/>
                  <a:ext cx="47750" cy="123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750" h="123031">
                      <a:moveTo>
                        <a:pt x="0" y="0"/>
                      </a:moveTo>
                      <a:cubicBezTo>
                        <a:pt x="28097" y="7194"/>
                        <a:pt x="47750" y="32512"/>
                        <a:pt x="47750" y="61516"/>
                      </a:cubicBezTo>
                      <a:cubicBezTo>
                        <a:pt x="47750" y="90520"/>
                        <a:pt x="28097" y="115837"/>
                        <a:pt x="0" y="123031"/>
                      </a:cubicBez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314451" y="4241007"/>
                  <a:ext cx="47625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2869">
                      <a:moveTo>
                        <a:pt x="47625" y="92869"/>
                      </a:moveTo>
                      <a:lnTo>
                        <a:pt x="47625" y="61119"/>
                      </a:lnTo>
                      <a:cubicBezTo>
                        <a:pt x="47459" y="32299"/>
                        <a:pt x="27905" y="7205"/>
                        <a:pt x="0" y="0"/>
                      </a:cubicBez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019556" y="4511040"/>
                <a:ext cx="260077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部门知识库 + 权限系统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21080" y="4905375"/>
                <a:ext cx="195376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v1.2.8 五中心的基础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305300" y="3733800"/>
              <a:ext cx="3851331" cy="1809750"/>
              <a:chOff x="4305300" y="3733800"/>
              <a:chExt cx="3851331" cy="18097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305300" y="3733800"/>
                <a:ext cx="3390900" cy="1809750"/>
              </a:xfrm>
              <a:prstGeom prst="roundRect">
                <a:avLst>
                  <a:gd name="adj" fmla="val 10526"/>
                </a:avLst>
              </a:prstGeom>
              <a:solidFill>
                <a:schemeClr val="lt1">
                  <a:alpha val="74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52400" dist="57150" dir="5400000" algn="ctr" rotWithShape="0">
                  <a:srgbClr val="1A3A6B">
                    <a:alpha val="7500"/>
                  </a:srgbClr>
                </a:outerShdw>
              </a:effectLst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4619625" y="4048125"/>
                <a:ext cx="285751" cy="285750"/>
                <a:chOff x="4619625" y="4048125"/>
                <a:chExt cx="285751" cy="285750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4762500" y="4206875"/>
                  <a:ext cx="1111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27000">
                      <a:moveTo>
                        <a:pt x="55563" y="0"/>
                      </a:moveTo>
                      <a:cubicBezTo>
                        <a:pt x="24876" y="0"/>
                        <a:pt x="0" y="24876"/>
                        <a:pt x="0" y="55563"/>
                      </a:cubicBezTo>
                      <a:lnTo>
                        <a:pt x="0" y="71438"/>
                      </a:lnTo>
                      <a:cubicBezTo>
                        <a:pt x="0" y="102124"/>
                        <a:pt x="24876" y="127000"/>
                        <a:pt x="55563" y="127000"/>
                      </a:cubicBezTo>
                      <a:cubicBezTo>
                        <a:pt x="86249" y="127000"/>
                        <a:pt x="111125" y="102124"/>
                        <a:pt x="111125" y="71438"/>
                      </a:cubicBezTo>
                      <a:lnTo>
                        <a:pt x="111125" y="42863"/>
                      </a:ln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4651375" y="4206875"/>
                  <a:ext cx="111125" cy="12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27000">
                      <a:moveTo>
                        <a:pt x="55563" y="0"/>
                      </a:moveTo>
                      <a:cubicBezTo>
                        <a:pt x="86249" y="0"/>
                        <a:pt x="111125" y="24876"/>
                        <a:pt x="111125" y="55563"/>
                      </a:cubicBezTo>
                      <a:lnTo>
                        <a:pt x="111125" y="71438"/>
                      </a:lnTo>
                      <a:cubicBezTo>
                        <a:pt x="111125" y="102124"/>
                        <a:pt x="86249" y="127000"/>
                        <a:pt x="55563" y="127000"/>
                      </a:cubicBezTo>
                      <a:cubicBezTo>
                        <a:pt x="24876" y="127000"/>
                        <a:pt x="0" y="102124"/>
                        <a:pt x="0" y="71438"/>
                      </a:cubicBezTo>
                      <a:lnTo>
                        <a:pt x="0" y="42863"/>
                      </a:ln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4841876" y="4143375"/>
                  <a:ext cx="6350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11125">
                      <a:moveTo>
                        <a:pt x="7938" y="111125"/>
                      </a:moveTo>
                      <a:cubicBezTo>
                        <a:pt x="38624" y="111125"/>
                        <a:pt x="63500" y="86249"/>
                        <a:pt x="63500" y="55563"/>
                      </a:cubicBezTo>
                      <a:cubicBezTo>
                        <a:pt x="63500" y="24876"/>
                        <a:pt x="38624" y="0"/>
                        <a:pt x="7938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4762500" y="4048125"/>
                  <a:ext cx="111125" cy="1000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00013">
                      <a:moveTo>
                        <a:pt x="111125" y="100013"/>
                      </a:moveTo>
                      <a:lnTo>
                        <a:pt x="111125" y="55563"/>
                      </a:lnTo>
                      <a:cubicBezTo>
                        <a:pt x="111125" y="24876"/>
                        <a:pt x="86249" y="0"/>
                        <a:pt x="55563" y="0"/>
                      </a:cubicBezTo>
                      <a:cubicBezTo>
                        <a:pt x="24876" y="0"/>
                        <a:pt x="0" y="24876"/>
                        <a:pt x="0" y="55563"/>
                      </a:cubicBez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4619625" y="4143375"/>
                  <a:ext cx="63500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111125">
                      <a:moveTo>
                        <a:pt x="55563" y="111125"/>
                      </a:moveTo>
                      <a:cubicBezTo>
                        <a:pt x="24876" y="111125"/>
                        <a:pt x="0" y="86249"/>
                        <a:pt x="0" y="55563"/>
                      </a:cubicBezTo>
                      <a:cubicBezTo>
                        <a:pt x="0" y="24876"/>
                        <a:pt x="24876" y="0"/>
                        <a:pt x="55563" y="0"/>
                      </a:cubicBezTo>
                      <a:lnTo>
                        <a:pt x="63500" y="0"/>
                      </a:ln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4651375" y="4048125"/>
                  <a:ext cx="111125" cy="214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214313">
                      <a:moveTo>
                        <a:pt x="0" y="100013"/>
                      </a:moveTo>
                      <a:lnTo>
                        <a:pt x="0" y="55563"/>
                      </a:lnTo>
                      <a:cubicBezTo>
                        <a:pt x="0" y="24876"/>
                        <a:pt x="24876" y="0"/>
                        <a:pt x="55563" y="0"/>
                      </a:cubicBezTo>
                      <a:cubicBezTo>
                        <a:pt x="86249" y="0"/>
                        <a:pt x="111125" y="24876"/>
                        <a:pt x="111125" y="55563"/>
                      </a:cubicBezTo>
                      <a:lnTo>
                        <a:pt x="111125" y="214313"/>
                      </a:ln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4562856" y="4511040"/>
                <a:ext cx="359377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通用文件引擎 + VLM 图片理解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564380" y="4905375"/>
                <a:ext cx="18326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钉钉发图机器人看懂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7848600" y="3733800"/>
              <a:ext cx="3581400" cy="1809750"/>
              <a:chOff x="7848600" y="3733800"/>
              <a:chExt cx="3581400" cy="18097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7848600" y="3733800"/>
                <a:ext cx="3581400" cy="1809750"/>
              </a:xfrm>
              <a:prstGeom prst="roundRect">
                <a:avLst>
                  <a:gd name="adj" fmla="val 10526"/>
                </a:avLst>
              </a:prstGeom>
              <a:solidFill>
                <a:schemeClr val="lt1">
                  <a:alpha val="74000"/>
                </a:schemeClr>
              </a:solidFill>
              <a:ln w="11430">
                <a:solidFill>
                  <a:schemeClr val="accent3"/>
                </a:solidFill>
              </a:ln>
              <a:effectLst>
                <a:outerShdw blurRad="152400" dist="57150" dir="5400000" algn="ctr" rotWithShape="0">
                  <a:srgbClr val="1A3A6B">
                    <a:alpha val="7500"/>
                  </a:srgbClr>
                </a:outerShdw>
              </a:effectLst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8162925" y="4048125"/>
                <a:ext cx="285751" cy="285751"/>
                <a:chOff x="8162925" y="4048125"/>
                <a:chExt cx="285751" cy="285751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8289925" y="4175125"/>
                  <a:ext cx="31750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31750">
                      <a:moveTo>
                        <a:pt x="0" y="15875"/>
                      </a:moveTo>
                      <a:cubicBezTo>
                        <a:pt x="0" y="24643"/>
                        <a:pt x="7107" y="31750"/>
                        <a:pt x="15875" y="31750"/>
                      </a:cubicBezTo>
                      <a:cubicBezTo>
                        <a:pt x="24643" y="31750"/>
                        <a:pt x="31750" y="24643"/>
                        <a:pt x="31750" y="15875"/>
                      </a:cubicBezTo>
                      <a:cubicBezTo>
                        <a:pt x="31750" y="7107"/>
                        <a:pt x="24643" y="0"/>
                        <a:pt x="15875" y="0"/>
                      </a:cubicBezTo>
                      <a:cubicBezTo>
                        <a:pt x="7107" y="0"/>
                        <a:pt x="0" y="7107"/>
                        <a:pt x="0" y="15875"/>
                      </a:cubicBez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8226425" y="4111625"/>
                  <a:ext cx="158750" cy="15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750" h="158750">
                      <a:moveTo>
                        <a:pt x="0" y="79375"/>
                      </a:moveTo>
                      <a:cubicBezTo>
                        <a:pt x="0" y="123213"/>
                        <a:pt x="35537" y="158750"/>
                        <a:pt x="79375" y="158750"/>
                      </a:cubicBezTo>
                      <a:cubicBezTo>
                        <a:pt x="123213" y="158750"/>
                        <a:pt x="158750" y="123213"/>
                        <a:pt x="158750" y="79375"/>
                      </a:cubicBezTo>
                      <a:cubicBezTo>
                        <a:pt x="158750" y="35537"/>
                        <a:pt x="123213" y="0"/>
                        <a:pt x="79375" y="0"/>
                      </a:cubicBezTo>
                      <a:cubicBezTo>
                        <a:pt x="35537" y="0"/>
                        <a:pt x="0" y="35537"/>
                        <a:pt x="0" y="79375"/>
                      </a:cubicBez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8162925" y="4048125"/>
                  <a:ext cx="285751" cy="285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1" h="285751">
                      <a:moveTo>
                        <a:pt x="0" y="142875"/>
                      </a:moveTo>
                      <a:cubicBezTo>
                        <a:pt x="0" y="221783"/>
                        <a:pt x="63967" y="285751"/>
                        <a:pt x="142875" y="285751"/>
                      </a:cubicBezTo>
                      <a:cubicBezTo>
                        <a:pt x="221783" y="285751"/>
                        <a:pt x="285751" y="221783"/>
                        <a:pt x="285751" y="142875"/>
                      </a:cubicBezTo>
                      <a:cubicBezTo>
                        <a:pt x="285751" y="63967"/>
                        <a:pt x="221783" y="0"/>
                        <a:pt x="142875" y="0"/>
                      </a:cubicBezTo>
                      <a:cubicBezTo>
                        <a:pt x="63967" y="0"/>
                        <a:pt x="0" y="63967"/>
                        <a:pt x="0" y="142875"/>
                      </a:cubicBezTo>
                    </a:path>
                  </a:pathLst>
                </a:custGeom>
                <a:noFill/>
                <a:ln w="31750">
                  <a:solidFill>
                    <a:schemeClr val="accent2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8106156" y="4511040"/>
                <a:ext cx="310963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腾讯云同步 · 经验库进行中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107680" y="4905375"/>
                <a:ext cx="217589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第二步经验知识库 ~40%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755142" y="5905500"/>
            <a:ext cx="10674858" cy="404051"/>
            <a:chOff x="755142" y="5905500"/>
            <a:chExt cx="10674858" cy="404051"/>
          </a:xfrm>
        </p:grpSpPr>
        <p:sp>
          <p:nvSpPr>
            <p:cNvPr id="37" name="Line 37"/>
            <p:cNvSpPr/>
            <p:nvPr/>
          </p:nvSpPr>
          <p:spPr>
            <a:xfrm>
              <a:off x="762000" y="5905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chemeClr val="accent3">
                  <a:alpha val="30000"/>
                </a:scheme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5142" y="6045518"/>
              <a:ext cx="42209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v1.0 → v1.7.0 · 2026 · 天津恩特能源科技有限公司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entar-assistant-evolution">
  <a:themeElements>
    <a:clrScheme name="entar-assistant-evolution">
      <a:dk1>
        <a:srgbClr val="1D2430"/>
      </a:dk1>
      <a:lt1>
        <a:srgbClr val="FFFFFF"/>
      </a:lt1>
      <a:dk2>
        <a:srgbClr val="1F497D"/>
      </a:dk2>
      <a:lt2>
        <a:srgbClr val="F2F5F9"/>
      </a:lt2>
      <a:accent1>
        <a:srgbClr val="1A3A6B"/>
      </a:accent1>
      <a:accent2>
        <a:srgbClr val="E8A317"/>
      </a:accent2>
      <a:accent3>
        <a:srgbClr val="4A7BB5"/>
      </a:accent3>
      <a:accent4>
        <a:srgbClr val="1A3A6B"/>
      </a:accent4>
      <a:accent5>
        <a:srgbClr val="4BACC6"/>
      </a:accent5>
      <a:accent6>
        <a:srgbClr val="F79646"/>
      </a:accent6>
      <a:hlink>
        <a:srgbClr val="E8A317"/>
      </a:hlink>
      <a:folHlink>
        <a:srgbClr val="4A7BB5"/>
      </a:folHlink>
    </a:clrScheme>
    <a:fontScheme name="entar-assistant-evolutio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tar-assistant-evolu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entar-assistant-evolution">
  <a:themeElements>
    <a:clrScheme name="entar-assistant-evolution">
      <a:dk1>
        <a:srgbClr val="1D2430"/>
      </a:dk1>
      <a:lt1>
        <a:srgbClr val="FFFFFF"/>
      </a:lt1>
      <a:dk2>
        <a:srgbClr val="1F497D"/>
      </a:dk2>
      <a:lt2>
        <a:srgbClr val="F2F5F9"/>
      </a:lt2>
      <a:accent1>
        <a:srgbClr val="1A3A6B"/>
      </a:accent1>
      <a:accent2>
        <a:srgbClr val="E8A317"/>
      </a:accent2>
      <a:accent3>
        <a:srgbClr val="4A7BB5"/>
      </a:accent3>
      <a:accent4>
        <a:srgbClr val="1A3A6B"/>
      </a:accent4>
      <a:accent5>
        <a:srgbClr val="4BACC6"/>
      </a:accent5>
      <a:accent6>
        <a:srgbClr val="F79646"/>
      </a:accent6>
      <a:hlink>
        <a:srgbClr val="E8A317"/>
      </a:hlink>
      <a:folHlink>
        <a:srgbClr val="4A7BB5"/>
      </a:folHlink>
    </a:clrScheme>
    <a:fontScheme name="entar-assistant-evolutio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tar-assistant-evolu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2026-08-07T00:44:32Z</dcterms:created>
  <dcterms:modified xsi:type="dcterms:W3CDTF">2026-08-07T00:44:32Z</dcterms:modified>
  <cp:category/>
  <cp:contentStatus/>
</cp:coreProperties>
</file>